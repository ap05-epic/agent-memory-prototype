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Quick framing before I show you the live system: this is about making our agents improve with use. Ten minutes total: three of slides, five of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why: our agents are stateless between threads. Users repeat their preferences constantly. The goal is simple — usage should compound. The more you work with an agent, the better it fits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persistent per-user memory in the harness itself. Four properties matter to this room: DB-level scoping, survives restarts because it's Postgres rows, off by default behind a profile flag, and zero new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lifecycle left to right: recall at turn start with the brain-emoji receipt, explicit saves via tool during the turn, background extraction after, and every write goes through the gate — dedup, similarity, small-model adjudication. Contradictions supersede, never overwrite.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so safety is the design, not an afterthought. Hit these fast — off by default with a guard test, fail-closed identity, denylist at write time, logs never contain content, everything deletable and auditable, and recalled text is fenced as data,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last demo this went through formal review. The foundation items are done and in review: re-base onto current dev, real Alembic migrations with a verified baseline, memory on the harness's own DB lifecycle, validated identity everywhere, and tests that lock the guarantees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10 seconds so the room knows the five beats, then switch to the console. Run the beats exactly per the walkthrough one-liners. If a beat misbehaves, narrate and move on — the recital beat is the money 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wave is already designed: recall moves out of the instruction text entirely, extraction becomes durable with an outbox, governed APIs land for viewing and deleting memory with retention, the console gets tenant plumbing, and after that: consolidation into living user profiles.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Likely questions and answers are in the walkthrough doc: isn't this chat history (no — distilled facts across threads), deletion and privacy (soft-delete, forget cascade, retention coming), cost (one embed per turn, mini-model on writes), can my agent use it (flip the flag — after the governance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1051560"/>
            <a:ext cx="6858000" cy="365760"/>
          </a:xfrm>
          <a:prstGeom prst="rect">
            <a:avLst/>
          </a:prstGeom>
          <a:noFill/>
          <a:ln/>
        </p:spPr>
        <p:txBody>
          <a:bodyPr wrap="square" rtlCol="0" anchor="ctr"/>
          <a:lstStyle/>
          <a:p>
            <a:pPr indent="0" marL="0">
              <a:buNone/>
            </a:pPr>
            <a:r>
              <a:rPr lang="en-US" sz="1400" b="1" spc="400" kern="0" dirty="0">
                <a:solidFill>
                  <a:srgbClr val="CADCFC"/>
                </a:solidFill>
                <a:latin typeface="Calibri" pitchFamily="34" charset="0"/>
                <a:ea typeface="Calibri" pitchFamily="34" charset="-122"/>
                <a:cs typeface="Calibri" pitchFamily="34" charset="-120"/>
              </a:rPr>
              <a:t>DIGIT AGENT HARNESS</a:t>
            </a:r>
            <a:endParaRPr lang="en-US" sz="1400" dirty="0"/>
          </a:p>
        </p:txBody>
      </p:sp>
      <p:sp>
        <p:nvSpPr>
          <p:cNvPr id="3" name="Text 1"/>
          <p:cNvSpPr/>
          <p:nvPr/>
        </p:nvSpPr>
        <p:spPr>
          <a:xfrm>
            <a:off x="548640" y="1463040"/>
            <a:ext cx="7863840" cy="173736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Agents that remember</a:t>
            </a:r>
            <a:endParaRPr lang="en-US" sz="5400" dirty="0"/>
          </a:p>
        </p:txBody>
      </p:sp>
      <p:sp>
        <p:nvSpPr>
          <p:cNvPr id="4" name="Text 2"/>
          <p:cNvSpPr/>
          <p:nvPr/>
        </p:nvSpPr>
        <p:spPr>
          <a:xfrm>
            <a:off x="548640" y="3200400"/>
            <a:ext cx="6949440" cy="1097280"/>
          </a:xfrm>
          <a:prstGeom prst="rect">
            <a:avLst/>
          </a:prstGeom>
          <a:noFill/>
          <a:ln/>
        </p:spPr>
        <p:txBody>
          <a:bodyPr wrap="square" rtlCol="0" anchor="ctr"/>
          <a:lstStyle/>
          <a:p>
            <a:pPr indent="0" marL="0">
              <a:lnSpc>
                <a:spcPct val="120000"/>
              </a:lnSpc>
              <a:buNone/>
            </a:pPr>
            <a:r>
              <a:rPr lang="en-US" sz="1800" dirty="0">
                <a:solidFill>
                  <a:srgbClr val="CADCFC"/>
                </a:solidFill>
                <a:latin typeface="Calibri" pitchFamily="34" charset="0"/>
                <a:ea typeface="Calibri" pitchFamily="34" charset="-122"/>
                <a:cs typeface="Calibri" pitchFamily="34" charset="-120"/>
              </a:rPr>
              <a:t>Agent-level persistent memory, built into the harness —</a:t>
            </a:r>
            <a:endParaRPr lang="en-US" sz="1800" dirty="0"/>
          </a:p>
          <a:p>
            <a:pPr indent="0" marL="0">
              <a:lnSpc>
                <a:spcPct val="120000"/>
              </a:lnSpc>
              <a:buNone/>
            </a:pPr>
            <a:r>
              <a:rPr lang="en-US" sz="1800" dirty="0">
                <a:solidFill>
                  <a:srgbClr val="CADCFC"/>
                </a:solidFill>
                <a:latin typeface="Calibri" pitchFamily="34" charset="0"/>
                <a:ea typeface="Calibri" pitchFamily="34" charset="-122"/>
                <a:cs typeface="Calibri" pitchFamily="34" charset="-120"/>
              </a:rPr>
              <a:t>so our agents get better the more people use them.</a:t>
            </a:r>
            <a:endParaRPr lang="en-US" sz="1800" dirty="0"/>
          </a:p>
        </p:txBody>
      </p:sp>
      <p:sp>
        <p:nvSpPr>
          <p:cNvPr id="5" name="Text 3"/>
          <p:cNvSpPr/>
          <p:nvPr/>
        </p:nvSpPr>
        <p:spPr>
          <a:xfrm>
            <a:off x="548640" y="5989320"/>
            <a:ext cx="6858000" cy="3657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Anshuman Pandey  ·  AI Engineering  ·  team demo</a:t>
            </a:r>
            <a:endParaRPr lang="en-US" sz="1300" dirty="0"/>
          </a:p>
        </p:txBody>
      </p:sp>
      <p:sp>
        <p:nvSpPr>
          <p:cNvPr id="6" name="Shape 4"/>
          <p:cNvSpPr/>
          <p:nvPr/>
        </p:nvSpPr>
        <p:spPr>
          <a:xfrm>
            <a:off x="8229600" y="1417320"/>
            <a:ext cx="3108960" cy="3108960"/>
          </a:xfrm>
          <a:prstGeom prst="ellipse">
            <a:avLst/>
          </a:prstGeom>
          <a:solidFill>
            <a:srgbClr val="2A3575"/>
          </a:solidFill>
          <a:ln/>
        </p:spPr>
      </p:sp>
      <p:pic>
        <p:nvPicPr>
          <p:cNvPr id="7" name="Image 0" descr="preencoded.png">    </p:cNvPr>
          <p:cNvPicPr>
            <a:picLocks noChangeAspect="1"/>
          </p:cNvPicPr>
          <p:nvPr/>
        </p:nvPicPr>
        <p:blipFill>
          <a:blip r:embed="rId1"/>
          <a:stretch>
            <a:fillRect/>
          </a:stretch>
        </p:blipFill>
        <p:spPr>
          <a:xfrm>
            <a:off x="9006840" y="2194560"/>
            <a:ext cx="1554480" cy="1554480"/>
          </a:xfrm>
          <a:prstGeom prst="rect">
            <a:avLst/>
          </a:prstGeom>
        </p:spPr>
      </p:pic>
      <p:sp>
        <p:nvSpPr>
          <p:cNvPr id="8" name="Shape 5"/>
          <p:cNvSpPr/>
          <p:nvPr/>
        </p:nvSpPr>
        <p:spPr>
          <a:xfrm>
            <a:off x="10607040" y="4206240"/>
            <a:ext cx="822960" cy="822960"/>
          </a:xfrm>
          <a:prstGeom prst="ellipse">
            <a:avLst/>
          </a:prstGeom>
          <a:solidFill>
            <a:srgbClr val="02C39A"/>
          </a:solidFill>
          <a:ln/>
        </p:spPr>
      </p:sp>
      <p:pic>
        <p:nvPicPr>
          <p:cNvPr id="9" name="Image 1" descr="preencoded.png">    </p:cNvPr>
          <p:cNvPicPr>
            <a:picLocks noChangeAspect="1"/>
          </p:cNvPicPr>
          <p:nvPr/>
        </p:nvPicPr>
        <p:blipFill>
          <a:blip r:embed="rId2"/>
          <a:stretch>
            <a:fillRect/>
          </a:stretch>
        </p:blipFill>
        <p:spPr>
          <a:xfrm>
            <a:off x="10817352" y="4416552"/>
            <a:ext cx="402336" cy="4023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1064240" cy="685800"/>
          </a:xfrm>
          <a:prstGeom prst="rect">
            <a:avLst/>
          </a:prstGeom>
          <a:noFill/>
          <a:ln/>
        </p:spPr>
        <p:txBody>
          <a:bodyPr wrap="square" rtlCol="0" anchor="ctr"/>
          <a:lstStyle/>
          <a:p>
            <a:pPr indent="0" marL="0">
              <a:buNone/>
            </a:pPr>
            <a:r>
              <a:rPr lang="en-US" sz="3400" b="1" dirty="0">
                <a:solidFill>
                  <a:srgbClr val="1A1F36"/>
                </a:solidFill>
                <a:latin typeface="Cambria" pitchFamily="34" charset="0"/>
                <a:ea typeface="Cambria" pitchFamily="34" charset="-122"/>
                <a:cs typeface="Cambria" pitchFamily="34" charset="-120"/>
              </a:rPr>
              <a:t>Why: every conversation starts from zero</a:t>
            </a:r>
            <a:endParaRPr lang="en-US" sz="3400" dirty="0"/>
          </a:p>
        </p:txBody>
      </p:sp>
      <p:sp>
        <p:nvSpPr>
          <p:cNvPr id="3" name="Shape 1"/>
          <p:cNvSpPr/>
          <p:nvPr/>
        </p:nvSpPr>
        <p:spPr>
          <a:xfrm>
            <a:off x="548640" y="1600200"/>
            <a:ext cx="566928" cy="566928"/>
          </a:xfrm>
          <a:prstGeom prst="ellipse">
            <a:avLst/>
          </a:prstGeom>
          <a:solidFill>
            <a:srgbClr val="F2F5FB"/>
          </a:solidFill>
          <a:ln/>
        </p:spPr>
      </p:sp>
      <p:pic>
        <p:nvPicPr>
          <p:cNvPr id="4" name="Image 0" descr="preencoded.png">    </p:cNvPr>
          <p:cNvPicPr>
            <a:picLocks noChangeAspect="1"/>
          </p:cNvPicPr>
          <p:nvPr/>
        </p:nvPicPr>
        <p:blipFill>
          <a:blip r:embed="rId1"/>
          <a:stretch>
            <a:fillRect/>
          </a:stretch>
        </p:blipFill>
        <p:spPr>
          <a:xfrm>
            <a:off x="701711" y="1753271"/>
            <a:ext cx="260787" cy="260787"/>
          </a:xfrm>
          <a:prstGeom prst="rect">
            <a:avLst/>
          </a:prstGeom>
        </p:spPr>
      </p:pic>
      <p:sp>
        <p:nvSpPr>
          <p:cNvPr id="5" name="Text 2"/>
          <p:cNvSpPr/>
          <p:nvPr/>
        </p:nvSpPr>
        <p:spPr>
          <a:xfrm>
            <a:off x="1325880" y="1545336"/>
            <a:ext cx="5486400" cy="365760"/>
          </a:xfrm>
          <a:prstGeom prst="rect">
            <a:avLst/>
          </a:prstGeom>
          <a:noFill/>
          <a:ln/>
        </p:spPr>
        <p:txBody>
          <a:bodyPr wrap="square" lIns="0" tIns="0" rIns="0" bIns="0" rtlCol="0" anchor="ctr"/>
          <a:lstStyle/>
          <a:p>
            <a:pPr indent="0" marL="0">
              <a:buNone/>
            </a:pPr>
            <a:r>
              <a:rPr lang="en-US" sz="1700" b="1" dirty="0">
                <a:solidFill>
                  <a:srgbClr val="1A1F36"/>
                </a:solidFill>
                <a:latin typeface="Calibri" pitchFamily="34" charset="0"/>
                <a:ea typeface="Calibri" pitchFamily="34" charset="-122"/>
                <a:cs typeface="Calibri" pitchFamily="34" charset="-120"/>
              </a:rPr>
              <a:t>Users repeat themselves</a:t>
            </a:r>
            <a:endParaRPr lang="en-US" sz="1700" dirty="0"/>
          </a:p>
        </p:txBody>
      </p:sp>
      <p:sp>
        <p:nvSpPr>
          <p:cNvPr id="6" name="Text 3"/>
          <p:cNvSpPr/>
          <p:nvPr/>
        </p:nvSpPr>
        <p:spPr>
          <a:xfrm>
            <a:off x="1325880" y="1892808"/>
            <a:ext cx="5577840" cy="685800"/>
          </a:xfrm>
          <a:prstGeom prst="rect">
            <a:avLst/>
          </a:prstGeom>
          <a:noFill/>
          <a:ln/>
        </p:spPr>
        <p:txBody>
          <a:bodyPr wrap="square" lIns="0" tIns="0" rIns="0" bIns="0" rtlCol="0" anchor="ctr"/>
          <a:lstStyle/>
          <a:p>
            <a:pPr indent="0" marL="0">
              <a:lnSpc>
                <a:spcPct val="105000"/>
              </a:lnSpc>
              <a:buNone/>
            </a:pPr>
            <a:r>
              <a:rPr lang="en-US" sz="1400" dirty="0">
                <a:solidFill>
                  <a:srgbClr val="5A6478"/>
                </a:solidFill>
                <a:latin typeface="Calibri" pitchFamily="34" charset="0"/>
                <a:ea typeface="Calibri" pitchFamily="34" charset="-122"/>
                <a:cs typeface="Calibri" pitchFamily="34" charset="-120"/>
              </a:rPr>
              <a:t>Preferences, context, and corrections get re-typed to the same agent, thread after thread.</a:t>
            </a:r>
            <a:endParaRPr lang="en-US" sz="1400" dirty="0"/>
          </a:p>
        </p:txBody>
      </p:sp>
      <p:sp>
        <p:nvSpPr>
          <p:cNvPr id="7" name="Shape 4"/>
          <p:cNvSpPr/>
          <p:nvPr/>
        </p:nvSpPr>
        <p:spPr>
          <a:xfrm>
            <a:off x="548640" y="2898648"/>
            <a:ext cx="566928" cy="566928"/>
          </a:xfrm>
          <a:prstGeom prst="ellipse">
            <a:avLst/>
          </a:prstGeom>
          <a:solidFill>
            <a:srgbClr val="F2F5FB"/>
          </a:solidFill>
          <a:ln/>
        </p:spPr>
      </p:sp>
      <p:pic>
        <p:nvPicPr>
          <p:cNvPr id="8" name="Image 1" descr="preencoded.png">    </p:cNvPr>
          <p:cNvPicPr>
            <a:picLocks noChangeAspect="1"/>
          </p:cNvPicPr>
          <p:nvPr/>
        </p:nvPicPr>
        <p:blipFill>
          <a:blip r:embed="rId2"/>
          <a:stretch>
            <a:fillRect/>
          </a:stretch>
        </p:blipFill>
        <p:spPr>
          <a:xfrm>
            <a:off x="701711" y="3051719"/>
            <a:ext cx="260787" cy="260787"/>
          </a:xfrm>
          <a:prstGeom prst="rect">
            <a:avLst/>
          </a:prstGeom>
        </p:spPr>
      </p:pic>
      <p:sp>
        <p:nvSpPr>
          <p:cNvPr id="9" name="Text 5"/>
          <p:cNvSpPr/>
          <p:nvPr/>
        </p:nvSpPr>
        <p:spPr>
          <a:xfrm>
            <a:off x="1325880" y="2843784"/>
            <a:ext cx="5486400" cy="365760"/>
          </a:xfrm>
          <a:prstGeom prst="rect">
            <a:avLst/>
          </a:prstGeom>
          <a:noFill/>
          <a:ln/>
        </p:spPr>
        <p:txBody>
          <a:bodyPr wrap="square" lIns="0" tIns="0" rIns="0" bIns="0" rtlCol="0" anchor="ctr"/>
          <a:lstStyle/>
          <a:p>
            <a:pPr indent="0" marL="0">
              <a:buNone/>
            </a:pPr>
            <a:r>
              <a:rPr lang="en-US" sz="1700" b="1" dirty="0">
                <a:solidFill>
                  <a:srgbClr val="1A1F36"/>
                </a:solidFill>
                <a:latin typeface="Calibri" pitchFamily="34" charset="0"/>
                <a:ea typeface="Calibri" pitchFamily="34" charset="-122"/>
                <a:cs typeface="Calibri" pitchFamily="34" charset="-120"/>
              </a:rPr>
              <a:t>Session memory is not memory</a:t>
            </a:r>
            <a:endParaRPr lang="en-US" sz="1700" dirty="0"/>
          </a:p>
        </p:txBody>
      </p:sp>
      <p:sp>
        <p:nvSpPr>
          <p:cNvPr id="10" name="Text 6"/>
          <p:cNvSpPr/>
          <p:nvPr/>
        </p:nvSpPr>
        <p:spPr>
          <a:xfrm>
            <a:off x="1325880" y="3191256"/>
            <a:ext cx="5577840" cy="685800"/>
          </a:xfrm>
          <a:prstGeom prst="rect">
            <a:avLst/>
          </a:prstGeom>
          <a:noFill/>
          <a:ln/>
        </p:spPr>
        <p:txBody>
          <a:bodyPr wrap="square" lIns="0" tIns="0" rIns="0" bIns="0" rtlCol="0" anchor="ctr"/>
          <a:lstStyle/>
          <a:p>
            <a:pPr indent="0" marL="0">
              <a:lnSpc>
                <a:spcPct val="105000"/>
              </a:lnSpc>
              <a:buNone/>
            </a:pPr>
            <a:r>
              <a:rPr lang="en-US" sz="1400" dirty="0">
                <a:solidFill>
                  <a:srgbClr val="5A6478"/>
                </a:solidFill>
                <a:latin typeface="Calibri" pitchFamily="34" charset="0"/>
                <a:ea typeface="Calibri" pitchFamily="34" charset="-122"/>
                <a:cs typeface="Calibri" pitchFamily="34" charset="-120"/>
              </a:rPr>
              <a:t>It ends when the thread ends — and a backend restart wipes even that.</a:t>
            </a:r>
            <a:endParaRPr lang="en-US" sz="1400" dirty="0"/>
          </a:p>
        </p:txBody>
      </p:sp>
      <p:sp>
        <p:nvSpPr>
          <p:cNvPr id="11" name="Shape 7"/>
          <p:cNvSpPr/>
          <p:nvPr/>
        </p:nvSpPr>
        <p:spPr>
          <a:xfrm>
            <a:off x="548640" y="4197096"/>
            <a:ext cx="566928" cy="566928"/>
          </a:xfrm>
          <a:prstGeom prst="ellipse">
            <a:avLst/>
          </a:prstGeom>
          <a:solidFill>
            <a:srgbClr val="F2F5FB"/>
          </a:solidFill>
          <a:ln/>
        </p:spPr>
      </p:sp>
      <p:pic>
        <p:nvPicPr>
          <p:cNvPr id="12" name="Image 2" descr="preencoded.png">    </p:cNvPr>
          <p:cNvPicPr>
            <a:picLocks noChangeAspect="1"/>
          </p:cNvPicPr>
          <p:nvPr/>
        </p:nvPicPr>
        <p:blipFill>
          <a:blip r:embed="rId3"/>
          <a:stretch>
            <a:fillRect/>
          </a:stretch>
        </p:blipFill>
        <p:spPr>
          <a:xfrm>
            <a:off x="701711" y="4350167"/>
            <a:ext cx="260787" cy="260787"/>
          </a:xfrm>
          <a:prstGeom prst="rect">
            <a:avLst/>
          </a:prstGeom>
        </p:spPr>
      </p:pic>
      <p:sp>
        <p:nvSpPr>
          <p:cNvPr id="13" name="Text 8"/>
          <p:cNvSpPr/>
          <p:nvPr/>
        </p:nvSpPr>
        <p:spPr>
          <a:xfrm>
            <a:off x="1325880" y="4142232"/>
            <a:ext cx="5486400" cy="365760"/>
          </a:xfrm>
          <a:prstGeom prst="rect">
            <a:avLst/>
          </a:prstGeom>
          <a:noFill/>
          <a:ln/>
        </p:spPr>
        <p:txBody>
          <a:bodyPr wrap="square" lIns="0" tIns="0" rIns="0" bIns="0" rtlCol="0" anchor="ctr"/>
          <a:lstStyle/>
          <a:p>
            <a:pPr indent="0" marL="0">
              <a:buNone/>
            </a:pPr>
            <a:r>
              <a:rPr lang="en-US" sz="1700" b="1" dirty="0">
                <a:solidFill>
                  <a:srgbClr val="1A1F36"/>
                </a:solidFill>
                <a:latin typeface="Calibri" pitchFamily="34" charset="0"/>
                <a:ea typeface="Calibri" pitchFamily="34" charset="-122"/>
                <a:cs typeface="Calibri" pitchFamily="34" charset="-120"/>
              </a:rPr>
              <a:t>Usage teaches the agent nothing</a:t>
            </a:r>
            <a:endParaRPr lang="en-US" sz="1700" dirty="0"/>
          </a:p>
        </p:txBody>
      </p:sp>
      <p:sp>
        <p:nvSpPr>
          <p:cNvPr id="14" name="Text 9"/>
          <p:cNvSpPr/>
          <p:nvPr/>
        </p:nvSpPr>
        <p:spPr>
          <a:xfrm>
            <a:off x="1325880" y="4489704"/>
            <a:ext cx="5577840" cy="685800"/>
          </a:xfrm>
          <a:prstGeom prst="rect">
            <a:avLst/>
          </a:prstGeom>
          <a:noFill/>
          <a:ln/>
        </p:spPr>
        <p:txBody>
          <a:bodyPr wrap="square" lIns="0" tIns="0" rIns="0" bIns="0" rtlCol="0" anchor="ctr"/>
          <a:lstStyle/>
          <a:p>
            <a:pPr indent="0" marL="0">
              <a:lnSpc>
                <a:spcPct val="105000"/>
              </a:lnSpc>
              <a:buNone/>
            </a:pPr>
            <a:r>
              <a:rPr lang="en-US" sz="1400" dirty="0">
                <a:solidFill>
                  <a:srgbClr val="5A6478"/>
                </a:solidFill>
                <a:latin typeface="Calibri" pitchFamily="34" charset="0"/>
                <a:ea typeface="Calibri" pitchFamily="34" charset="-122"/>
                <a:cs typeface="Calibri" pitchFamily="34" charset="-120"/>
              </a:rPr>
              <a:t>A person can use an agent for months and it works exactly like day one.</a:t>
            </a:r>
            <a:endParaRPr lang="en-US" sz="1400" dirty="0"/>
          </a:p>
        </p:txBody>
      </p:sp>
      <p:sp>
        <p:nvSpPr>
          <p:cNvPr id="15" name="Shape 10"/>
          <p:cNvSpPr/>
          <p:nvPr/>
        </p:nvSpPr>
        <p:spPr>
          <a:xfrm>
            <a:off x="7223760" y="1600200"/>
            <a:ext cx="4389120" cy="3749040"/>
          </a:xfrm>
          <a:prstGeom prst="roundRect">
            <a:avLst>
              <a:gd name="adj" fmla="val 2927"/>
            </a:avLst>
          </a:prstGeom>
          <a:solidFill>
            <a:srgbClr val="1E2761"/>
          </a:solidFill>
          <a:ln/>
          <a:effectLst>
            <a:outerShdw sx="100000" sy="100000" kx="0" ky="0" algn="bl" rotWithShape="0" blurRad="177800" dist="38100" dir="5400000">
              <a:srgbClr val="9AA7C7">
                <a:alpha val="35000"/>
              </a:srgbClr>
            </a:outerShdw>
          </a:effectLst>
        </p:spPr>
      </p:sp>
      <p:sp>
        <p:nvSpPr>
          <p:cNvPr id="16" name="Text 11"/>
          <p:cNvSpPr/>
          <p:nvPr/>
        </p:nvSpPr>
        <p:spPr>
          <a:xfrm>
            <a:off x="7635240" y="2057400"/>
            <a:ext cx="3566160" cy="365760"/>
          </a:xfrm>
          <a:prstGeom prst="rect">
            <a:avLst/>
          </a:prstGeom>
          <a:noFill/>
          <a:ln/>
        </p:spPr>
        <p:txBody>
          <a:bodyPr wrap="square" lIns="0" tIns="0" rIns="0" bIns="0" rtlCol="0" anchor="ctr"/>
          <a:lstStyle/>
          <a:p>
            <a:pPr indent="0" marL="0">
              <a:buNone/>
            </a:pPr>
            <a:r>
              <a:rPr lang="en-US" sz="1300" b="1" spc="300" kern="0" dirty="0">
                <a:solidFill>
                  <a:srgbClr val="02C39A"/>
                </a:solidFill>
                <a:latin typeface="Calibri" pitchFamily="34" charset="0"/>
                <a:ea typeface="Calibri" pitchFamily="34" charset="-122"/>
                <a:cs typeface="Calibri" pitchFamily="34" charset="-120"/>
              </a:rPr>
              <a:t>THE GOAL</a:t>
            </a:r>
            <a:endParaRPr lang="en-US" sz="1300" dirty="0"/>
          </a:p>
        </p:txBody>
      </p:sp>
      <p:sp>
        <p:nvSpPr>
          <p:cNvPr id="17" name="Text 12"/>
          <p:cNvSpPr/>
          <p:nvPr/>
        </p:nvSpPr>
        <p:spPr>
          <a:xfrm>
            <a:off x="7635240" y="2514600"/>
            <a:ext cx="3611880" cy="17373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The more someone uses a DIGIT agent, the better it should work for them.</a:t>
            </a:r>
            <a:endParaRPr lang="en-US" sz="2100" dirty="0"/>
          </a:p>
        </p:txBody>
      </p:sp>
      <p:sp>
        <p:nvSpPr>
          <p:cNvPr id="18" name="Text 13"/>
          <p:cNvSpPr/>
          <p:nvPr/>
        </p:nvSpPr>
        <p:spPr>
          <a:xfrm>
            <a:off x="7635240" y="4434840"/>
            <a:ext cx="3566160" cy="45720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Automatically. Safely. Per user.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1064240" cy="685800"/>
          </a:xfrm>
          <a:prstGeom prst="rect">
            <a:avLst/>
          </a:prstGeom>
          <a:noFill/>
          <a:ln/>
        </p:spPr>
        <p:txBody>
          <a:bodyPr wrap="square" rtlCol="0" anchor="ctr"/>
          <a:lstStyle/>
          <a:p>
            <a:pPr indent="0" marL="0">
              <a:buNone/>
            </a:pPr>
            <a:r>
              <a:rPr lang="en-US" sz="3400" b="1" dirty="0">
                <a:solidFill>
                  <a:srgbClr val="1A1F36"/>
                </a:solidFill>
                <a:latin typeface="Cambria" pitchFamily="34" charset="0"/>
                <a:ea typeface="Cambria" pitchFamily="34" charset="-122"/>
                <a:cs typeface="Cambria" pitchFamily="34" charset="-120"/>
              </a:rPr>
              <a:t>What I built</a:t>
            </a:r>
            <a:endParaRPr lang="en-US" sz="3400" dirty="0"/>
          </a:p>
        </p:txBody>
      </p:sp>
      <p:sp>
        <p:nvSpPr>
          <p:cNvPr id="3" name="Text 1"/>
          <p:cNvSpPr/>
          <p:nvPr/>
        </p:nvSpPr>
        <p:spPr>
          <a:xfrm>
            <a:off x="548640" y="1234440"/>
            <a:ext cx="11064240" cy="685800"/>
          </a:xfrm>
          <a:prstGeom prst="rect">
            <a:avLst/>
          </a:prstGeom>
          <a:noFill/>
          <a:ln/>
        </p:spPr>
        <p:txBody>
          <a:bodyPr wrap="square" rtlCol="0" anchor="ctr"/>
          <a:lstStyle/>
          <a:p>
            <a:pPr indent="0" marL="0">
              <a:lnSpc>
                <a:spcPct val="110000"/>
              </a:lnSpc>
              <a:buNone/>
            </a:pPr>
            <a:r>
              <a:rPr lang="en-US" sz="1600" dirty="0">
                <a:solidFill>
                  <a:srgbClr val="5A6478"/>
                </a:solidFill>
                <a:latin typeface="Calibri" pitchFamily="34" charset="0"/>
                <a:ea typeface="Calibri" pitchFamily="34" charset="-122"/>
                <a:cs typeface="Calibri" pitchFamily="34" charset="-120"/>
              </a:rPr>
              <a:t>Persistent memory inside the harness runtime: durable facts about each user — preferences, corrections, working context — remembered across threads and restarts.</a:t>
            </a:r>
            <a:endParaRPr lang="en-US" sz="1600" dirty="0"/>
          </a:p>
        </p:txBody>
      </p:sp>
      <p:sp>
        <p:nvSpPr>
          <p:cNvPr id="4" name="Shape 2"/>
          <p:cNvSpPr/>
          <p:nvPr/>
        </p:nvSpPr>
        <p:spPr>
          <a:xfrm>
            <a:off x="548640" y="2194560"/>
            <a:ext cx="5440680" cy="1783080"/>
          </a:xfrm>
          <a:prstGeom prst="roundRect">
            <a:avLst>
              <a:gd name="adj" fmla="val 5128"/>
            </a:avLst>
          </a:prstGeom>
          <a:solidFill>
            <a:srgbClr val="F2F5FB"/>
          </a:solidFill>
          <a:ln/>
        </p:spPr>
      </p:sp>
      <p:sp>
        <p:nvSpPr>
          <p:cNvPr id="5" name="Shape 3"/>
          <p:cNvSpPr/>
          <p:nvPr/>
        </p:nvSpPr>
        <p:spPr>
          <a:xfrm>
            <a:off x="822960" y="2468880"/>
            <a:ext cx="548640" cy="5486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971093" y="2617013"/>
            <a:ext cx="252374" cy="252374"/>
          </a:xfrm>
          <a:prstGeom prst="rect">
            <a:avLst/>
          </a:prstGeom>
        </p:spPr>
      </p:pic>
      <p:sp>
        <p:nvSpPr>
          <p:cNvPr id="7" name="Text 4"/>
          <p:cNvSpPr/>
          <p:nvPr/>
        </p:nvSpPr>
        <p:spPr>
          <a:xfrm>
            <a:off x="1554480" y="2450592"/>
            <a:ext cx="4251960" cy="365760"/>
          </a:xfrm>
          <a:prstGeom prst="rect">
            <a:avLst/>
          </a:prstGeom>
          <a:noFill/>
          <a:ln/>
        </p:spPr>
        <p:txBody>
          <a:bodyPr wrap="square" lIns="0" tIns="0" rIns="0" bIns="0" rtlCol="0" anchor="ctr"/>
          <a:lstStyle/>
          <a:p>
            <a:pPr indent="0" marL="0">
              <a:buNone/>
            </a:pPr>
            <a:r>
              <a:rPr lang="en-US" sz="1700" b="1" dirty="0">
                <a:solidFill>
                  <a:srgbClr val="1A1F36"/>
                </a:solidFill>
                <a:latin typeface="Calibri" pitchFamily="34" charset="0"/>
                <a:ea typeface="Calibri" pitchFamily="34" charset="-122"/>
                <a:cs typeface="Calibri" pitchFamily="34" charset="-120"/>
              </a:rPr>
              <a:t>Scoped by design</a:t>
            </a:r>
            <a:endParaRPr lang="en-US" sz="1700" dirty="0"/>
          </a:p>
        </p:txBody>
      </p:sp>
      <p:sp>
        <p:nvSpPr>
          <p:cNvPr id="8" name="Text 5"/>
          <p:cNvSpPr/>
          <p:nvPr/>
        </p:nvSpPr>
        <p:spPr>
          <a:xfrm>
            <a:off x="1554480" y="2852928"/>
            <a:ext cx="4206240" cy="1005840"/>
          </a:xfrm>
          <a:prstGeom prst="rect">
            <a:avLst/>
          </a:prstGeom>
          <a:noFill/>
          <a:ln/>
        </p:spPr>
        <p:txBody>
          <a:bodyPr wrap="square" lIns="0" tIns="0" rIns="0" bIns="0" rtlCol="0" anchor="ctr"/>
          <a:lstStyle/>
          <a:p>
            <a:pPr indent="0" marL="0">
              <a:lnSpc>
                <a:spcPct val="108000"/>
              </a:lnSpc>
              <a:buNone/>
            </a:pPr>
            <a:r>
              <a:rPr lang="en-US" sz="1350" dirty="0">
                <a:solidFill>
                  <a:srgbClr val="5A6478"/>
                </a:solidFill>
                <a:latin typeface="Calibri" pitchFamily="34" charset="0"/>
                <a:ea typeface="Calibri" pitchFamily="34" charset="-122"/>
                <a:cs typeface="Calibri" pitchFamily="34" charset="-120"/>
              </a:rPr>
              <a:t>Every memory keyed by agent × user × tenant, enforced at the database. User B never sees user A.</a:t>
            </a:r>
            <a:endParaRPr lang="en-US" sz="1350" dirty="0"/>
          </a:p>
        </p:txBody>
      </p:sp>
      <p:sp>
        <p:nvSpPr>
          <p:cNvPr id="9" name="Shape 6"/>
          <p:cNvSpPr/>
          <p:nvPr/>
        </p:nvSpPr>
        <p:spPr>
          <a:xfrm>
            <a:off x="6217920" y="2194560"/>
            <a:ext cx="5440680" cy="1783080"/>
          </a:xfrm>
          <a:prstGeom prst="roundRect">
            <a:avLst>
              <a:gd name="adj" fmla="val 5128"/>
            </a:avLst>
          </a:prstGeom>
          <a:solidFill>
            <a:srgbClr val="F2F5FB"/>
          </a:solidFill>
          <a:ln/>
        </p:spPr>
      </p:sp>
      <p:sp>
        <p:nvSpPr>
          <p:cNvPr id="10" name="Shape 7"/>
          <p:cNvSpPr/>
          <p:nvPr/>
        </p:nvSpPr>
        <p:spPr>
          <a:xfrm>
            <a:off x="6492240" y="2468880"/>
            <a:ext cx="548640" cy="54864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40373" y="2617013"/>
            <a:ext cx="252374" cy="252374"/>
          </a:xfrm>
          <a:prstGeom prst="rect">
            <a:avLst/>
          </a:prstGeom>
        </p:spPr>
      </p:pic>
      <p:sp>
        <p:nvSpPr>
          <p:cNvPr id="12" name="Text 8"/>
          <p:cNvSpPr/>
          <p:nvPr/>
        </p:nvSpPr>
        <p:spPr>
          <a:xfrm>
            <a:off x="7223760" y="2450592"/>
            <a:ext cx="4251960" cy="365760"/>
          </a:xfrm>
          <a:prstGeom prst="rect">
            <a:avLst/>
          </a:prstGeom>
          <a:noFill/>
          <a:ln/>
        </p:spPr>
        <p:txBody>
          <a:bodyPr wrap="square" lIns="0" tIns="0" rIns="0" bIns="0" rtlCol="0" anchor="ctr"/>
          <a:lstStyle/>
          <a:p>
            <a:pPr indent="0" marL="0">
              <a:buNone/>
            </a:pPr>
            <a:r>
              <a:rPr lang="en-US" sz="1700" b="1" dirty="0">
                <a:solidFill>
                  <a:srgbClr val="1A1F36"/>
                </a:solidFill>
                <a:latin typeface="Calibri" pitchFamily="34" charset="0"/>
                <a:ea typeface="Calibri" pitchFamily="34" charset="-122"/>
                <a:cs typeface="Calibri" pitchFamily="34" charset="-120"/>
              </a:rPr>
              <a:t>Survives everything</a:t>
            </a:r>
            <a:endParaRPr lang="en-US" sz="1700" dirty="0"/>
          </a:p>
        </p:txBody>
      </p:sp>
      <p:sp>
        <p:nvSpPr>
          <p:cNvPr id="13" name="Text 9"/>
          <p:cNvSpPr/>
          <p:nvPr/>
        </p:nvSpPr>
        <p:spPr>
          <a:xfrm>
            <a:off x="7223760" y="2852928"/>
            <a:ext cx="4206240" cy="1005840"/>
          </a:xfrm>
          <a:prstGeom prst="rect">
            <a:avLst/>
          </a:prstGeom>
          <a:noFill/>
          <a:ln/>
        </p:spPr>
        <p:txBody>
          <a:bodyPr wrap="square" lIns="0" tIns="0" rIns="0" bIns="0" rtlCol="0" anchor="ctr"/>
          <a:lstStyle/>
          <a:p>
            <a:pPr indent="0" marL="0">
              <a:lnSpc>
                <a:spcPct val="108000"/>
              </a:lnSpc>
              <a:buNone/>
            </a:pPr>
            <a:r>
              <a:rPr lang="en-US" sz="1350" dirty="0">
                <a:solidFill>
                  <a:srgbClr val="5A6478"/>
                </a:solidFill>
                <a:latin typeface="Calibri" pitchFamily="34" charset="0"/>
                <a:ea typeface="Calibri" pitchFamily="34" charset="-122"/>
                <a:cs typeface="Calibri" pitchFamily="34" charset="-120"/>
              </a:rPr>
              <a:t>New threads, new sessions, backend restarts — memory is rows in the Azure Postgres we already run.</a:t>
            </a:r>
            <a:endParaRPr lang="en-US" sz="1350" dirty="0"/>
          </a:p>
        </p:txBody>
      </p:sp>
      <p:sp>
        <p:nvSpPr>
          <p:cNvPr id="14" name="Shape 10"/>
          <p:cNvSpPr/>
          <p:nvPr/>
        </p:nvSpPr>
        <p:spPr>
          <a:xfrm>
            <a:off x="548640" y="4251960"/>
            <a:ext cx="5440680" cy="1783080"/>
          </a:xfrm>
          <a:prstGeom prst="roundRect">
            <a:avLst>
              <a:gd name="adj" fmla="val 5128"/>
            </a:avLst>
          </a:prstGeom>
          <a:solidFill>
            <a:srgbClr val="F2F5FB"/>
          </a:solidFill>
          <a:ln/>
        </p:spPr>
      </p:sp>
      <p:sp>
        <p:nvSpPr>
          <p:cNvPr id="15" name="Shape 11"/>
          <p:cNvSpPr/>
          <p:nvPr/>
        </p:nvSpPr>
        <p:spPr>
          <a:xfrm>
            <a:off x="822960" y="4526280"/>
            <a:ext cx="548640" cy="54864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971093" y="4674413"/>
            <a:ext cx="252374" cy="252374"/>
          </a:xfrm>
          <a:prstGeom prst="rect">
            <a:avLst/>
          </a:prstGeom>
        </p:spPr>
      </p:pic>
      <p:sp>
        <p:nvSpPr>
          <p:cNvPr id="17" name="Text 12"/>
          <p:cNvSpPr/>
          <p:nvPr/>
        </p:nvSpPr>
        <p:spPr>
          <a:xfrm>
            <a:off x="1554480" y="4507992"/>
            <a:ext cx="4251960" cy="365760"/>
          </a:xfrm>
          <a:prstGeom prst="rect">
            <a:avLst/>
          </a:prstGeom>
          <a:noFill/>
          <a:ln/>
        </p:spPr>
        <p:txBody>
          <a:bodyPr wrap="square" lIns="0" tIns="0" rIns="0" bIns="0" rtlCol="0" anchor="ctr"/>
          <a:lstStyle/>
          <a:p>
            <a:pPr indent="0" marL="0">
              <a:buNone/>
            </a:pPr>
            <a:r>
              <a:rPr lang="en-US" sz="1700" b="1" dirty="0">
                <a:solidFill>
                  <a:srgbClr val="1A1F36"/>
                </a:solidFill>
                <a:latin typeface="Calibri" pitchFamily="34" charset="0"/>
                <a:ea typeface="Calibri" pitchFamily="34" charset="-122"/>
                <a:cs typeface="Calibri" pitchFamily="34" charset="-120"/>
              </a:rPr>
              <a:t>Governed</a:t>
            </a:r>
            <a:endParaRPr lang="en-US" sz="1700" dirty="0"/>
          </a:p>
        </p:txBody>
      </p:sp>
      <p:sp>
        <p:nvSpPr>
          <p:cNvPr id="18" name="Text 13"/>
          <p:cNvSpPr/>
          <p:nvPr/>
        </p:nvSpPr>
        <p:spPr>
          <a:xfrm>
            <a:off x="1554480" y="4910328"/>
            <a:ext cx="4206240" cy="1005840"/>
          </a:xfrm>
          <a:prstGeom prst="rect">
            <a:avLst/>
          </a:prstGeom>
          <a:noFill/>
          <a:ln/>
        </p:spPr>
        <p:txBody>
          <a:bodyPr wrap="square" lIns="0" tIns="0" rIns="0" bIns="0" rtlCol="0" anchor="ctr"/>
          <a:lstStyle/>
          <a:p>
            <a:pPr indent="0" marL="0">
              <a:lnSpc>
                <a:spcPct val="108000"/>
              </a:lnSpc>
              <a:buNone/>
            </a:pPr>
            <a:r>
              <a:rPr lang="en-US" sz="1350" dirty="0">
                <a:solidFill>
                  <a:srgbClr val="5A6478"/>
                </a:solidFill>
                <a:latin typeface="Calibri" pitchFamily="34" charset="0"/>
                <a:ea typeface="Calibri" pitchFamily="34" charset="-122"/>
                <a:cs typeface="Calibri" pitchFamily="34" charset="-120"/>
              </a:rPr>
              <a:t>Off by default everywhere. One profile flag turns it on; today only the demo agent has it.</a:t>
            </a:r>
            <a:endParaRPr lang="en-US" sz="1350" dirty="0"/>
          </a:p>
        </p:txBody>
      </p:sp>
      <p:sp>
        <p:nvSpPr>
          <p:cNvPr id="19" name="Shape 14"/>
          <p:cNvSpPr/>
          <p:nvPr/>
        </p:nvSpPr>
        <p:spPr>
          <a:xfrm>
            <a:off x="6217920" y="4251960"/>
            <a:ext cx="5440680" cy="1783080"/>
          </a:xfrm>
          <a:prstGeom prst="roundRect">
            <a:avLst>
              <a:gd name="adj" fmla="val 5128"/>
            </a:avLst>
          </a:prstGeom>
          <a:solidFill>
            <a:srgbClr val="F2F5FB"/>
          </a:solidFill>
          <a:ln/>
        </p:spPr>
      </p:sp>
      <p:sp>
        <p:nvSpPr>
          <p:cNvPr id="20" name="Shape 15"/>
          <p:cNvSpPr/>
          <p:nvPr/>
        </p:nvSpPr>
        <p:spPr>
          <a:xfrm>
            <a:off x="6492240" y="4526280"/>
            <a:ext cx="548640" cy="54864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40373" y="4674413"/>
            <a:ext cx="252374" cy="252374"/>
          </a:xfrm>
          <a:prstGeom prst="rect">
            <a:avLst/>
          </a:prstGeom>
        </p:spPr>
      </p:pic>
      <p:sp>
        <p:nvSpPr>
          <p:cNvPr id="22" name="Text 16"/>
          <p:cNvSpPr/>
          <p:nvPr/>
        </p:nvSpPr>
        <p:spPr>
          <a:xfrm>
            <a:off x="7223760" y="4507992"/>
            <a:ext cx="4251960" cy="365760"/>
          </a:xfrm>
          <a:prstGeom prst="rect">
            <a:avLst/>
          </a:prstGeom>
          <a:noFill/>
          <a:ln/>
        </p:spPr>
        <p:txBody>
          <a:bodyPr wrap="square" lIns="0" tIns="0" rIns="0" bIns="0" rtlCol="0" anchor="ctr"/>
          <a:lstStyle/>
          <a:p>
            <a:pPr indent="0" marL="0">
              <a:buNone/>
            </a:pPr>
            <a:r>
              <a:rPr lang="en-US" sz="1700" b="1" dirty="0">
                <a:solidFill>
                  <a:srgbClr val="1A1F36"/>
                </a:solidFill>
                <a:latin typeface="Calibri" pitchFamily="34" charset="0"/>
                <a:ea typeface="Calibri" pitchFamily="34" charset="-122"/>
                <a:cs typeface="Calibri" pitchFamily="34" charset="-120"/>
              </a:rPr>
              <a:t>No new infrastructure</a:t>
            </a:r>
            <a:endParaRPr lang="en-US" sz="1700" dirty="0"/>
          </a:p>
        </p:txBody>
      </p:sp>
      <p:sp>
        <p:nvSpPr>
          <p:cNvPr id="23" name="Text 17"/>
          <p:cNvSpPr/>
          <p:nvPr/>
        </p:nvSpPr>
        <p:spPr>
          <a:xfrm>
            <a:off x="7223760" y="4910328"/>
            <a:ext cx="4206240" cy="1005840"/>
          </a:xfrm>
          <a:prstGeom prst="rect">
            <a:avLst/>
          </a:prstGeom>
          <a:noFill/>
          <a:ln/>
        </p:spPr>
        <p:txBody>
          <a:bodyPr wrap="square" lIns="0" tIns="0" rIns="0" bIns="0" rtlCol="0" anchor="ctr"/>
          <a:lstStyle/>
          <a:p>
            <a:pPr indent="0" marL="0">
              <a:lnSpc>
                <a:spcPct val="108000"/>
              </a:lnSpc>
              <a:buNone/>
            </a:pPr>
            <a:r>
              <a:rPr lang="en-US" sz="1350" dirty="0">
                <a:solidFill>
                  <a:srgbClr val="5A6478"/>
                </a:solidFill>
                <a:latin typeface="Calibri" pitchFamily="34" charset="0"/>
                <a:ea typeface="Calibri" pitchFamily="34" charset="-122"/>
                <a:cs typeface="Calibri" pitchFamily="34" charset="-120"/>
              </a:rPr>
              <a:t>Two tables plus pgvector for semantic recall. No new services, no external memory store.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1064240" cy="685800"/>
          </a:xfrm>
          <a:prstGeom prst="rect">
            <a:avLst/>
          </a:prstGeom>
          <a:noFill/>
          <a:ln/>
        </p:spPr>
        <p:txBody>
          <a:bodyPr wrap="square" rtlCol="0" anchor="ctr"/>
          <a:lstStyle/>
          <a:p>
            <a:pPr indent="0" marL="0">
              <a:buNone/>
            </a:pPr>
            <a:r>
              <a:rPr lang="en-US" sz="3400" b="1" dirty="0">
                <a:solidFill>
                  <a:srgbClr val="1A1F36"/>
                </a:solidFill>
                <a:latin typeface="Cambria" pitchFamily="34" charset="0"/>
                <a:ea typeface="Cambria" pitchFamily="34" charset="-122"/>
                <a:cs typeface="Cambria" pitchFamily="34" charset="-120"/>
              </a:rPr>
              <a:t>How a turn works</a:t>
            </a:r>
            <a:endParaRPr lang="en-US" sz="3400" dirty="0"/>
          </a:p>
        </p:txBody>
      </p:sp>
      <p:sp>
        <p:nvSpPr>
          <p:cNvPr id="3" name="Shape 1"/>
          <p:cNvSpPr/>
          <p:nvPr/>
        </p:nvSpPr>
        <p:spPr>
          <a:xfrm>
            <a:off x="548640" y="1737360"/>
            <a:ext cx="2670048" cy="3291840"/>
          </a:xfrm>
          <a:prstGeom prst="roundRect">
            <a:avLst>
              <a:gd name="adj" fmla="val 3425"/>
            </a:avLst>
          </a:prstGeom>
          <a:solidFill>
            <a:srgbClr val="F2F5FB"/>
          </a:solidFill>
          <a:ln/>
        </p:spPr>
      </p:sp>
      <p:sp>
        <p:nvSpPr>
          <p:cNvPr id="4" name="Shape 2"/>
          <p:cNvSpPr/>
          <p:nvPr/>
        </p:nvSpPr>
        <p:spPr>
          <a:xfrm>
            <a:off x="777240" y="1993392"/>
            <a:ext cx="530352" cy="530352"/>
          </a:xfrm>
          <a:prstGeom prst="ellipse">
            <a:avLst/>
          </a:prstGeom>
          <a:solidFill>
            <a:srgbClr val="1E2761"/>
          </a:solidFill>
          <a:ln/>
        </p:spPr>
      </p:sp>
      <p:pic>
        <p:nvPicPr>
          <p:cNvPr id="5" name="Image 0" descr="preencoded.png">    </p:cNvPr>
          <p:cNvPicPr>
            <a:picLocks noChangeAspect="1"/>
          </p:cNvPicPr>
          <p:nvPr/>
        </p:nvPicPr>
        <p:blipFill>
          <a:blip r:embed="rId1"/>
          <a:stretch>
            <a:fillRect/>
          </a:stretch>
        </p:blipFill>
        <p:spPr>
          <a:xfrm>
            <a:off x="920435" y="2136587"/>
            <a:ext cx="243962" cy="243962"/>
          </a:xfrm>
          <a:prstGeom prst="rect">
            <a:avLst/>
          </a:prstGeom>
        </p:spPr>
      </p:pic>
      <p:sp>
        <p:nvSpPr>
          <p:cNvPr id="6" name="Text 3"/>
          <p:cNvSpPr/>
          <p:nvPr/>
        </p:nvSpPr>
        <p:spPr>
          <a:xfrm>
            <a:off x="2532888" y="1938528"/>
            <a:ext cx="502920" cy="548640"/>
          </a:xfrm>
          <a:prstGeom prst="rect">
            <a:avLst/>
          </a:prstGeom>
          <a:noFill/>
          <a:ln/>
        </p:spPr>
        <p:txBody>
          <a:bodyPr wrap="square" lIns="0" tIns="0" rIns="0" bIns="0" rtlCol="0" anchor="ctr"/>
          <a:lstStyle/>
          <a:p>
            <a:pPr algn="r" indent="0" marL="0">
              <a:buNone/>
            </a:pPr>
            <a:r>
              <a:rPr lang="en-US" sz="2600" b="1" dirty="0">
                <a:solidFill>
                  <a:srgbClr val="B9C4DE"/>
                </a:solidFill>
                <a:latin typeface="Cambria" pitchFamily="34" charset="0"/>
                <a:ea typeface="Cambria" pitchFamily="34" charset="-122"/>
                <a:cs typeface="Cambria" pitchFamily="34" charset="-120"/>
              </a:rPr>
              <a:t>1</a:t>
            </a:r>
            <a:endParaRPr lang="en-US" sz="2600" dirty="0"/>
          </a:p>
        </p:txBody>
      </p:sp>
      <p:sp>
        <p:nvSpPr>
          <p:cNvPr id="7" name="Text 4"/>
          <p:cNvSpPr/>
          <p:nvPr/>
        </p:nvSpPr>
        <p:spPr>
          <a:xfrm>
            <a:off x="777240" y="2697480"/>
            <a:ext cx="2212848" cy="685800"/>
          </a:xfrm>
          <a:prstGeom prst="rect">
            <a:avLst/>
          </a:prstGeom>
          <a:noFill/>
          <a:ln/>
        </p:spPr>
        <p:txBody>
          <a:bodyPr wrap="square" lIns="0" tIns="0" rIns="0" bIns="0" rtlCol="0" anchor="ctr"/>
          <a:lstStyle/>
          <a:p>
            <a:pPr indent="0" marL="0">
              <a:lnSpc>
                <a:spcPct val="100000"/>
              </a:lnSpc>
              <a:buNone/>
            </a:pPr>
            <a:r>
              <a:rPr lang="en-US" sz="1550" b="1" dirty="0">
                <a:solidFill>
                  <a:srgbClr val="1A1F36"/>
                </a:solidFill>
                <a:latin typeface="Calibri" pitchFamily="34" charset="0"/>
                <a:ea typeface="Calibri" pitchFamily="34" charset="-122"/>
                <a:cs typeface="Calibri" pitchFamily="34" charset="-120"/>
              </a:rPr>
              <a:t>Turn starts — recall</a:t>
            </a:r>
            <a:endParaRPr lang="en-US" sz="1550" dirty="0"/>
          </a:p>
        </p:txBody>
      </p:sp>
      <p:sp>
        <p:nvSpPr>
          <p:cNvPr id="8" name="Text 5"/>
          <p:cNvSpPr/>
          <p:nvPr/>
        </p:nvSpPr>
        <p:spPr>
          <a:xfrm>
            <a:off x="777240" y="3383280"/>
            <a:ext cx="2212848" cy="1554480"/>
          </a:xfrm>
          <a:prstGeom prst="rect">
            <a:avLst/>
          </a:prstGeom>
          <a:noFill/>
          <a:ln/>
        </p:spPr>
        <p:txBody>
          <a:bodyPr wrap="square" lIns="0" tIns="0" rIns="0" bIns="0" rtlCol="0" anchor="ctr"/>
          <a:lstStyle/>
          <a:p>
            <a:pPr indent="0" marL="0">
              <a:lnSpc>
                <a:spcPct val="110000"/>
              </a:lnSpc>
              <a:buNone/>
            </a:pPr>
            <a:r>
              <a:rPr lang="en-US" sz="1250" dirty="0">
                <a:solidFill>
                  <a:srgbClr val="5A6478"/>
                </a:solidFill>
                <a:latin typeface="Calibri" pitchFamily="34" charset="0"/>
                <a:ea typeface="Calibri" pitchFamily="34" charset="-122"/>
                <a:cs typeface="Calibri" pitchFamily="34" charset="-120"/>
              </a:rPr>
              <a:t>Stored facts ranked by relevance to the message + recency, injected as fenced data. Receipt: “🧠 Recalled N memories”.</a:t>
            </a:r>
            <a:endParaRPr lang="en-US" sz="1250" dirty="0"/>
          </a:p>
        </p:txBody>
      </p:sp>
      <p:sp>
        <p:nvSpPr>
          <p:cNvPr id="9" name="Shape 6"/>
          <p:cNvSpPr/>
          <p:nvPr/>
        </p:nvSpPr>
        <p:spPr>
          <a:xfrm>
            <a:off x="3419856" y="1737360"/>
            <a:ext cx="2670048" cy="3291840"/>
          </a:xfrm>
          <a:prstGeom prst="roundRect">
            <a:avLst>
              <a:gd name="adj" fmla="val 3425"/>
            </a:avLst>
          </a:prstGeom>
          <a:solidFill>
            <a:srgbClr val="F2F5FB"/>
          </a:solidFill>
          <a:ln/>
        </p:spPr>
      </p:sp>
      <p:sp>
        <p:nvSpPr>
          <p:cNvPr id="10" name="Shape 7"/>
          <p:cNvSpPr/>
          <p:nvPr/>
        </p:nvSpPr>
        <p:spPr>
          <a:xfrm>
            <a:off x="3648456" y="1993392"/>
            <a:ext cx="530352" cy="530352"/>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3791651" y="2136587"/>
            <a:ext cx="243962" cy="243962"/>
          </a:xfrm>
          <a:prstGeom prst="rect">
            <a:avLst/>
          </a:prstGeom>
        </p:spPr>
      </p:pic>
      <p:sp>
        <p:nvSpPr>
          <p:cNvPr id="12" name="Text 8"/>
          <p:cNvSpPr/>
          <p:nvPr/>
        </p:nvSpPr>
        <p:spPr>
          <a:xfrm>
            <a:off x="5404104" y="1938528"/>
            <a:ext cx="502920" cy="548640"/>
          </a:xfrm>
          <a:prstGeom prst="rect">
            <a:avLst/>
          </a:prstGeom>
          <a:noFill/>
          <a:ln/>
        </p:spPr>
        <p:txBody>
          <a:bodyPr wrap="square" lIns="0" tIns="0" rIns="0" bIns="0" rtlCol="0" anchor="ctr"/>
          <a:lstStyle/>
          <a:p>
            <a:pPr algn="r" indent="0" marL="0">
              <a:buNone/>
            </a:pPr>
            <a:r>
              <a:rPr lang="en-US" sz="2600" b="1" dirty="0">
                <a:solidFill>
                  <a:srgbClr val="B9C4DE"/>
                </a:solidFill>
                <a:latin typeface="Cambria" pitchFamily="34" charset="0"/>
                <a:ea typeface="Cambria" pitchFamily="34" charset="-122"/>
                <a:cs typeface="Cambria" pitchFamily="34" charset="-120"/>
              </a:rPr>
              <a:t>2</a:t>
            </a:r>
            <a:endParaRPr lang="en-US" sz="2600" dirty="0"/>
          </a:p>
        </p:txBody>
      </p:sp>
      <p:sp>
        <p:nvSpPr>
          <p:cNvPr id="13" name="Text 9"/>
          <p:cNvSpPr/>
          <p:nvPr/>
        </p:nvSpPr>
        <p:spPr>
          <a:xfrm>
            <a:off x="3648456" y="2697480"/>
            <a:ext cx="2212848" cy="685800"/>
          </a:xfrm>
          <a:prstGeom prst="rect">
            <a:avLst/>
          </a:prstGeom>
          <a:noFill/>
          <a:ln/>
        </p:spPr>
        <p:txBody>
          <a:bodyPr wrap="square" lIns="0" tIns="0" rIns="0" bIns="0" rtlCol="0" anchor="ctr"/>
          <a:lstStyle/>
          <a:p>
            <a:pPr indent="0" marL="0">
              <a:lnSpc>
                <a:spcPct val="100000"/>
              </a:lnSpc>
              <a:buNone/>
            </a:pPr>
            <a:r>
              <a:rPr lang="en-US" sz="1550" b="1" dirty="0">
                <a:solidFill>
                  <a:srgbClr val="1A1F36"/>
                </a:solidFill>
                <a:latin typeface="Calibri" pitchFamily="34" charset="0"/>
                <a:ea typeface="Calibri" pitchFamily="34" charset="-122"/>
                <a:cs typeface="Calibri" pitchFamily="34" charset="-120"/>
              </a:rPr>
              <a:t>During — explicit saves</a:t>
            </a:r>
            <a:endParaRPr lang="en-US" sz="1550" dirty="0"/>
          </a:p>
        </p:txBody>
      </p:sp>
      <p:sp>
        <p:nvSpPr>
          <p:cNvPr id="14" name="Text 10"/>
          <p:cNvSpPr/>
          <p:nvPr/>
        </p:nvSpPr>
        <p:spPr>
          <a:xfrm>
            <a:off x="3648456" y="3383280"/>
            <a:ext cx="2212848" cy="1554480"/>
          </a:xfrm>
          <a:prstGeom prst="rect">
            <a:avLst/>
          </a:prstGeom>
          <a:noFill/>
          <a:ln/>
        </p:spPr>
        <p:txBody>
          <a:bodyPr wrap="square" lIns="0" tIns="0" rIns="0" bIns="0" rtlCol="0" anchor="ctr"/>
          <a:lstStyle/>
          <a:p>
            <a:pPr indent="0" marL="0">
              <a:lnSpc>
                <a:spcPct val="110000"/>
              </a:lnSpc>
              <a:buNone/>
            </a:pPr>
            <a:r>
              <a:rPr lang="en-US" sz="1250" dirty="0">
                <a:solidFill>
                  <a:srgbClr val="5A6478"/>
                </a:solidFill>
                <a:latin typeface="Calibri" pitchFamily="34" charset="0"/>
                <a:ea typeface="Calibri" pitchFamily="34" charset="-122"/>
                <a:cs typeface="Calibri" pitchFamily="34" charset="-120"/>
              </a:rPr>
              <a:t>The agent can call save_memory when you state something durable. Visible as a tool call in the transcript.</a:t>
            </a:r>
            <a:endParaRPr lang="en-US" sz="1250" dirty="0"/>
          </a:p>
        </p:txBody>
      </p:sp>
      <p:sp>
        <p:nvSpPr>
          <p:cNvPr id="15" name="Shape 11"/>
          <p:cNvSpPr/>
          <p:nvPr/>
        </p:nvSpPr>
        <p:spPr>
          <a:xfrm>
            <a:off x="6291072" y="1737360"/>
            <a:ext cx="2670048" cy="3291840"/>
          </a:xfrm>
          <a:prstGeom prst="roundRect">
            <a:avLst>
              <a:gd name="adj" fmla="val 3425"/>
            </a:avLst>
          </a:prstGeom>
          <a:solidFill>
            <a:srgbClr val="F2F5FB"/>
          </a:solidFill>
          <a:ln/>
        </p:spPr>
      </p:sp>
      <p:sp>
        <p:nvSpPr>
          <p:cNvPr id="16" name="Shape 12"/>
          <p:cNvSpPr/>
          <p:nvPr/>
        </p:nvSpPr>
        <p:spPr>
          <a:xfrm>
            <a:off x="6519672" y="1993392"/>
            <a:ext cx="530352" cy="530352"/>
          </a:xfrm>
          <a:prstGeom prst="ellipse">
            <a:avLst/>
          </a:prstGeom>
          <a:solidFill>
            <a:srgbClr val="1E2761"/>
          </a:solidFill>
          <a:ln/>
        </p:spPr>
      </p:sp>
      <p:pic>
        <p:nvPicPr>
          <p:cNvPr id="17" name="Image 2" descr="preencoded.png">    </p:cNvPr>
          <p:cNvPicPr>
            <a:picLocks noChangeAspect="1"/>
          </p:cNvPicPr>
          <p:nvPr/>
        </p:nvPicPr>
        <p:blipFill>
          <a:blip r:embed="rId3"/>
          <a:stretch>
            <a:fillRect/>
          </a:stretch>
        </p:blipFill>
        <p:spPr>
          <a:xfrm>
            <a:off x="6662867" y="2136587"/>
            <a:ext cx="243962" cy="243962"/>
          </a:xfrm>
          <a:prstGeom prst="rect">
            <a:avLst/>
          </a:prstGeom>
        </p:spPr>
      </p:pic>
      <p:sp>
        <p:nvSpPr>
          <p:cNvPr id="18" name="Text 13"/>
          <p:cNvSpPr/>
          <p:nvPr/>
        </p:nvSpPr>
        <p:spPr>
          <a:xfrm>
            <a:off x="8275320" y="1938528"/>
            <a:ext cx="502920" cy="548640"/>
          </a:xfrm>
          <a:prstGeom prst="rect">
            <a:avLst/>
          </a:prstGeom>
          <a:noFill/>
          <a:ln/>
        </p:spPr>
        <p:txBody>
          <a:bodyPr wrap="square" lIns="0" tIns="0" rIns="0" bIns="0" rtlCol="0" anchor="ctr"/>
          <a:lstStyle/>
          <a:p>
            <a:pPr algn="r" indent="0" marL="0">
              <a:buNone/>
            </a:pPr>
            <a:r>
              <a:rPr lang="en-US" sz="2600" b="1" dirty="0">
                <a:solidFill>
                  <a:srgbClr val="B9C4DE"/>
                </a:solidFill>
                <a:latin typeface="Cambria" pitchFamily="34" charset="0"/>
                <a:ea typeface="Cambria" pitchFamily="34" charset="-122"/>
                <a:cs typeface="Cambria" pitchFamily="34" charset="-120"/>
              </a:rPr>
              <a:t>3</a:t>
            </a:r>
            <a:endParaRPr lang="en-US" sz="2600" dirty="0"/>
          </a:p>
        </p:txBody>
      </p:sp>
      <p:sp>
        <p:nvSpPr>
          <p:cNvPr id="19" name="Text 14"/>
          <p:cNvSpPr/>
          <p:nvPr/>
        </p:nvSpPr>
        <p:spPr>
          <a:xfrm>
            <a:off x="6519672" y="2697480"/>
            <a:ext cx="2212848" cy="685800"/>
          </a:xfrm>
          <a:prstGeom prst="rect">
            <a:avLst/>
          </a:prstGeom>
          <a:noFill/>
          <a:ln/>
        </p:spPr>
        <p:txBody>
          <a:bodyPr wrap="square" lIns="0" tIns="0" rIns="0" bIns="0" rtlCol="0" anchor="ctr"/>
          <a:lstStyle/>
          <a:p>
            <a:pPr indent="0" marL="0">
              <a:lnSpc>
                <a:spcPct val="100000"/>
              </a:lnSpc>
              <a:buNone/>
            </a:pPr>
            <a:r>
              <a:rPr lang="en-US" sz="1550" b="1" dirty="0">
                <a:solidFill>
                  <a:srgbClr val="1A1F36"/>
                </a:solidFill>
                <a:latin typeface="Calibri" pitchFamily="34" charset="0"/>
                <a:ea typeface="Calibri" pitchFamily="34" charset="-122"/>
                <a:cs typeface="Calibri" pitchFamily="34" charset="-120"/>
              </a:rPr>
              <a:t>Turn ends — extraction</a:t>
            </a:r>
            <a:endParaRPr lang="en-US" sz="1550" dirty="0"/>
          </a:p>
        </p:txBody>
      </p:sp>
      <p:sp>
        <p:nvSpPr>
          <p:cNvPr id="20" name="Text 15"/>
          <p:cNvSpPr/>
          <p:nvPr/>
        </p:nvSpPr>
        <p:spPr>
          <a:xfrm>
            <a:off x="6519672" y="3383280"/>
            <a:ext cx="2212848" cy="1554480"/>
          </a:xfrm>
          <a:prstGeom prst="rect">
            <a:avLst/>
          </a:prstGeom>
          <a:noFill/>
          <a:ln/>
        </p:spPr>
        <p:txBody>
          <a:bodyPr wrap="square" lIns="0" tIns="0" rIns="0" bIns="0" rtlCol="0" anchor="ctr"/>
          <a:lstStyle/>
          <a:p>
            <a:pPr indent="0" marL="0">
              <a:lnSpc>
                <a:spcPct val="110000"/>
              </a:lnSpc>
              <a:buNone/>
            </a:pPr>
            <a:r>
              <a:rPr lang="en-US" sz="1250" dirty="0">
                <a:solidFill>
                  <a:srgbClr val="5A6478"/>
                </a:solidFill>
                <a:latin typeface="Calibri" pitchFamily="34" charset="0"/>
                <a:ea typeface="Calibri" pitchFamily="34" charset="-122"/>
                <a:cs typeface="Calibri" pitchFamily="34" charset="-120"/>
              </a:rPr>
              <a:t>A background pass quietly captures durable facts you stated. Fire-and-forget: never slows or breaks a turn.</a:t>
            </a:r>
            <a:endParaRPr lang="en-US" sz="1250" dirty="0"/>
          </a:p>
        </p:txBody>
      </p:sp>
      <p:sp>
        <p:nvSpPr>
          <p:cNvPr id="21" name="Shape 16"/>
          <p:cNvSpPr/>
          <p:nvPr/>
        </p:nvSpPr>
        <p:spPr>
          <a:xfrm>
            <a:off x="9162288" y="1737360"/>
            <a:ext cx="2670048" cy="3291840"/>
          </a:xfrm>
          <a:prstGeom prst="roundRect">
            <a:avLst>
              <a:gd name="adj" fmla="val 3425"/>
            </a:avLst>
          </a:prstGeom>
          <a:solidFill>
            <a:srgbClr val="1E2761"/>
          </a:solidFill>
          <a:ln/>
        </p:spPr>
      </p:sp>
      <p:sp>
        <p:nvSpPr>
          <p:cNvPr id="22" name="Shape 17"/>
          <p:cNvSpPr/>
          <p:nvPr/>
        </p:nvSpPr>
        <p:spPr>
          <a:xfrm>
            <a:off x="9390888" y="1993392"/>
            <a:ext cx="530352" cy="530352"/>
          </a:xfrm>
          <a:prstGeom prst="ellipse">
            <a:avLst/>
          </a:prstGeom>
          <a:solidFill>
            <a:srgbClr val="02C39A"/>
          </a:solidFill>
          <a:ln/>
        </p:spPr>
      </p:sp>
      <p:pic>
        <p:nvPicPr>
          <p:cNvPr id="23" name="Image 3" descr="preencoded.png">    </p:cNvPr>
          <p:cNvPicPr>
            <a:picLocks noChangeAspect="1"/>
          </p:cNvPicPr>
          <p:nvPr/>
        </p:nvPicPr>
        <p:blipFill>
          <a:blip r:embed="rId4"/>
          <a:stretch>
            <a:fillRect/>
          </a:stretch>
        </p:blipFill>
        <p:spPr>
          <a:xfrm>
            <a:off x="9534083" y="2136587"/>
            <a:ext cx="243962" cy="243962"/>
          </a:xfrm>
          <a:prstGeom prst="rect">
            <a:avLst/>
          </a:prstGeom>
        </p:spPr>
      </p:pic>
      <p:sp>
        <p:nvSpPr>
          <p:cNvPr id="24" name="Text 18"/>
          <p:cNvSpPr/>
          <p:nvPr/>
        </p:nvSpPr>
        <p:spPr>
          <a:xfrm>
            <a:off x="11146536" y="1938528"/>
            <a:ext cx="502920" cy="548640"/>
          </a:xfrm>
          <a:prstGeom prst="rect">
            <a:avLst/>
          </a:prstGeom>
          <a:noFill/>
          <a:ln/>
        </p:spPr>
        <p:txBody>
          <a:bodyPr wrap="square" lIns="0" tIns="0" rIns="0" bIns="0" rtlCol="0" anchor="ctr"/>
          <a:lstStyle/>
          <a:p>
            <a:pPr algn="r" indent="0" marL="0">
              <a:buNone/>
            </a:pPr>
            <a:r>
              <a:rPr lang="en-US" sz="2600" b="1" dirty="0">
                <a:solidFill>
                  <a:srgbClr val="02C39A"/>
                </a:solidFill>
                <a:latin typeface="Cambria" pitchFamily="34" charset="0"/>
                <a:ea typeface="Cambria" pitchFamily="34" charset="-122"/>
                <a:cs typeface="Cambria" pitchFamily="34" charset="-120"/>
              </a:rPr>
              <a:t>4</a:t>
            </a:r>
            <a:endParaRPr lang="en-US" sz="2600" dirty="0"/>
          </a:p>
        </p:txBody>
      </p:sp>
      <p:sp>
        <p:nvSpPr>
          <p:cNvPr id="25" name="Text 19"/>
          <p:cNvSpPr/>
          <p:nvPr/>
        </p:nvSpPr>
        <p:spPr>
          <a:xfrm>
            <a:off x="9390888" y="2697480"/>
            <a:ext cx="2212848" cy="685800"/>
          </a:xfrm>
          <a:prstGeom prst="rect">
            <a:avLst/>
          </a:prstGeom>
          <a:noFill/>
          <a:ln/>
        </p:spPr>
        <p:txBody>
          <a:bodyPr wrap="square" lIns="0" tIns="0" rIns="0" bIns="0" rtlCol="0" anchor="ctr"/>
          <a:lstStyle/>
          <a:p>
            <a:pPr indent="0" marL="0">
              <a:lnSpc>
                <a:spcPct val="100000"/>
              </a:lnSpc>
              <a:buNone/>
            </a:pPr>
            <a:r>
              <a:rPr lang="en-US" sz="1550" b="1" dirty="0">
                <a:solidFill>
                  <a:srgbClr val="FFFFFF"/>
                </a:solidFill>
                <a:latin typeface="Calibri" pitchFamily="34" charset="0"/>
                <a:ea typeface="Calibri" pitchFamily="34" charset="-122"/>
                <a:cs typeface="Calibri" pitchFamily="34" charset="-120"/>
              </a:rPr>
              <a:t>Every write — the gate</a:t>
            </a:r>
            <a:endParaRPr lang="en-US" sz="1550" dirty="0"/>
          </a:p>
        </p:txBody>
      </p:sp>
      <p:sp>
        <p:nvSpPr>
          <p:cNvPr id="26" name="Text 20"/>
          <p:cNvSpPr/>
          <p:nvPr/>
        </p:nvSpPr>
        <p:spPr>
          <a:xfrm>
            <a:off x="9390888" y="3383280"/>
            <a:ext cx="2212848" cy="1554480"/>
          </a:xfrm>
          <a:prstGeom prst="rect">
            <a:avLst/>
          </a:prstGeom>
          <a:noFill/>
          <a:ln/>
        </p:spPr>
        <p:txBody>
          <a:bodyPr wrap="square" lIns="0" tIns="0" rIns="0" bIns="0" rtlCol="0" anchor="ctr"/>
          <a:lstStyle/>
          <a:p>
            <a:pPr indent="0" marL="0">
              <a:lnSpc>
                <a:spcPct val="110000"/>
              </a:lnSpc>
              <a:buNone/>
            </a:pPr>
            <a:r>
              <a:rPr lang="en-US" sz="1250" dirty="0">
                <a:solidFill>
                  <a:srgbClr val="CADCFC"/>
                </a:solidFill>
                <a:latin typeface="Calibri" pitchFamily="34" charset="0"/>
                <a:ea typeface="Calibri" pitchFamily="34" charset="-122"/>
                <a:cs typeface="Calibri" pitchFamily="34" charset="-120"/>
              </a:rPr>
              <a:t>Dedup, similarity tiers, small-model adjudication. Contradictions retire the old fact — supersede, not overwrite.</a:t>
            </a:r>
            <a:endParaRPr lang="en-US" sz="1250" dirty="0"/>
          </a:p>
        </p:txBody>
      </p:sp>
      <p:sp>
        <p:nvSpPr>
          <p:cNvPr id="27" name="Text 21"/>
          <p:cNvSpPr/>
          <p:nvPr/>
        </p:nvSpPr>
        <p:spPr>
          <a:xfrm>
            <a:off x="548640" y="5349240"/>
            <a:ext cx="11064240" cy="45720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Append-only store with soft-delete: nothing is ever silently overwritten, and “forget this user” is one call.</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1064240" cy="685800"/>
          </a:xfrm>
          <a:prstGeom prst="rect">
            <a:avLst/>
          </a:prstGeom>
          <a:noFill/>
          <a:ln/>
        </p:spPr>
        <p:txBody>
          <a:bodyPr wrap="square" rtlCol="0" anchor="ctr"/>
          <a:lstStyle/>
          <a:p>
            <a:pPr indent="0" marL="0">
              <a:buNone/>
            </a:pPr>
            <a:r>
              <a:rPr lang="en-US" sz="3400" b="1" dirty="0">
                <a:solidFill>
                  <a:srgbClr val="1A1F36"/>
                </a:solidFill>
                <a:latin typeface="Cambria" pitchFamily="34" charset="0"/>
                <a:ea typeface="Cambria" pitchFamily="34" charset="-122"/>
                <a:cs typeface="Cambria" pitchFamily="34" charset="-120"/>
              </a:rPr>
              <a:t>Safe by design</a:t>
            </a:r>
            <a:endParaRPr lang="en-US" sz="3400" dirty="0"/>
          </a:p>
        </p:txBody>
      </p:sp>
      <p:sp>
        <p:nvSpPr>
          <p:cNvPr id="3" name="Shape 1"/>
          <p:cNvSpPr/>
          <p:nvPr/>
        </p:nvSpPr>
        <p:spPr>
          <a:xfrm>
            <a:off x="548640" y="1554480"/>
            <a:ext cx="512064" cy="512064"/>
          </a:xfrm>
          <a:prstGeom prst="ellipse">
            <a:avLst/>
          </a:prstGeom>
          <a:solidFill>
            <a:srgbClr val="F2F5FB"/>
          </a:solidFill>
          <a:ln/>
        </p:spPr>
      </p:sp>
      <p:pic>
        <p:nvPicPr>
          <p:cNvPr id="4" name="Image 0" descr="preencoded.png">    </p:cNvPr>
          <p:cNvPicPr>
            <a:picLocks noChangeAspect="1"/>
          </p:cNvPicPr>
          <p:nvPr/>
        </p:nvPicPr>
        <p:blipFill>
          <a:blip r:embed="rId1"/>
          <a:stretch>
            <a:fillRect/>
          </a:stretch>
        </p:blipFill>
        <p:spPr>
          <a:xfrm>
            <a:off x="686897" y="1692737"/>
            <a:ext cx="235549" cy="235549"/>
          </a:xfrm>
          <a:prstGeom prst="rect">
            <a:avLst/>
          </a:prstGeom>
        </p:spPr>
      </p:pic>
      <p:sp>
        <p:nvSpPr>
          <p:cNvPr id="5" name="Text 2"/>
          <p:cNvSpPr/>
          <p:nvPr/>
        </p:nvSpPr>
        <p:spPr>
          <a:xfrm>
            <a:off x="1261872" y="1508760"/>
            <a:ext cx="4663440" cy="347472"/>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Off by default</a:t>
            </a:r>
            <a:endParaRPr lang="en-US" sz="1550" dirty="0"/>
          </a:p>
        </p:txBody>
      </p:sp>
      <p:sp>
        <p:nvSpPr>
          <p:cNvPr id="6" name="Text 3"/>
          <p:cNvSpPr/>
          <p:nvPr/>
        </p:nvSpPr>
        <p:spPr>
          <a:xfrm>
            <a:off x="1261872" y="1847088"/>
            <a:ext cx="4663440" cy="777240"/>
          </a:xfrm>
          <a:prstGeom prst="rect">
            <a:avLst/>
          </a:prstGeom>
          <a:noFill/>
          <a:ln/>
        </p:spPr>
        <p:txBody>
          <a:bodyPr wrap="square" lIns="0" tIns="0" rIns="0" bIns="0" rtlCol="0" anchor="ctr"/>
          <a:lstStyle/>
          <a:p>
            <a:pPr indent="0" marL="0">
              <a:lnSpc>
                <a:spcPct val="105000"/>
              </a:lnSpc>
              <a:buNone/>
            </a:pPr>
            <a:r>
              <a:rPr lang="en-US" sz="1250" dirty="0">
                <a:solidFill>
                  <a:srgbClr val="5A6478"/>
                </a:solidFill>
                <a:latin typeface="Calibri" pitchFamily="34" charset="0"/>
                <a:ea typeface="Calibri" pitchFamily="34" charset="-122"/>
                <a:cs typeface="Calibri" pitchFamily="34" charset="-120"/>
              </a:rPr>
              <a:t>No real profile enables memory. A test fails the build if one ever does.</a:t>
            </a:r>
            <a:endParaRPr lang="en-US" sz="1250" dirty="0"/>
          </a:p>
        </p:txBody>
      </p:sp>
      <p:sp>
        <p:nvSpPr>
          <p:cNvPr id="7" name="Shape 4"/>
          <p:cNvSpPr/>
          <p:nvPr/>
        </p:nvSpPr>
        <p:spPr>
          <a:xfrm>
            <a:off x="6217920" y="1554480"/>
            <a:ext cx="512064" cy="512064"/>
          </a:xfrm>
          <a:prstGeom prst="ellipse">
            <a:avLst/>
          </a:prstGeom>
          <a:solidFill>
            <a:srgbClr val="F2F5FB"/>
          </a:solidFill>
          <a:ln/>
        </p:spPr>
      </p:sp>
      <p:pic>
        <p:nvPicPr>
          <p:cNvPr id="8" name="Image 1" descr="preencoded.png">    </p:cNvPr>
          <p:cNvPicPr>
            <a:picLocks noChangeAspect="1"/>
          </p:cNvPicPr>
          <p:nvPr/>
        </p:nvPicPr>
        <p:blipFill>
          <a:blip r:embed="rId2"/>
          <a:stretch>
            <a:fillRect/>
          </a:stretch>
        </p:blipFill>
        <p:spPr>
          <a:xfrm>
            <a:off x="6356177" y="1692737"/>
            <a:ext cx="235549" cy="235549"/>
          </a:xfrm>
          <a:prstGeom prst="rect">
            <a:avLst/>
          </a:prstGeom>
        </p:spPr>
      </p:pic>
      <p:sp>
        <p:nvSpPr>
          <p:cNvPr id="9" name="Text 5"/>
          <p:cNvSpPr/>
          <p:nvPr/>
        </p:nvSpPr>
        <p:spPr>
          <a:xfrm>
            <a:off x="6931152" y="1508760"/>
            <a:ext cx="4663440" cy="347472"/>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Identity or nothing</a:t>
            </a:r>
            <a:endParaRPr lang="en-US" sz="1550" dirty="0"/>
          </a:p>
        </p:txBody>
      </p:sp>
      <p:sp>
        <p:nvSpPr>
          <p:cNvPr id="10" name="Text 6"/>
          <p:cNvSpPr/>
          <p:nvPr/>
        </p:nvSpPr>
        <p:spPr>
          <a:xfrm>
            <a:off x="6931152" y="1847088"/>
            <a:ext cx="4663440" cy="777240"/>
          </a:xfrm>
          <a:prstGeom prst="rect">
            <a:avLst/>
          </a:prstGeom>
          <a:noFill/>
          <a:ln/>
        </p:spPr>
        <p:txBody>
          <a:bodyPr wrap="square" lIns="0" tIns="0" rIns="0" bIns="0" rtlCol="0" anchor="ctr"/>
          <a:lstStyle/>
          <a:p>
            <a:pPr indent="0" marL="0">
              <a:lnSpc>
                <a:spcPct val="105000"/>
              </a:lnSpc>
              <a:buNone/>
            </a:pPr>
            <a:r>
              <a:rPr lang="en-US" sz="1250" dirty="0">
                <a:solidFill>
                  <a:srgbClr val="5A6478"/>
                </a:solidFill>
                <a:latin typeface="Calibri" pitchFamily="34" charset="0"/>
                <a:ea typeface="Calibri" pitchFamily="34" charset="-122"/>
                <a:cs typeface="Calibri" pitchFamily="34" charset="-120"/>
              </a:rPr>
              <a:t>No validated user + tenant → memory silently disabled for that turn. Fail-closed.</a:t>
            </a:r>
            <a:endParaRPr lang="en-US" sz="1250" dirty="0"/>
          </a:p>
        </p:txBody>
      </p:sp>
      <p:sp>
        <p:nvSpPr>
          <p:cNvPr id="11" name="Shape 7"/>
          <p:cNvSpPr/>
          <p:nvPr/>
        </p:nvSpPr>
        <p:spPr>
          <a:xfrm>
            <a:off x="548640" y="3044952"/>
            <a:ext cx="512064" cy="512064"/>
          </a:xfrm>
          <a:prstGeom prst="ellipse">
            <a:avLst/>
          </a:prstGeom>
          <a:solidFill>
            <a:srgbClr val="F2F5FB"/>
          </a:solidFill>
          <a:ln/>
        </p:spPr>
      </p:sp>
      <p:pic>
        <p:nvPicPr>
          <p:cNvPr id="12" name="Image 2" descr="preencoded.png">    </p:cNvPr>
          <p:cNvPicPr>
            <a:picLocks noChangeAspect="1"/>
          </p:cNvPicPr>
          <p:nvPr/>
        </p:nvPicPr>
        <p:blipFill>
          <a:blip r:embed="rId3"/>
          <a:stretch>
            <a:fillRect/>
          </a:stretch>
        </p:blipFill>
        <p:spPr>
          <a:xfrm>
            <a:off x="686897" y="3183209"/>
            <a:ext cx="235549" cy="235549"/>
          </a:xfrm>
          <a:prstGeom prst="rect">
            <a:avLst/>
          </a:prstGeom>
        </p:spPr>
      </p:pic>
      <p:sp>
        <p:nvSpPr>
          <p:cNvPr id="13" name="Text 8"/>
          <p:cNvSpPr/>
          <p:nvPr/>
        </p:nvSpPr>
        <p:spPr>
          <a:xfrm>
            <a:off x="1261872" y="2999232"/>
            <a:ext cx="4663440" cy="347472"/>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Denylist at write time</a:t>
            </a:r>
            <a:endParaRPr lang="en-US" sz="1550" dirty="0"/>
          </a:p>
        </p:txBody>
      </p:sp>
      <p:sp>
        <p:nvSpPr>
          <p:cNvPr id="14" name="Text 9"/>
          <p:cNvSpPr/>
          <p:nvPr/>
        </p:nvSpPr>
        <p:spPr>
          <a:xfrm>
            <a:off x="1261872" y="3337560"/>
            <a:ext cx="4663440" cy="777240"/>
          </a:xfrm>
          <a:prstGeom prst="rect">
            <a:avLst/>
          </a:prstGeom>
          <a:noFill/>
          <a:ln/>
        </p:spPr>
        <p:txBody>
          <a:bodyPr wrap="square" lIns="0" tIns="0" rIns="0" bIns="0" rtlCol="0" anchor="ctr"/>
          <a:lstStyle/>
          <a:p>
            <a:pPr indent="0" marL="0">
              <a:lnSpc>
                <a:spcPct val="105000"/>
              </a:lnSpc>
              <a:buNone/>
            </a:pPr>
            <a:r>
              <a:rPr lang="en-US" sz="1250" dirty="0">
                <a:solidFill>
                  <a:srgbClr val="5A6478"/>
                </a:solidFill>
                <a:latin typeface="Calibri" pitchFamily="34" charset="0"/>
                <a:ea typeface="Calibri" pitchFamily="34" charset="-122"/>
                <a:cs typeface="Calibri" pitchFamily="34" charset="-120"/>
              </a:rPr>
              <a:t>Credentials, card and IBAN shapes, secrets — never stored, by pattern.</a:t>
            </a:r>
            <a:endParaRPr lang="en-US" sz="1250" dirty="0"/>
          </a:p>
        </p:txBody>
      </p:sp>
      <p:sp>
        <p:nvSpPr>
          <p:cNvPr id="15" name="Shape 10"/>
          <p:cNvSpPr/>
          <p:nvPr/>
        </p:nvSpPr>
        <p:spPr>
          <a:xfrm>
            <a:off x="6217920" y="3044952"/>
            <a:ext cx="512064" cy="512064"/>
          </a:xfrm>
          <a:prstGeom prst="ellipse">
            <a:avLst/>
          </a:prstGeom>
          <a:solidFill>
            <a:srgbClr val="F2F5FB"/>
          </a:solidFill>
          <a:ln/>
        </p:spPr>
      </p:sp>
      <p:pic>
        <p:nvPicPr>
          <p:cNvPr id="16" name="Image 3" descr="preencoded.png">    </p:cNvPr>
          <p:cNvPicPr>
            <a:picLocks noChangeAspect="1"/>
          </p:cNvPicPr>
          <p:nvPr/>
        </p:nvPicPr>
        <p:blipFill>
          <a:blip r:embed="rId4"/>
          <a:stretch>
            <a:fillRect/>
          </a:stretch>
        </p:blipFill>
        <p:spPr>
          <a:xfrm>
            <a:off x="6356177" y="3183209"/>
            <a:ext cx="235549" cy="235549"/>
          </a:xfrm>
          <a:prstGeom prst="rect">
            <a:avLst/>
          </a:prstGeom>
        </p:spPr>
      </p:pic>
      <p:sp>
        <p:nvSpPr>
          <p:cNvPr id="17" name="Text 11"/>
          <p:cNvSpPr/>
          <p:nvPr/>
        </p:nvSpPr>
        <p:spPr>
          <a:xfrm>
            <a:off x="6931152" y="2999232"/>
            <a:ext cx="4663440" cy="347472"/>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Content-free logs</a:t>
            </a:r>
            <a:endParaRPr lang="en-US" sz="1550" dirty="0"/>
          </a:p>
        </p:txBody>
      </p:sp>
      <p:sp>
        <p:nvSpPr>
          <p:cNvPr id="18" name="Text 12"/>
          <p:cNvSpPr/>
          <p:nvPr/>
        </p:nvSpPr>
        <p:spPr>
          <a:xfrm>
            <a:off x="6931152" y="3337560"/>
            <a:ext cx="4663440" cy="777240"/>
          </a:xfrm>
          <a:prstGeom prst="rect">
            <a:avLst/>
          </a:prstGeom>
          <a:noFill/>
          <a:ln/>
        </p:spPr>
        <p:txBody>
          <a:bodyPr wrap="square" lIns="0" tIns="0" rIns="0" bIns="0" rtlCol="0" anchor="ctr"/>
          <a:lstStyle/>
          <a:p>
            <a:pPr indent="0" marL="0">
              <a:lnSpc>
                <a:spcPct val="105000"/>
              </a:lnSpc>
              <a:buNone/>
            </a:pPr>
            <a:r>
              <a:rPr lang="en-US" sz="1250" dirty="0">
                <a:solidFill>
                  <a:srgbClr val="5A6478"/>
                </a:solidFill>
                <a:latin typeface="Calibri" pitchFamily="34" charset="0"/>
                <a:ea typeface="Calibri" pitchFamily="34" charset="-122"/>
                <a:cs typeface="Calibri" pitchFamily="34" charset="-120"/>
              </a:rPr>
              <a:t>Telemetry carries ids, counts, and outcomes. Never what a memory says.</a:t>
            </a:r>
            <a:endParaRPr lang="en-US" sz="1250" dirty="0"/>
          </a:p>
        </p:txBody>
      </p:sp>
      <p:sp>
        <p:nvSpPr>
          <p:cNvPr id="19" name="Shape 13"/>
          <p:cNvSpPr/>
          <p:nvPr/>
        </p:nvSpPr>
        <p:spPr>
          <a:xfrm>
            <a:off x="548640" y="4535424"/>
            <a:ext cx="512064" cy="512064"/>
          </a:xfrm>
          <a:prstGeom prst="ellipse">
            <a:avLst/>
          </a:prstGeom>
          <a:solidFill>
            <a:srgbClr val="F2F5FB"/>
          </a:solidFill>
          <a:ln/>
        </p:spPr>
      </p:sp>
      <p:pic>
        <p:nvPicPr>
          <p:cNvPr id="20" name="Image 4" descr="preencoded.png">    </p:cNvPr>
          <p:cNvPicPr>
            <a:picLocks noChangeAspect="1"/>
          </p:cNvPicPr>
          <p:nvPr/>
        </p:nvPicPr>
        <p:blipFill>
          <a:blip r:embed="rId5"/>
          <a:stretch>
            <a:fillRect/>
          </a:stretch>
        </p:blipFill>
        <p:spPr>
          <a:xfrm>
            <a:off x="686897" y="4673681"/>
            <a:ext cx="235549" cy="235549"/>
          </a:xfrm>
          <a:prstGeom prst="rect">
            <a:avLst/>
          </a:prstGeom>
        </p:spPr>
      </p:pic>
      <p:sp>
        <p:nvSpPr>
          <p:cNvPr id="21" name="Text 14"/>
          <p:cNvSpPr/>
          <p:nvPr/>
        </p:nvSpPr>
        <p:spPr>
          <a:xfrm>
            <a:off x="1261872" y="4489704"/>
            <a:ext cx="4663440" cy="347472"/>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Deletable &amp; auditable</a:t>
            </a:r>
            <a:endParaRPr lang="en-US" sz="1550" dirty="0"/>
          </a:p>
        </p:txBody>
      </p:sp>
      <p:sp>
        <p:nvSpPr>
          <p:cNvPr id="22" name="Text 15"/>
          <p:cNvSpPr/>
          <p:nvPr/>
        </p:nvSpPr>
        <p:spPr>
          <a:xfrm>
            <a:off x="1261872" y="4828032"/>
            <a:ext cx="4663440" cy="777240"/>
          </a:xfrm>
          <a:prstGeom prst="rect">
            <a:avLst/>
          </a:prstGeom>
          <a:noFill/>
          <a:ln/>
        </p:spPr>
        <p:txBody>
          <a:bodyPr wrap="square" lIns="0" tIns="0" rIns="0" bIns="0" rtlCol="0" anchor="ctr"/>
          <a:lstStyle/>
          <a:p>
            <a:pPr indent="0" marL="0">
              <a:lnSpc>
                <a:spcPct val="105000"/>
              </a:lnSpc>
              <a:buNone/>
            </a:pPr>
            <a:r>
              <a:rPr lang="en-US" sz="1250" dirty="0">
                <a:solidFill>
                  <a:srgbClr val="5A6478"/>
                </a:solidFill>
                <a:latin typeface="Calibri" pitchFamily="34" charset="0"/>
                <a:ea typeface="Calibri" pitchFamily="34" charset="-122"/>
                <a:cs typeface="Calibri" pitchFamily="34" charset="-120"/>
              </a:rPr>
              <a:t>Soft-delete, one-call per-user forget, supersede chains as the audit trail.</a:t>
            </a:r>
            <a:endParaRPr lang="en-US" sz="1250" dirty="0"/>
          </a:p>
        </p:txBody>
      </p:sp>
      <p:sp>
        <p:nvSpPr>
          <p:cNvPr id="23" name="Shape 16"/>
          <p:cNvSpPr/>
          <p:nvPr/>
        </p:nvSpPr>
        <p:spPr>
          <a:xfrm>
            <a:off x="6217920" y="4535424"/>
            <a:ext cx="512064" cy="512064"/>
          </a:xfrm>
          <a:prstGeom prst="ellipse">
            <a:avLst/>
          </a:prstGeom>
          <a:solidFill>
            <a:srgbClr val="F2F5FB"/>
          </a:solidFill>
          <a:ln/>
        </p:spPr>
      </p:sp>
      <p:pic>
        <p:nvPicPr>
          <p:cNvPr id="24" name="Image 5" descr="preencoded.png">    </p:cNvPr>
          <p:cNvPicPr>
            <a:picLocks noChangeAspect="1"/>
          </p:cNvPicPr>
          <p:nvPr/>
        </p:nvPicPr>
        <p:blipFill>
          <a:blip r:embed="rId6"/>
          <a:stretch>
            <a:fillRect/>
          </a:stretch>
        </p:blipFill>
        <p:spPr>
          <a:xfrm>
            <a:off x="6356177" y="4673681"/>
            <a:ext cx="235549" cy="235549"/>
          </a:xfrm>
          <a:prstGeom prst="rect">
            <a:avLst/>
          </a:prstGeom>
        </p:spPr>
      </p:pic>
      <p:sp>
        <p:nvSpPr>
          <p:cNvPr id="25" name="Text 17"/>
          <p:cNvSpPr/>
          <p:nvPr/>
        </p:nvSpPr>
        <p:spPr>
          <a:xfrm>
            <a:off x="6931152" y="4489704"/>
            <a:ext cx="4663440" cy="347472"/>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Injection-aware</a:t>
            </a:r>
            <a:endParaRPr lang="en-US" sz="1550" dirty="0"/>
          </a:p>
        </p:txBody>
      </p:sp>
      <p:sp>
        <p:nvSpPr>
          <p:cNvPr id="26" name="Text 18"/>
          <p:cNvSpPr/>
          <p:nvPr/>
        </p:nvSpPr>
        <p:spPr>
          <a:xfrm>
            <a:off x="6931152" y="4828032"/>
            <a:ext cx="4663440" cy="777240"/>
          </a:xfrm>
          <a:prstGeom prst="rect">
            <a:avLst/>
          </a:prstGeom>
          <a:noFill/>
          <a:ln/>
        </p:spPr>
        <p:txBody>
          <a:bodyPr wrap="square" lIns="0" tIns="0" rIns="0" bIns="0" rtlCol="0" anchor="ctr"/>
          <a:lstStyle/>
          <a:p>
            <a:pPr indent="0" marL="0">
              <a:lnSpc>
                <a:spcPct val="105000"/>
              </a:lnSpc>
              <a:buNone/>
            </a:pPr>
            <a:r>
              <a:rPr lang="en-US" sz="1250" dirty="0">
                <a:solidFill>
                  <a:srgbClr val="5A6478"/>
                </a:solidFill>
                <a:latin typeface="Calibri" pitchFamily="34" charset="0"/>
                <a:ea typeface="Calibri" pitchFamily="34" charset="-122"/>
                <a:cs typeface="Calibri" pitchFamily="34" charset="-120"/>
              </a:rPr>
              <a:t>Recalled text is fenced as data with explicit “the user’s live words win” framing.</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1064240" cy="685800"/>
          </a:xfrm>
          <a:prstGeom prst="rect">
            <a:avLst/>
          </a:prstGeom>
          <a:noFill/>
          <a:ln/>
        </p:spPr>
        <p:txBody>
          <a:bodyPr wrap="square" rtlCol="0" anchor="ctr"/>
          <a:lstStyle/>
          <a:p>
            <a:pPr indent="0" marL="0">
              <a:buNone/>
            </a:pPr>
            <a:r>
              <a:rPr lang="en-US" sz="3400" b="1" dirty="0">
                <a:solidFill>
                  <a:srgbClr val="1A1F36"/>
                </a:solidFill>
                <a:latin typeface="Cambria" pitchFamily="34" charset="0"/>
                <a:ea typeface="Cambria" pitchFamily="34" charset="-122"/>
                <a:cs typeface="Cambria" pitchFamily="34" charset="-120"/>
              </a:rPr>
              <a:t>Hardened for production</a:t>
            </a:r>
            <a:endParaRPr lang="en-US" sz="3400" dirty="0"/>
          </a:p>
        </p:txBody>
      </p:sp>
      <p:sp>
        <p:nvSpPr>
          <p:cNvPr id="3" name="Text 1"/>
          <p:cNvSpPr/>
          <p:nvPr/>
        </p:nvSpPr>
        <p:spPr>
          <a:xfrm>
            <a:off x="548640" y="1207008"/>
            <a:ext cx="11064240" cy="411480"/>
          </a:xfrm>
          <a:prstGeom prst="rect">
            <a:avLst/>
          </a:prstGeom>
          <a:noFill/>
          <a:ln/>
        </p:spPr>
        <p:txBody>
          <a:bodyPr wrap="square" rtlCol="0" anchor="ctr"/>
          <a:lstStyle/>
          <a:p>
            <a:pPr indent="0" marL="0">
              <a:buNone/>
            </a:pPr>
            <a:r>
              <a:rPr lang="en-US" sz="1600" dirty="0">
                <a:solidFill>
                  <a:srgbClr val="5A6478"/>
                </a:solidFill>
                <a:latin typeface="Calibri" pitchFamily="34" charset="0"/>
                <a:ea typeface="Calibri" pitchFamily="34" charset="-122"/>
                <a:cs typeface="Calibri" pitchFamily="34" charset="-120"/>
              </a:rPr>
              <a:t>Subomi's review feedback, implemented:</a:t>
            </a:r>
            <a:endParaRPr lang="en-US" sz="1600" dirty="0"/>
          </a:p>
        </p:txBody>
      </p:sp>
      <p:sp>
        <p:nvSpPr>
          <p:cNvPr id="4" name="Shape 2"/>
          <p:cNvSpPr/>
          <p:nvPr/>
        </p:nvSpPr>
        <p:spPr>
          <a:xfrm>
            <a:off x="548640" y="1874520"/>
            <a:ext cx="493776" cy="493776"/>
          </a:xfrm>
          <a:prstGeom prst="ellipse">
            <a:avLst/>
          </a:prstGeom>
          <a:solidFill>
            <a:srgbClr val="F2F5FB"/>
          </a:solidFill>
          <a:ln/>
        </p:spPr>
      </p:sp>
      <p:pic>
        <p:nvPicPr>
          <p:cNvPr id="5" name="Image 0" descr="preencoded.png">    </p:cNvPr>
          <p:cNvPicPr>
            <a:picLocks noChangeAspect="1"/>
          </p:cNvPicPr>
          <p:nvPr/>
        </p:nvPicPr>
        <p:blipFill>
          <a:blip r:embed="rId1"/>
          <a:stretch>
            <a:fillRect/>
          </a:stretch>
        </p:blipFill>
        <p:spPr>
          <a:xfrm>
            <a:off x="681960" y="2007840"/>
            <a:ext cx="227137" cy="227137"/>
          </a:xfrm>
          <a:prstGeom prst="rect">
            <a:avLst/>
          </a:prstGeom>
        </p:spPr>
      </p:pic>
      <p:sp>
        <p:nvSpPr>
          <p:cNvPr id="6" name="Text 3"/>
          <p:cNvSpPr/>
          <p:nvPr/>
        </p:nvSpPr>
        <p:spPr>
          <a:xfrm>
            <a:off x="1261872" y="1892808"/>
            <a:ext cx="4206240" cy="36576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Re-based onto current dev</a:t>
            </a:r>
            <a:endParaRPr lang="en-US" sz="1550" dirty="0"/>
          </a:p>
        </p:txBody>
      </p:sp>
      <p:sp>
        <p:nvSpPr>
          <p:cNvPr id="7" name="Text 4"/>
          <p:cNvSpPr/>
          <p:nvPr/>
        </p:nvSpPr>
        <p:spPr>
          <a:xfrm>
            <a:off x="5394960" y="1892808"/>
            <a:ext cx="621792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All memory work re-applied on the latest harness in a fresh branch.</a:t>
            </a:r>
            <a:endParaRPr lang="en-US" sz="1350" dirty="0"/>
          </a:p>
        </p:txBody>
      </p:sp>
      <p:sp>
        <p:nvSpPr>
          <p:cNvPr id="8" name="Shape 5"/>
          <p:cNvSpPr/>
          <p:nvPr/>
        </p:nvSpPr>
        <p:spPr>
          <a:xfrm>
            <a:off x="548640" y="2624328"/>
            <a:ext cx="493776" cy="493776"/>
          </a:xfrm>
          <a:prstGeom prst="ellipse">
            <a:avLst/>
          </a:prstGeom>
          <a:solidFill>
            <a:srgbClr val="F2F5FB"/>
          </a:solidFill>
          <a:ln/>
        </p:spPr>
      </p:sp>
      <p:pic>
        <p:nvPicPr>
          <p:cNvPr id="9" name="Image 1" descr="preencoded.png">    </p:cNvPr>
          <p:cNvPicPr>
            <a:picLocks noChangeAspect="1"/>
          </p:cNvPicPr>
          <p:nvPr/>
        </p:nvPicPr>
        <p:blipFill>
          <a:blip r:embed="rId2"/>
          <a:stretch>
            <a:fillRect/>
          </a:stretch>
        </p:blipFill>
        <p:spPr>
          <a:xfrm>
            <a:off x="681960" y="2757648"/>
            <a:ext cx="227137" cy="227137"/>
          </a:xfrm>
          <a:prstGeom prst="rect">
            <a:avLst/>
          </a:prstGeom>
        </p:spPr>
      </p:pic>
      <p:sp>
        <p:nvSpPr>
          <p:cNvPr id="10" name="Text 6"/>
          <p:cNvSpPr/>
          <p:nvPr/>
        </p:nvSpPr>
        <p:spPr>
          <a:xfrm>
            <a:off x="1261872" y="2642616"/>
            <a:ext cx="4206240" cy="36576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Real DB migrations</a:t>
            </a:r>
            <a:endParaRPr lang="en-US" sz="1550" dirty="0"/>
          </a:p>
        </p:txBody>
      </p:sp>
      <p:sp>
        <p:nvSpPr>
          <p:cNvPr id="11" name="Text 7"/>
          <p:cNvSpPr/>
          <p:nvPr/>
        </p:nvSpPr>
        <p:spPr>
          <a:xfrm>
            <a:off x="5394960" y="2642616"/>
            <a:ext cx="621792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Alembic with a reviewed full-schema baseline; dev DB verified drift-free.</a:t>
            </a:r>
            <a:endParaRPr lang="en-US" sz="1350" dirty="0"/>
          </a:p>
        </p:txBody>
      </p:sp>
      <p:sp>
        <p:nvSpPr>
          <p:cNvPr id="12" name="Shape 8"/>
          <p:cNvSpPr/>
          <p:nvPr/>
        </p:nvSpPr>
        <p:spPr>
          <a:xfrm>
            <a:off x="548640" y="3374136"/>
            <a:ext cx="493776" cy="493776"/>
          </a:xfrm>
          <a:prstGeom prst="ellipse">
            <a:avLst/>
          </a:prstGeom>
          <a:solidFill>
            <a:srgbClr val="F2F5FB"/>
          </a:solidFill>
          <a:ln/>
        </p:spPr>
      </p:sp>
      <p:pic>
        <p:nvPicPr>
          <p:cNvPr id="13" name="Image 2" descr="preencoded.png">    </p:cNvPr>
          <p:cNvPicPr>
            <a:picLocks noChangeAspect="1"/>
          </p:cNvPicPr>
          <p:nvPr/>
        </p:nvPicPr>
        <p:blipFill>
          <a:blip r:embed="rId3"/>
          <a:stretch>
            <a:fillRect/>
          </a:stretch>
        </p:blipFill>
        <p:spPr>
          <a:xfrm>
            <a:off x="681960" y="3507456"/>
            <a:ext cx="227137" cy="227137"/>
          </a:xfrm>
          <a:prstGeom prst="rect">
            <a:avLst/>
          </a:prstGeom>
        </p:spPr>
      </p:pic>
      <p:sp>
        <p:nvSpPr>
          <p:cNvPr id="14" name="Text 9"/>
          <p:cNvSpPr/>
          <p:nvPr/>
        </p:nvSpPr>
        <p:spPr>
          <a:xfrm>
            <a:off x="1261872" y="3392424"/>
            <a:ext cx="4206240" cy="36576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Harness-managed lifecycle</a:t>
            </a:r>
            <a:endParaRPr lang="en-US" sz="1550" dirty="0"/>
          </a:p>
        </p:txBody>
      </p:sp>
      <p:sp>
        <p:nvSpPr>
          <p:cNvPr id="15" name="Text 10"/>
          <p:cNvSpPr/>
          <p:nvPr/>
        </p:nvSpPr>
        <p:spPr>
          <a:xfrm>
            <a:off x="5394960" y="3392424"/>
            <a:ext cx="621792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Memory shares the app's DB engine, pool, and shutdown. No private engine.</a:t>
            </a:r>
            <a:endParaRPr lang="en-US" sz="1350" dirty="0"/>
          </a:p>
        </p:txBody>
      </p:sp>
      <p:sp>
        <p:nvSpPr>
          <p:cNvPr id="16" name="Shape 11"/>
          <p:cNvSpPr/>
          <p:nvPr/>
        </p:nvSpPr>
        <p:spPr>
          <a:xfrm>
            <a:off x="548640" y="4123944"/>
            <a:ext cx="493776" cy="493776"/>
          </a:xfrm>
          <a:prstGeom prst="ellipse">
            <a:avLst/>
          </a:prstGeom>
          <a:solidFill>
            <a:srgbClr val="F2F5FB"/>
          </a:solidFill>
          <a:ln/>
        </p:spPr>
      </p:sp>
      <p:pic>
        <p:nvPicPr>
          <p:cNvPr id="17" name="Image 3" descr="preencoded.png">    </p:cNvPr>
          <p:cNvPicPr>
            <a:picLocks noChangeAspect="1"/>
          </p:cNvPicPr>
          <p:nvPr/>
        </p:nvPicPr>
        <p:blipFill>
          <a:blip r:embed="rId4"/>
          <a:stretch>
            <a:fillRect/>
          </a:stretch>
        </p:blipFill>
        <p:spPr>
          <a:xfrm>
            <a:off x="681960" y="4257264"/>
            <a:ext cx="227137" cy="227137"/>
          </a:xfrm>
          <a:prstGeom prst="rect">
            <a:avLst/>
          </a:prstGeom>
        </p:spPr>
      </p:pic>
      <p:sp>
        <p:nvSpPr>
          <p:cNvPr id="18" name="Text 12"/>
          <p:cNvSpPr/>
          <p:nvPr/>
        </p:nvSpPr>
        <p:spPr>
          <a:xfrm>
            <a:off x="1261872" y="4142232"/>
            <a:ext cx="4206240" cy="36576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Validated identity</a:t>
            </a:r>
            <a:endParaRPr lang="en-US" sz="1550" dirty="0"/>
          </a:p>
        </p:txBody>
      </p:sp>
      <p:sp>
        <p:nvSpPr>
          <p:cNvPr id="19" name="Text 13"/>
          <p:cNvSpPr/>
          <p:nvPr/>
        </p:nvSpPr>
        <p:spPr>
          <a:xfrm>
            <a:off x="5394960" y="4142232"/>
            <a:ext cx="621792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User + tenant required everywhere memory operates. No default-tenant writes.</a:t>
            </a:r>
            <a:endParaRPr lang="en-US" sz="1350" dirty="0"/>
          </a:p>
        </p:txBody>
      </p:sp>
      <p:sp>
        <p:nvSpPr>
          <p:cNvPr id="20" name="Shape 14"/>
          <p:cNvSpPr/>
          <p:nvPr/>
        </p:nvSpPr>
        <p:spPr>
          <a:xfrm>
            <a:off x="548640" y="4873752"/>
            <a:ext cx="493776" cy="493776"/>
          </a:xfrm>
          <a:prstGeom prst="ellipse">
            <a:avLst/>
          </a:prstGeom>
          <a:solidFill>
            <a:srgbClr val="F2F5FB"/>
          </a:solidFill>
          <a:ln/>
        </p:spPr>
      </p:sp>
      <p:pic>
        <p:nvPicPr>
          <p:cNvPr id="21" name="Image 4" descr="preencoded.png">    </p:cNvPr>
          <p:cNvPicPr>
            <a:picLocks noChangeAspect="1"/>
          </p:cNvPicPr>
          <p:nvPr/>
        </p:nvPicPr>
        <p:blipFill>
          <a:blip r:embed="rId5"/>
          <a:stretch>
            <a:fillRect/>
          </a:stretch>
        </p:blipFill>
        <p:spPr>
          <a:xfrm>
            <a:off x="681960" y="5007072"/>
            <a:ext cx="227137" cy="227137"/>
          </a:xfrm>
          <a:prstGeom prst="rect">
            <a:avLst/>
          </a:prstGeom>
        </p:spPr>
      </p:pic>
      <p:sp>
        <p:nvSpPr>
          <p:cNvPr id="22" name="Text 15"/>
          <p:cNvSpPr/>
          <p:nvPr/>
        </p:nvSpPr>
        <p:spPr>
          <a:xfrm>
            <a:off x="1261872" y="4892040"/>
            <a:ext cx="4206240" cy="36576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Tested</a:t>
            </a:r>
            <a:endParaRPr lang="en-US" sz="1550" dirty="0"/>
          </a:p>
        </p:txBody>
      </p:sp>
      <p:sp>
        <p:nvSpPr>
          <p:cNvPr id="23" name="Text 16"/>
          <p:cNvSpPr/>
          <p:nvPr/>
        </p:nvSpPr>
        <p:spPr>
          <a:xfrm>
            <a:off x="5394960" y="4892040"/>
            <a:ext cx="621792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Ten new tests with the features, including the off-by-default guard.</a:t>
            </a:r>
            <a:endParaRPr lang="en-US" sz="1350" dirty="0"/>
          </a:p>
        </p:txBody>
      </p:sp>
      <p:sp>
        <p:nvSpPr>
          <p:cNvPr id="24" name="Shape 17"/>
          <p:cNvSpPr/>
          <p:nvPr/>
        </p:nvSpPr>
        <p:spPr>
          <a:xfrm>
            <a:off x="548640" y="5806440"/>
            <a:ext cx="11091672" cy="566928"/>
          </a:xfrm>
          <a:prstGeom prst="roundRect">
            <a:avLst>
              <a:gd name="adj" fmla="val 12903"/>
            </a:avLst>
          </a:prstGeom>
          <a:solidFill>
            <a:srgbClr val="E7F6F1"/>
          </a:solidFill>
          <a:ln/>
        </p:spPr>
      </p:sp>
      <p:sp>
        <p:nvSpPr>
          <p:cNvPr id="25" name="Text 18"/>
          <p:cNvSpPr/>
          <p:nvPr/>
        </p:nvSpPr>
        <p:spPr>
          <a:xfrm>
            <a:off x="777240" y="5870448"/>
            <a:ext cx="10607040" cy="438912"/>
          </a:xfrm>
          <a:prstGeom prst="rect">
            <a:avLst/>
          </a:prstGeom>
          <a:noFill/>
          <a:ln/>
        </p:spPr>
        <p:txBody>
          <a:bodyPr wrap="square" lIns="0" tIns="0" rIns="0" bIns="0" rtlCol="0" anchor="ctr"/>
          <a:lstStyle/>
          <a:p>
            <a:pPr indent="0" marL="0">
              <a:buNone/>
            </a:pPr>
            <a:r>
              <a:rPr lang="en-US" sz="1450" b="1" dirty="0">
                <a:solidFill>
                  <a:srgbClr val="1A1F36"/>
                </a:solidFill>
                <a:latin typeface="Calibri" pitchFamily="34" charset="0"/>
                <a:ea typeface="Calibri" pitchFamily="34" charset="-122"/>
                <a:cs typeface="Calibri" pitchFamily="34" charset="-120"/>
              </a:rPr>
              <a:t>Status:  </a:t>
            </a:r>
            <a:pPr indent="0" marL="0">
              <a:buNone/>
            </a:pPr>
            <a:r>
              <a:rPr lang="en-US" sz="1450" dirty="0">
                <a:solidFill>
                  <a:srgbClr val="1A1F36"/>
                </a:solidFill>
                <a:latin typeface="Calibri" pitchFamily="34" charset="0"/>
                <a:ea typeface="Calibri" pitchFamily="34" charset="-122"/>
                <a:cs typeface="Calibri" pitchFamily="34" charset="-120"/>
              </a:rPr>
              <a:t>the foundation merge request is in review now. The next wave is designed and queued.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1064240" cy="685800"/>
          </a:xfrm>
          <a:prstGeom prst="rect">
            <a:avLst/>
          </a:prstGeom>
          <a:noFill/>
          <a:ln/>
        </p:spPr>
        <p:txBody>
          <a:bodyPr wrap="square" rtlCol="0" anchor="ctr"/>
          <a:lstStyle/>
          <a:p>
            <a:pPr indent="0" marL="0">
              <a:buNone/>
            </a:pPr>
            <a:r>
              <a:rPr lang="en-US" sz="3400" b="1" dirty="0">
                <a:solidFill>
                  <a:srgbClr val="1A1F36"/>
                </a:solidFill>
                <a:latin typeface="Cambria" pitchFamily="34" charset="0"/>
                <a:ea typeface="Cambria" pitchFamily="34" charset="-122"/>
                <a:cs typeface="Cambria" pitchFamily="34" charset="-120"/>
              </a:rPr>
              <a:t>Live demo — what to watch</a:t>
            </a:r>
            <a:endParaRPr lang="en-US" sz="3400" dirty="0"/>
          </a:p>
        </p:txBody>
      </p:sp>
      <p:sp>
        <p:nvSpPr>
          <p:cNvPr id="3" name="Text 1"/>
          <p:cNvSpPr/>
          <p:nvPr/>
        </p:nvSpPr>
        <p:spPr>
          <a:xfrm>
            <a:off x="548640" y="1554480"/>
            <a:ext cx="457200" cy="50292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1</a:t>
            </a:r>
            <a:endParaRPr lang="en-US" sz="2400" dirty="0"/>
          </a:p>
        </p:txBody>
      </p:sp>
      <p:sp>
        <p:nvSpPr>
          <p:cNvPr id="4" name="Shape 2"/>
          <p:cNvSpPr/>
          <p:nvPr/>
        </p:nvSpPr>
        <p:spPr>
          <a:xfrm>
            <a:off x="1051560" y="1554480"/>
            <a:ext cx="475488" cy="475488"/>
          </a:xfrm>
          <a:prstGeom prst="ellipse">
            <a:avLst/>
          </a:prstGeom>
          <a:solidFill>
            <a:srgbClr val="F2F5FB"/>
          </a:solidFill>
          <a:ln/>
        </p:spPr>
      </p:sp>
      <p:pic>
        <p:nvPicPr>
          <p:cNvPr id="5" name="Image 0" descr="preencoded.png">    </p:cNvPr>
          <p:cNvPicPr>
            <a:picLocks noChangeAspect="1"/>
          </p:cNvPicPr>
          <p:nvPr/>
        </p:nvPicPr>
        <p:blipFill>
          <a:blip r:embed="rId1"/>
          <a:stretch>
            <a:fillRect/>
          </a:stretch>
        </p:blipFill>
        <p:spPr>
          <a:xfrm>
            <a:off x="1179942" y="1682862"/>
            <a:ext cx="218724" cy="218724"/>
          </a:xfrm>
          <a:prstGeom prst="rect">
            <a:avLst/>
          </a:prstGeom>
        </p:spPr>
      </p:pic>
      <p:sp>
        <p:nvSpPr>
          <p:cNvPr id="6" name="Text 3"/>
          <p:cNvSpPr/>
          <p:nvPr/>
        </p:nvSpPr>
        <p:spPr>
          <a:xfrm>
            <a:off x="1737360" y="1554480"/>
            <a:ext cx="2377440" cy="411480"/>
          </a:xfrm>
          <a:prstGeom prst="rect">
            <a:avLst/>
          </a:prstGeom>
          <a:noFill/>
          <a:ln/>
        </p:spPr>
        <p:txBody>
          <a:bodyPr wrap="square" lIns="0" tIns="0" rIns="0" bIns="0" rtlCol="0" anchor="ctr"/>
          <a:lstStyle/>
          <a:p>
            <a:pPr indent="0" marL="0">
              <a:buNone/>
            </a:pPr>
            <a:r>
              <a:rPr lang="en-US" sz="1600" b="1" dirty="0">
                <a:solidFill>
                  <a:srgbClr val="1A1F36"/>
                </a:solidFill>
                <a:latin typeface="Calibri" pitchFamily="34" charset="0"/>
                <a:ea typeface="Calibri" pitchFamily="34" charset="-122"/>
                <a:cs typeface="Calibri" pitchFamily="34" charset="-120"/>
              </a:rPr>
              <a:t>Teach it</a:t>
            </a:r>
            <a:endParaRPr lang="en-US" sz="1600" dirty="0"/>
          </a:p>
        </p:txBody>
      </p:sp>
      <p:sp>
        <p:nvSpPr>
          <p:cNvPr id="7" name="Text 4"/>
          <p:cNvSpPr/>
          <p:nvPr/>
        </p:nvSpPr>
        <p:spPr>
          <a:xfrm>
            <a:off x="4206240" y="1572768"/>
            <a:ext cx="740664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I state a few durable facts. Watch the save_memory tool call render in the transcript.</a:t>
            </a:r>
            <a:endParaRPr lang="en-US" sz="1350" dirty="0"/>
          </a:p>
        </p:txBody>
      </p:sp>
      <p:sp>
        <p:nvSpPr>
          <p:cNvPr id="8" name="Text 5"/>
          <p:cNvSpPr/>
          <p:nvPr/>
        </p:nvSpPr>
        <p:spPr>
          <a:xfrm>
            <a:off x="548640" y="2395728"/>
            <a:ext cx="457200" cy="50292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2</a:t>
            </a:r>
            <a:endParaRPr lang="en-US" sz="2400" dirty="0"/>
          </a:p>
        </p:txBody>
      </p:sp>
      <p:sp>
        <p:nvSpPr>
          <p:cNvPr id="9" name="Shape 6"/>
          <p:cNvSpPr/>
          <p:nvPr/>
        </p:nvSpPr>
        <p:spPr>
          <a:xfrm>
            <a:off x="1051560" y="2395728"/>
            <a:ext cx="475488" cy="475488"/>
          </a:xfrm>
          <a:prstGeom prst="ellipse">
            <a:avLst/>
          </a:prstGeom>
          <a:solidFill>
            <a:srgbClr val="F2F5FB"/>
          </a:solidFill>
          <a:ln/>
        </p:spPr>
      </p:sp>
      <p:pic>
        <p:nvPicPr>
          <p:cNvPr id="10" name="Image 1" descr="preencoded.png">    </p:cNvPr>
          <p:cNvPicPr>
            <a:picLocks noChangeAspect="1"/>
          </p:cNvPicPr>
          <p:nvPr/>
        </p:nvPicPr>
        <p:blipFill>
          <a:blip r:embed="rId2"/>
          <a:stretch>
            <a:fillRect/>
          </a:stretch>
        </p:blipFill>
        <p:spPr>
          <a:xfrm>
            <a:off x="1179942" y="2524110"/>
            <a:ext cx="218724" cy="218724"/>
          </a:xfrm>
          <a:prstGeom prst="rect">
            <a:avLst/>
          </a:prstGeom>
        </p:spPr>
      </p:pic>
      <p:sp>
        <p:nvSpPr>
          <p:cNvPr id="11" name="Text 7"/>
          <p:cNvSpPr/>
          <p:nvPr/>
        </p:nvSpPr>
        <p:spPr>
          <a:xfrm>
            <a:off x="1737360" y="2395728"/>
            <a:ext cx="2377440" cy="411480"/>
          </a:xfrm>
          <a:prstGeom prst="rect">
            <a:avLst/>
          </a:prstGeom>
          <a:noFill/>
          <a:ln/>
        </p:spPr>
        <p:txBody>
          <a:bodyPr wrap="square" lIns="0" tIns="0" rIns="0" bIns="0" rtlCol="0" anchor="ctr"/>
          <a:lstStyle/>
          <a:p>
            <a:pPr indent="0" marL="0">
              <a:buNone/>
            </a:pPr>
            <a:r>
              <a:rPr lang="en-US" sz="1600" b="1" dirty="0">
                <a:solidFill>
                  <a:srgbClr val="1A1F36"/>
                </a:solidFill>
                <a:latin typeface="Calibri" pitchFamily="34" charset="0"/>
                <a:ea typeface="Calibri" pitchFamily="34" charset="-122"/>
                <a:cs typeface="Calibri" pitchFamily="34" charset="-120"/>
              </a:rPr>
              <a:t>New thread</a:t>
            </a:r>
            <a:endParaRPr lang="en-US" sz="1600" dirty="0"/>
          </a:p>
        </p:txBody>
      </p:sp>
      <p:sp>
        <p:nvSpPr>
          <p:cNvPr id="12" name="Text 8"/>
          <p:cNvSpPr/>
          <p:nvPr/>
        </p:nvSpPr>
        <p:spPr>
          <a:xfrm>
            <a:off x="4206240" y="2414016"/>
            <a:ext cx="740664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“What do you remember about me?” — watch for 🧠 and the recital. Empty transcript, full recall.</a:t>
            </a:r>
            <a:endParaRPr lang="en-US" sz="1350" dirty="0"/>
          </a:p>
        </p:txBody>
      </p:sp>
      <p:sp>
        <p:nvSpPr>
          <p:cNvPr id="13" name="Text 9"/>
          <p:cNvSpPr/>
          <p:nvPr/>
        </p:nvSpPr>
        <p:spPr>
          <a:xfrm>
            <a:off x="548640" y="3236976"/>
            <a:ext cx="457200" cy="50292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3</a:t>
            </a:r>
            <a:endParaRPr lang="en-US" sz="2400" dirty="0"/>
          </a:p>
        </p:txBody>
      </p:sp>
      <p:sp>
        <p:nvSpPr>
          <p:cNvPr id="14" name="Shape 10"/>
          <p:cNvSpPr/>
          <p:nvPr/>
        </p:nvSpPr>
        <p:spPr>
          <a:xfrm>
            <a:off x="1051560" y="3236976"/>
            <a:ext cx="475488" cy="475488"/>
          </a:xfrm>
          <a:prstGeom prst="ellipse">
            <a:avLst/>
          </a:prstGeom>
          <a:solidFill>
            <a:srgbClr val="F2F5FB"/>
          </a:solidFill>
          <a:ln/>
        </p:spPr>
      </p:sp>
      <p:pic>
        <p:nvPicPr>
          <p:cNvPr id="15" name="Image 2" descr="preencoded.png">    </p:cNvPr>
          <p:cNvPicPr>
            <a:picLocks noChangeAspect="1"/>
          </p:cNvPicPr>
          <p:nvPr/>
        </p:nvPicPr>
        <p:blipFill>
          <a:blip r:embed="rId3"/>
          <a:stretch>
            <a:fillRect/>
          </a:stretch>
        </p:blipFill>
        <p:spPr>
          <a:xfrm>
            <a:off x="1179942" y="3365358"/>
            <a:ext cx="218724" cy="218724"/>
          </a:xfrm>
          <a:prstGeom prst="rect">
            <a:avLst/>
          </a:prstGeom>
        </p:spPr>
      </p:pic>
      <p:sp>
        <p:nvSpPr>
          <p:cNvPr id="16" name="Text 11"/>
          <p:cNvSpPr/>
          <p:nvPr/>
        </p:nvSpPr>
        <p:spPr>
          <a:xfrm>
            <a:off x="1737360" y="3236976"/>
            <a:ext cx="2377440" cy="411480"/>
          </a:xfrm>
          <a:prstGeom prst="rect">
            <a:avLst/>
          </a:prstGeom>
          <a:noFill/>
          <a:ln/>
        </p:spPr>
        <p:txBody>
          <a:bodyPr wrap="square" lIns="0" tIns="0" rIns="0" bIns="0" rtlCol="0" anchor="ctr"/>
          <a:lstStyle/>
          <a:p>
            <a:pPr indent="0" marL="0">
              <a:buNone/>
            </a:pPr>
            <a:r>
              <a:rPr lang="en-US" sz="1600" b="1" dirty="0">
                <a:solidFill>
                  <a:srgbClr val="1A1F36"/>
                </a:solidFill>
                <a:latin typeface="Calibri" pitchFamily="34" charset="0"/>
                <a:ea typeface="Calibri" pitchFamily="34" charset="-122"/>
                <a:cs typeface="Calibri" pitchFamily="34" charset="-120"/>
              </a:rPr>
              <a:t>Kill the backend</a:t>
            </a:r>
            <a:endParaRPr lang="en-US" sz="1600" dirty="0"/>
          </a:p>
        </p:txBody>
      </p:sp>
      <p:sp>
        <p:nvSpPr>
          <p:cNvPr id="17" name="Text 12"/>
          <p:cNvSpPr/>
          <p:nvPr/>
        </p:nvSpPr>
        <p:spPr>
          <a:xfrm>
            <a:off x="4206240" y="3255264"/>
            <a:ext cx="740664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Restart the server, ask again. It's Postgres rows, not process state.</a:t>
            </a:r>
            <a:endParaRPr lang="en-US" sz="1350" dirty="0"/>
          </a:p>
        </p:txBody>
      </p:sp>
      <p:sp>
        <p:nvSpPr>
          <p:cNvPr id="18" name="Text 13"/>
          <p:cNvSpPr/>
          <p:nvPr/>
        </p:nvSpPr>
        <p:spPr>
          <a:xfrm>
            <a:off x="548640" y="4078224"/>
            <a:ext cx="457200" cy="50292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4</a:t>
            </a:r>
            <a:endParaRPr lang="en-US" sz="2400" dirty="0"/>
          </a:p>
        </p:txBody>
      </p:sp>
      <p:sp>
        <p:nvSpPr>
          <p:cNvPr id="19" name="Shape 14"/>
          <p:cNvSpPr/>
          <p:nvPr/>
        </p:nvSpPr>
        <p:spPr>
          <a:xfrm>
            <a:off x="1051560" y="4078224"/>
            <a:ext cx="475488" cy="475488"/>
          </a:xfrm>
          <a:prstGeom prst="ellipse">
            <a:avLst/>
          </a:prstGeom>
          <a:solidFill>
            <a:srgbClr val="F2F5FB"/>
          </a:solidFill>
          <a:ln/>
        </p:spPr>
      </p:sp>
      <p:pic>
        <p:nvPicPr>
          <p:cNvPr id="20" name="Image 3" descr="preencoded.png">    </p:cNvPr>
          <p:cNvPicPr>
            <a:picLocks noChangeAspect="1"/>
          </p:cNvPicPr>
          <p:nvPr/>
        </p:nvPicPr>
        <p:blipFill>
          <a:blip r:embed="rId4"/>
          <a:stretch>
            <a:fillRect/>
          </a:stretch>
        </p:blipFill>
        <p:spPr>
          <a:xfrm>
            <a:off x="1179942" y="4206606"/>
            <a:ext cx="218724" cy="218724"/>
          </a:xfrm>
          <a:prstGeom prst="rect">
            <a:avLst/>
          </a:prstGeom>
        </p:spPr>
      </p:pic>
      <p:sp>
        <p:nvSpPr>
          <p:cNvPr id="21" name="Text 15"/>
          <p:cNvSpPr/>
          <p:nvPr/>
        </p:nvSpPr>
        <p:spPr>
          <a:xfrm>
            <a:off x="1737360" y="4078224"/>
            <a:ext cx="2377440" cy="411480"/>
          </a:xfrm>
          <a:prstGeom prst="rect">
            <a:avLst/>
          </a:prstGeom>
          <a:noFill/>
          <a:ln/>
        </p:spPr>
        <p:txBody>
          <a:bodyPr wrap="square" lIns="0" tIns="0" rIns="0" bIns="0" rtlCol="0" anchor="ctr"/>
          <a:lstStyle/>
          <a:p>
            <a:pPr indent="0" marL="0">
              <a:buNone/>
            </a:pPr>
            <a:r>
              <a:rPr lang="en-US" sz="1600" b="1" dirty="0">
                <a:solidFill>
                  <a:srgbClr val="1A1F36"/>
                </a:solidFill>
                <a:latin typeface="Calibri" pitchFamily="34" charset="0"/>
                <a:ea typeface="Calibri" pitchFamily="34" charset="-122"/>
                <a:cs typeface="Calibri" pitchFamily="34" charset="-120"/>
              </a:rPr>
              <a:t>Switch user</a:t>
            </a:r>
            <a:endParaRPr lang="en-US" sz="1600" dirty="0"/>
          </a:p>
        </p:txBody>
      </p:sp>
      <p:sp>
        <p:nvSpPr>
          <p:cNvPr id="22" name="Text 16"/>
          <p:cNvSpPr/>
          <p:nvPr/>
        </p:nvSpPr>
        <p:spPr>
          <a:xfrm>
            <a:off x="4206240" y="4096512"/>
            <a:ext cx="740664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Same agent, different user: it checked and found nothing. Isolation at the database.</a:t>
            </a:r>
            <a:endParaRPr lang="en-US" sz="1350" dirty="0"/>
          </a:p>
        </p:txBody>
      </p:sp>
      <p:sp>
        <p:nvSpPr>
          <p:cNvPr id="23" name="Text 17"/>
          <p:cNvSpPr/>
          <p:nvPr/>
        </p:nvSpPr>
        <p:spPr>
          <a:xfrm>
            <a:off x="548640" y="4919472"/>
            <a:ext cx="457200" cy="502920"/>
          </a:xfrm>
          <a:prstGeom prst="rect">
            <a:avLst/>
          </a:prstGeom>
          <a:noFill/>
          <a:ln/>
        </p:spPr>
        <p:txBody>
          <a:bodyPr wrap="square" lIns="0" tIns="0" rIns="0" bIns="0" rtlCol="0" anchor="ctr"/>
          <a:lstStyle/>
          <a:p>
            <a:pPr indent="0" marL="0">
              <a:buNone/>
            </a:pPr>
            <a:r>
              <a:rPr lang="en-US" sz="2400" b="1" dirty="0">
                <a:solidFill>
                  <a:srgbClr val="02C39A"/>
                </a:solidFill>
                <a:latin typeface="Cambria" pitchFamily="34" charset="0"/>
                <a:ea typeface="Cambria" pitchFamily="34" charset="-122"/>
                <a:cs typeface="Cambria" pitchFamily="34" charset="-120"/>
              </a:rPr>
              <a:t>5</a:t>
            </a:r>
            <a:endParaRPr lang="en-US" sz="2400" dirty="0"/>
          </a:p>
        </p:txBody>
      </p:sp>
      <p:sp>
        <p:nvSpPr>
          <p:cNvPr id="24" name="Shape 18"/>
          <p:cNvSpPr/>
          <p:nvPr/>
        </p:nvSpPr>
        <p:spPr>
          <a:xfrm>
            <a:off x="1051560" y="4919472"/>
            <a:ext cx="475488" cy="475488"/>
          </a:xfrm>
          <a:prstGeom prst="ellipse">
            <a:avLst/>
          </a:prstGeom>
          <a:solidFill>
            <a:srgbClr val="F2F5FB"/>
          </a:solidFill>
          <a:ln/>
        </p:spPr>
      </p:sp>
      <p:pic>
        <p:nvPicPr>
          <p:cNvPr id="25" name="Image 4" descr="preencoded.png">    </p:cNvPr>
          <p:cNvPicPr>
            <a:picLocks noChangeAspect="1"/>
          </p:cNvPicPr>
          <p:nvPr/>
        </p:nvPicPr>
        <p:blipFill>
          <a:blip r:embed="rId5"/>
          <a:stretch>
            <a:fillRect/>
          </a:stretch>
        </p:blipFill>
        <p:spPr>
          <a:xfrm>
            <a:off x="1179942" y="5047854"/>
            <a:ext cx="218724" cy="218724"/>
          </a:xfrm>
          <a:prstGeom prst="rect">
            <a:avLst/>
          </a:prstGeom>
        </p:spPr>
      </p:pic>
      <p:sp>
        <p:nvSpPr>
          <p:cNvPr id="26" name="Text 19"/>
          <p:cNvSpPr/>
          <p:nvPr/>
        </p:nvSpPr>
        <p:spPr>
          <a:xfrm>
            <a:off x="1737360" y="4919472"/>
            <a:ext cx="2377440" cy="411480"/>
          </a:xfrm>
          <a:prstGeom prst="rect">
            <a:avLst/>
          </a:prstGeom>
          <a:noFill/>
          <a:ln/>
        </p:spPr>
        <p:txBody>
          <a:bodyPr wrap="square" lIns="0" tIns="0" rIns="0" bIns="0" rtlCol="0" anchor="ctr"/>
          <a:lstStyle/>
          <a:p>
            <a:pPr indent="0" marL="0">
              <a:buNone/>
            </a:pPr>
            <a:r>
              <a:rPr lang="en-US" sz="1600" b="1" dirty="0">
                <a:solidFill>
                  <a:srgbClr val="1A1F36"/>
                </a:solidFill>
                <a:latin typeface="Calibri" pitchFamily="34" charset="0"/>
                <a:ea typeface="Calibri" pitchFamily="34" charset="-122"/>
                <a:cs typeface="Calibri" pitchFamily="34" charset="-120"/>
              </a:rPr>
              <a:t>Change my mind</a:t>
            </a:r>
            <a:endParaRPr lang="en-US" sz="1600" dirty="0"/>
          </a:p>
        </p:txBody>
      </p:sp>
      <p:sp>
        <p:nvSpPr>
          <p:cNvPr id="27" name="Text 20"/>
          <p:cNvSpPr/>
          <p:nvPr/>
        </p:nvSpPr>
        <p:spPr>
          <a:xfrm>
            <a:off x="4206240" y="4937760"/>
            <a:ext cx="7406640" cy="457200"/>
          </a:xfrm>
          <a:prstGeom prst="rect">
            <a:avLst/>
          </a:prstGeom>
          <a:noFill/>
          <a:ln/>
        </p:spPr>
        <p:txBody>
          <a:bodyPr wrap="square" lIns="0" tIns="0" rIns="0" bIns="0" rtlCol="0" anchor="ctr"/>
          <a:lstStyle/>
          <a:p>
            <a:pPr indent="0" marL="0">
              <a:buNone/>
            </a:pPr>
            <a:r>
              <a:rPr lang="en-US" sz="1350" dirty="0">
                <a:solidFill>
                  <a:srgbClr val="5A6478"/>
                </a:solidFill>
                <a:latin typeface="Calibri" pitchFamily="34" charset="0"/>
                <a:ea typeface="Calibri" pitchFamily="34" charset="-122"/>
                <a:cs typeface="Calibri" pitchFamily="34" charset="-120"/>
              </a:rPr>
              <a:t>“Five bullets now, not three.” Old fact retired with a pointer to its replacement.</a:t>
            </a:r>
            <a:endParaRPr lang="en-US" sz="1350" dirty="0"/>
          </a:p>
        </p:txBody>
      </p:sp>
      <p:sp>
        <p:nvSpPr>
          <p:cNvPr id="28" name="Text 21"/>
          <p:cNvSpPr/>
          <p:nvPr/>
        </p:nvSpPr>
        <p:spPr>
          <a:xfrm>
            <a:off x="548640" y="5943600"/>
            <a:ext cx="11064240" cy="41148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Everything you're about to see is the real system running on the dev pod — live database, no mocks.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502920"/>
            <a:ext cx="11064240" cy="685800"/>
          </a:xfrm>
          <a:prstGeom prst="rect">
            <a:avLst/>
          </a:prstGeom>
          <a:noFill/>
          <a:ln/>
        </p:spPr>
        <p:txBody>
          <a:bodyPr wrap="square" rtlCol="0" anchor="ctr"/>
          <a:lstStyle/>
          <a:p>
            <a:pPr indent="0" marL="0">
              <a:buNone/>
            </a:pPr>
            <a:r>
              <a:rPr lang="en-US" sz="3400" b="1" dirty="0">
                <a:solidFill>
                  <a:srgbClr val="1A1F36"/>
                </a:solidFill>
                <a:latin typeface="Cambria" pitchFamily="34" charset="0"/>
                <a:ea typeface="Cambria" pitchFamily="34" charset="-122"/>
                <a:cs typeface="Cambria" pitchFamily="34" charset="-120"/>
              </a:rPr>
              <a:t>What's next</a:t>
            </a:r>
            <a:endParaRPr lang="en-US" sz="3400" dirty="0"/>
          </a:p>
        </p:txBody>
      </p:sp>
      <p:sp>
        <p:nvSpPr>
          <p:cNvPr id="3" name="Shape 1"/>
          <p:cNvSpPr/>
          <p:nvPr/>
        </p:nvSpPr>
        <p:spPr>
          <a:xfrm>
            <a:off x="548640" y="1554480"/>
            <a:ext cx="493776" cy="493776"/>
          </a:xfrm>
          <a:prstGeom prst="ellipse">
            <a:avLst/>
          </a:prstGeom>
          <a:solidFill>
            <a:srgbClr val="F2F5FB"/>
          </a:solidFill>
          <a:ln/>
        </p:spPr>
      </p:sp>
      <p:pic>
        <p:nvPicPr>
          <p:cNvPr id="4" name="Image 0" descr="preencoded.png">    </p:cNvPr>
          <p:cNvPicPr>
            <a:picLocks noChangeAspect="1"/>
          </p:cNvPicPr>
          <p:nvPr/>
        </p:nvPicPr>
        <p:blipFill>
          <a:blip r:embed="rId1"/>
          <a:stretch>
            <a:fillRect/>
          </a:stretch>
        </p:blipFill>
        <p:spPr>
          <a:xfrm>
            <a:off x="681960" y="1687800"/>
            <a:ext cx="227137" cy="227137"/>
          </a:xfrm>
          <a:prstGeom prst="rect">
            <a:avLst/>
          </a:prstGeom>
        </p:spPr>
      </p:pic>
      <p:sp>
        <p:nvSpPr>
          <p:cNvPr id="5" name="Text 2"/>
          <p:cNvSpPr/>
          <p:nvPr/>
        </p:nvSpPr>
        <p:spPr>
          <a:xfrm>
            <a:off x="1280160" y="1527048"/>
            <a:ext cx="4846320" cy="41148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Memory out of the instruction channel</a:t>
            </a:r>
            <a:endParaRPr lang="en-US" sz="1550" dirty="0"/>
          </a:p>
        </p:txBody>
      </p:sp>
      <p:sp>
        <p:nvSpPr>
          <p:cNvPr id="6" name="Text 3"/>
          <p:cNvSpPr/>
          <p:nvPr/>
        </p:nvSpPr>
        <p:spPr>
          <a:xfrm>
            <a:off x="5623560" y="1545336"/>
            <a:ext cx="5989320" cy="502920"/>
          </a:xfrm>
          <a:prstGeom prst="rect">
            <a:avLst/>
          </a:prstGeom>
          <a:noFill/>
          <a:ln/>
        </p:spPr>
        <p:txBody>
          <a:bodyPr wrap="square" lIns="0" tIns="0" rIns="0" bIns="0" rtlCol="0" anchor="ctr"/>
          <a:lstStyle/>
          <a:p>
            <a:pPr indent="0" marL="0">
              <a:lnSpc>
                <a:spcPct val="105000"/>
              </a:lnSpc>
              <a:buNone/>
            </a:pPr>
            <a:r>
              <a:rPr lang="en-US" sz="1350" dirty="0">
                <a:solidFill>
                  <a:srgbClr val="5A6478"/>
                </a:solidFill>
                <a:latin typeface="Calibri" pitchFamily="34" charset="0"/>
                <a:ea typeface="Calibri" pitchFamily="34" charset="-122"/>
                <a:cs typeface="Calibri" pitchFamily="34" charset="-120"/>
              </a:rPr>
              <a:t>Recalled facts move to a dedicated input channel — stricter than most frameworks' defaults.</a:t>
            </a:r>
            <a:endParaRPr lang="en-US" sz="1350" dirty="0"/>
          </a:p>
        </p:txBody>
      </p:sp>
      <p:sp>
        <p:nvSpPr>
          <p:cNvPr id="7" name="Shape 4"/>
          <p:cNvSpPr/>
          <p:nvPr/>
        </p:nvSpPr>
        <p:spPr>
          <a:xfrm>
            <a:off x="548640" y="2423160"/>
            <a:ext cx="493776" cy="493776"/>
          </a:xfrm>
          <a:prstGeom prst="ellipse">
            <a:avLst/>
          </a:prstGeom>
          <a:solidFill>
            <a:srgbClr val="F2F5FB"/>
          </a:solidFill>
          <a:ln/>
        </p:spPr>
      </p:sp>
      <p:pic>
        <p:nvPicPr>
          <p:cNvPr id="8" name="Image 1" descr="preencoded.png">    </p:cNvPr>
          <p:cNvPicPr>
            <a:picLocks noChangeAspect="1"/>
          </p:cNvPicPr>
          <p:nvPr/>
        </p:nvPicPr>
        <p:blipFill>
          <a:blip r:embed="rId2"/>
          <a:stretch>
            <a:fillRect/>
          </a:stretch>
        </p:blipFill>
        <p:spPr>
          <a:xfrm>
            <a:off x="681960" y="2556480"/>
            <a:ext cx="227137" cy="227137"/>
          </a:xfrm>
          <a:prstGeom prst="rect">
            <a:avLst/>
          </a:prstGeom>
        </p:spPr>
      </p:pic>
      <p:sp>
        <p:nvSpPr>
          <p:cNvPr id="9" name="Text 5"/>
          <p:cNvSpPr/>
          <p:nvPr/>
        </p:nvSpPr>
        <p:spPr>
          <a:xfrm>
            <a:off x="1280160" y="2395728"/>
            <a:ext cx="4846320" cy="41148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Durable extraction</a:t>
            </a:r>
            <a:endParaRPr lang="en-US" sz="1550" dirty="0"/>
          </a:p>
        </p:txBody>
      </p:sp>
      <p:sp>
        <p:nvSpPr>
          <p:cNvPr id="10" name="Text 6"/>
          <p:cNvSpPr/>
          <p:nvPr/>
        </p:nvSpPr>
        <p:spPr>
          <a:xfrm>
            <a:off x="5623560" y="2414016"/>
            <a:ext cx="5989320" cy="502920"/>
          </a:xfrm>
          <a:prstGeom prst="rect">
            <a:avLst/>
          </a:prstGeom>
          <a:noFill/>
          <a:ln/>
        </p:spPr>
        <p:txBody>
          <a:bodyPr wrap="square" lIns="0" tIns="0" rIns="0" bIns="0" rtlCol="0" anchor="ctr"/>
          <a:lstStyle/>
          <a:p>
            <a:pPr indent="0" marL="0">
              <a:lnSpc>
                <a:spcPct val="105000"/>
              </a:lnSpc>
              <a:buNone/>
            </a:pPr>
            <a:r>
              <a:rPr lang="en-US" sz="1350" dirty="0">
                <a:solidFill>
                  <a:srgbClr val="5A6478"/>
                </a:solidFill>
                <a:latin typeface="Calibri" pitchFamily="34" charset="0"/>
                <a:ea typeface="Calibri" pitchFamily="34" charset="-122"/>
                <a:cs typeface="Calibri" pitchFamily="34" charset="-120"/>
              </a:rPr>
              <a:t>An outbox with retries: no memory lost even if the server dies mid-turn.</a:t>
            </a:r>
            <a:endParaRPr lang="en-US" sz="1350" dirty="0"/>
          </a:p>
        </p:txBody>
      </p:sp>
      <p:sp>
        <p:nvSpPr>
          <p:cNvPr id="11" name="Shape 7"/>
          <p:cNvSpPr/>
          <p:nvPr/>
        </p:nvSpPr>
        <p:spPr>
          <a:xfrm>
            <a:off x="548640" y="3291840"/>
            <a:ext cx="493776" cy="493776"/>
          </a:xfrm>
          <a:prstGeom prst="ellipse">
            <a:avLst/>
          </a:prstGeom>
          <a:solidFill>
            <a:srgbClr val="F2F5FB"/>
          </a:solidFill>
          <a:ln/>
        </p:spPr>
      </p:sp>
      <p:pic>
        <p:nvPicPr>
          <p:cNvPr id="12" name="Image 2" descr="preencoded.png">    </p:cNvPr>
          <p:cNvPicPr>
            <a:picLocks noChangeAspect="1"/>
          </p:cNvPicPr>
          <p:nvPr/>
        </p:nvPicPr>
        <p:blipFill>
          <a:blip r:embed="rId3"/>
          <a:stretch>
            <a:fillRect/>
          </a:stretch>
        </p:blipFill>
        <p:spPr>
          <a:xfrm>
            <a:off x="681960" y="3425160"/>
            <a:ext cx="227137" cy="227137"/>
          </a:xfrm>
          <a:prstGeom prst="rect">
            <a:avLst/>
          </a:prstGeom>
        </p:spPr>
      </p:pic>
      <p:sp>
        <p:nvSpPr>
          <p:cNvPr id="13" name="Text 8"/>
          <p:cNvSpPr/>
          <p:nvPr/>
        </p:nvSpPr>
        <p:spPr>
          <a:xfrm>
            <a:off x="1280160" y="3264408"/>
            <a:ext cx="4846320" cy="41148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Governed memory APIs</a:t>
            </a:r>
            <a:endParaRPr lang="en-US" sz="1550" dirty="0"/>
          </a:p>
        </p:txBody>
      </p:sp>
      <p:sp>
        <p:nvSpPr>
          <p:cNvPr id="14" name="Text 9"/>
          <p:cNvSpPr/>
          <p:nvPr/>
        </p:nvSpPr>
        <p:spPr>
          <a:xfrm>
            <a:off x="5623560" y="3282696"/>
            <a:ext cx="5989320" cy="502920"/>
          </a:xfrm>
          <a:prstGeom prst="rect">
            <a:avLst/>
          </a:prstGeom>
          <a:noFill/>
          <a:ln/>
        </p:spPr>
        <p:txBody>
          <a:bodyPr wrap="square" lIns="0" tIns="0" rIns="0" bIns="0" rtlCol="0" anchor="ctr"/>
          <a:lstStyle/>
          <a:p>
            <a:pPr indent="0" marL="0">
              <a:lnSpc>
                <a:spcPct val="105000"/>
              </a:lnSpc>
              <a:buNone/>
            </a:pPr>
            <a:r>
              <a:rPr lang="en-US" sz="1350" dirty="0">
                <a:solidFill>
                  <a:srgbClr val="5A6478"/>
                </a:solidFill>
                <a:latin typeface="Calibri" pitchFamily="34" charset="0"/>
                <a:ea typeface="Calibri" pitchFamily="34" charset="-122"/>
                <a:cs typeface="Calibri" pitchFamily="34" charset="-120"/>
              </a:rPr>
              <a:t>View, delete, forget, disable — with audit events and retention windows.</a:t>
            </a:r>
            <a:endParaRPr lang="en-US" sz="1350" dirty="0"/>
          </a:p>
        </p:txBody>
      </p:sp>
      <p:sp>
        <p:nvSpPr>
          <p:cNvPr id="15" name="Shape 10"/>
          <p:cNvSpPr/>
          <p:nvPr/>
        </p:nvSpPr>
        <p:spPr>
          <a:xfrm>
            <a:off x="548640" y="4160520"/>
            <a:ext cx="493776" cy="493776"/>
          </a:xfrm>
          <a:prstGeom prst="ellipse">
            <a:avLst/>
          </a:prstGeom>
          <a:solidFill>
            <a:srgbClr val="F2F5FB"/>
          </a:solidFill>
          <a:ln/>
        </p:spPr>
      </p:sp>
      <p:pic>
        <p:nvPicPr>
          <p:cNvPr id="16" name="Image 3" descr="preencoded.png">    </p:cNvPr>
          <p:cNvPicPr>
            <a:picLocks noChangeAspect="1"/>
          </p:cNvPicPr>
          <p:nvPr/>
        </p:nvPicPr>
        <p:blipFill>
          <a:blip r:embed="rId4"/>
          <a:stretch>
            <a:fillRect/>
          </a:stretch>
        </p:blipFill>
        <p:spPr>
          <a:xfrm>
            <a:off x="681960" y="4293840"/>
            <a:ext cx="227137" cy="227137"/>
          </a:xfrm>
          <a:prstGeom prst="rect">
            <a:avLst/>
          </a:prstGeom>
        </p:spPr>
      </p:pic>
      <p:sp>
        <p:nvSpPr>
          <p:cNvPr id="17" name="Text 11"/>
          <p:cNvSpPr/>
          <p:nvPr/>
        </p:nvSpPr>
        <p:spPr>
          <a:xfrm>
            <a:off x="1280160" y="4133088"/>
            <a:ext cx="4846320" cy="41148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Tenant plumbing in the console</a:t>
            </a:r>
            <a:endParaRPr lang="en-US" sz="1550" dirty="0"/>
          </a:p>
        </p:txBody>
      </p:sp>
      <p:sp>
        <p:nvSpPr>
          <p:cNvPr id="18" name="Text 12"/>
          <p:cNvSpPr/>
          <p:nvPr/>
        </p:nvSpPr>
        <p:spPr>
          <a:xfrm>
            <a:off x="5623560" y="4151376"/>
            <a:ext cx="5989320" cy="502920"/>
          </a:xfrm>
          <a:prstGeom prst="rect">
            <a:avLst/>
          </a:prstGeom>
          <a:noFill/>
          <a:ln/>
        </p:spPr>
        <p:txBody>
          <a:bodyPr wrap="square" lIns="0" tIns="0" rIns="0" bIns="0" rtlCol="0" anchor="ctr"/>
          <a:lstStyle/>
          <a:p>
            <a:pPr indent="0" marL="0">
              <a:lnSpc>
                <a:spcPct val="105000"/>
              </a:lnSpc>
              <a:buNone/>
            </a:pPr>
            <a:r>
              <a:rPr lang="en-US" sz="1350" dirty="0">
                <a:solidFill>
                  <a:srgbClr val="5A6478"/>
                </a:solidFill>
                <a:latin typeface="Calibri" pitchFamily="34" charset="0"/>
                <a:ea typeface="Calibri" pitchFamily="34" charset="-122"/>
                <a:cs typeface="Calibri" pitchFamily="34" charset="-120"/>
              </a:rPr>
              <a:t>End-to-end memory in the UI under real identity.</a:t>
            </a:r>
            <a:endParaRPr lang="en-US" sz="1350" dirty="0"/>
          </a:p>
        </p:txBody>
      </p:sp>
      <p:sp>
        <p:nvSpPr>
          <p:cNvPr id="19" name="Shape 13"/>
          <p:cNvSpPr/>
          <p:nvPr/>
        </p:nvSpPr>
        <p:spPr>
          <a:xfrm>
            <a:off x="548640" y="5029200"/>
            <a:ext cx="493776" cy="493776"/>
          </a:xfrm>
          <a:prstGeom prst="ellipse">
            <a:avLst/>
          </a:prstGeom>
          <a:solidFill>
            <a:srgbClr val="F2F5FB"/>
          </a:solidFill>
          <a:ln/>
        </p:spPr>
      </p:sp>
      <p:pic>
        <p:nvPicPr>
          <p:cNvPr id="20" name="Image 4" descr="preencoded.png">    </p:cNvPr>
          <p:cNvPicPr>
            <a:picLocks noChangeAspect="1"/>
          </p:cNvPicPr>
          <p:nvPr/>
        </p:nvPicPr>
        <p:blipFill>
          <a:blip r:embed="rId5"/>
          <a:stretch>
            <a:fillRect/>
          </a:stretch>
        </p:blipFill>
        <p:spPr>
          <a:xfrm>
            <a:off x="681960" y="5162520"/>
            <a:ext cx="227137" cy="227137"/>
          </a:xfrm>
          <a:prstGeom prst="rect">
            <a:avLst/>
          </a:prstGeom>
        </p:spPr>
      </p:pic>
      <p:sp>
        <p:nvSpPr>
          <p:cNvPr id="21" name="Text 14"/>
          <p:cNvSpPr/>
          <p:nvPr/>
        </p:nvSpPr>
        <p:spPr>
          <a:xfrm>
            <a:off x="1280160" y="5001768"/>
            <a:ext cx="4846320" cy="411480"/>
          </a:xfrm>
          <a:prstGeom prst="rect">
            <a:avLst/>
          </a:prstGeom>
          <a:noFill/>
          <a:ln/>
        </p:spPr>
        <p:txBody>
          <a:bodyPr wrap="square" lIns="0" tIns="0" rIns="0" bIns="0" rtlCol="0" anchor="ctr"/>
          <a:lstStyle/>
          <a:p>
            <a:pPr indent="0" marL="0">
              <a:buNone/>
            </a:pPr>
            <a:r>
              <a:rPr lang="en-US" sz="1550" b="1" dirty="0">
                <a:solidFill>
                  <a:srgbClr val="1A1F36"/>
                </a:solidFill>
                <a:latin typeface="Calibri" pitchFamily="34" charset="0"/>
                <a:ea typeface="Calibri" pitchFamily="34" charset="-122"/>
                <a:cs typeface="Calibri" pitchFamily="34" charset="-120"/>
              </a:rPr>
              <a:t>Then: living user profiles</a:t>
            </a:r>
            <a:endParaRPr lang="en-US" sz="1550" dirty="0"/>
          </a:p>
        </p:txBody>
      </p:sp>
      <p:sp>
        <p:nvSpPr>
          <p:cNvPr id="22" name="Text 15"/>
          <p:cNvSpPr/>
          <p:nvPr/>
        </p:nvSpPr>
        <p:spPr>
          <a:xfrm>
            <a:off x="5623560" y="5020056"/>
            <a:ext cx="5989320" cy="502920"/>
          </a:xfrm>
          <a:prstGeom prst="rect">
            <a:avLst/>
          </a:prstGeom>
          <a:noFill/>
          <a:ln/>
        </p:spPr>
        <p:txBody>
          <a:bodyPr wrap="square" lIns="0" tIns="0" rIns="0" bIns="0" rtlCol="0" anchor="ctr"/>
          <a:lstStyle/>
          <a:p>
            <a:pPr indent="0" marL="0">
              <a:lnSpc>
                <a:spcPct val="105000"/>
              </a:lnSpc>
              <a:buNone/>
            </a:pPr>
            <a:r>
              <a:rPr lang="en-US" sz="1350" dirty="0">
                <a:solidFill>
                  <a:srgbClr val="5A6478"/>
                </a:solidFill>
                <a:latin typeface="Calibri" pitchFamily="34" charset="0"/>
                <a:ea typeface="Calibri" pitchFamily="34" charset="-122"/>
                <a:cs typeface="Calibri" pitchFamily="34" charset="-120"/>
              </a:rPr>
              <a:t>Consolidating memories into a curated per-user summary — where the industry is heading.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2103120"/>
            <a:ext cx="7772400" cy="1188720"/>
          </a:xfrm>
          <a:prstGeom prst="rect">
            <a:avLst/>
          </a:prstGeom>
          <a:noFill/>
          <a:ln/>
        </p:spPr>
        <p:txBody>
          <a:bodyPr wrap="square"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Questions</a:t>
            </a:r>
            <a:endParaRPr lang="en-US" sz="5200" dirty="0"/>
          </a:p>
        </p:txBody>
      </p:sp>
      <p:sp>
        <p:nvSpPr>
          <p:cNvPr id="3" name="Text 1"/>
          <p:cNvSpPr/>
          <p:nvPr/>
        </p:nvSpPr>
        <p:spPr>
          <a:xfrm>
            <a:off x="548640" y="3383280"/>
            <a:ext cx="7498080" cy="1005840"/>
          </a:xfrm>
          <a:prstGeom prst="rect">
            <a:avLst/>
          </a:prstGeom>
          <a:noFill/>
          <a:ln/>
        </p:spPr>
        <p:txBody>
          <a:bodyPr wrap="square" rtlCol="0" anchor="ctr"/>
          <a:lstStyle/>
          <a:p>
            <a:pPr indent="0" marL="0">
              <a:lnSpc>
                <a:spcPct val="120000"/>
              </a:lnSpc>
              <a:buNone/>
            </a:pPr>
            <a:r>
              <a:rPr lang="en-US" sz="1500" dirty="0">
                <a:solidFill>
                  <a:srgbClr val="CADCFC"/>
                </a:solidFill>
                <a:latin typeface="Calibri" pitchFamily="34" charset="0"/>
                <a:ea typeface="Calibri" pitchFamily="34" charset="-122"/>
                <a:cs typeface="Calibri" pitchFamily="34" charset="-120"/>
              </a:rPr>
              <a:t>Deep dives available: the showcase doc, the technical deep-dive, and the industry survey (how ChatGPT, Claude, Gemini, Letta, mem0 and Zep do memory — and what we adopted).</a:t>
            </a:r>
            <a:endParaRPr lang="en-US" sz="1500" dirty="0"/>
          </a:p>
        </p:txBody>
      </p:sp>
      <p:sp>
        <p:nvSpPr>
          <p:cNvPr id="4" name="Shape 2"/>
          <p:cNvSpPr/>
          <p:nvPr/>
        </p:nvSpPr>
        <p:spPr>
          <a:xfrm>
            <a:off x="9144000" y="2011680"/>
            <a:ext cx="2377440" cy="2377440"/>
          </a:xfrm>
          <a:prstGeom prst="ellipse">
            <a:avLst/>
          </a:prstGeom>
          <a:solidFill>
            <a:srgbClr val="2A3575"/>
          </a:solidFill>
          <a:ln/>
        </p:spPr>
      </p:sp>
      <p:pic>
        <p:nvPicPr>
          <p:cNvPr id="5" name="Image 0" descr="preencoded.png">    </p:cNvPr>
          <p:cNvPicPr>
            <a:picLocks noChangeAspect="1"/>
          </p:cNvPicPr>
          <p:nvPr/>
        </p:nvPicPr>
        <p:blipFill>
          <a:blip r:embed="rId1"/>
          <a:stretch>
            <a:fillRect/>
          </a:stretch>
        </p:blipFill>
        <p:spPr>
          <a:xfrm>
            <a:off x="9784080" y="2651760"/>
            <a:ext cx="1097280" cy="1097280"/>
          </a:xfrm>
          <a:prstGeom prst="rect">
            <a:avLst/>
          </a:prstGeom>
        </p:spPr>
      </p:pic>
      <p:sp>
        <p:nvSpPr>
          <p:cNvPr id="6" name="Text 3"/>
          <p:cNvSpPr/>
          <p:nvPr/>
        </p:nvSpPr>
        <p:spPr>
          <a:xfrm>
            <a:off x="548640" y="5943600"/>
            <a:ext cx="7315200" cy="411480"/>
          </a:xfrm>
          <a:prstGeom prst="rect">
            <a:avLst/>
          </a:prstGeom>
          <a:noFill/>
          <a:ln/>
        </p:spPr>
        <p:txBody>
          <a:bodyPr wrap="square" rtlCol="0" anchor="ctr"/>
          <a:lstStyle/>
          <a:p>
            <a:pPr indent="0" marL="0">
              <a:buNone/>
            </a:pPr>
            <a:r>
              <a:rPr lang="en-US" sz="1400" i="1" dirty="0">
                <a:solidFill>
                  <a:srgbClr val="02C39A"/>
                </a:solidFill>
                <a:latin typeface="Calibri" pitchFamily="34" charset="0"/>
                <a:ea typeface="Calibri" pitchFamily="34" charset="-122"/>
                <a:cs typeface="Calibri" pitchFamily="34" charset="-120"/>
              </a:rPr>
              <a:t>Built on the harness. In review for the harness.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Memory for DIGIT — team demo</dc:title>
  <dc:subject>PptxGenJS Presentation</dc:subject>
  <dc:creator>Anshuman Pandey</dc:creator>
  <cp:lastModifiedBy>Anshuman Pandey</cp:lastModifiedBy>
  <cp:revision>1</cp:revision>
  <dcterms:created xsi:type="dcterms:W3CDTF">2026-07-22T15:47:39Z</dcterms:created>
  <dcterms:modified xsi:type="dcterms:W3CDTF">2026-07-22T15:47:39Z</dcterms:modified>
</cp:coreProperties>
</file>