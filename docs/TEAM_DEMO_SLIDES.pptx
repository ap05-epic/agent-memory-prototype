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agents that improve with use. Six slides — why, what, the architecture (two diagrams), the data model and safety, the live demo, questions. About 15 minutes including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problem — stateless agents, users repeat themselves. Right: what it is, and the composite key that scopes every row: profile times user times tenant, enforced in the database, not just in application code. Next slide is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a caller sends profile/user/tenant on the turn request. The harness API — FastAPI, TurnService, the SDK runner — is where our three insertion points live. The memory package is five files sharing the harness's own Postgres and side-calling Azure OpenAI for embeddings and small-model decisions. Two review wins baked in: memory now shares the harness's DB connection pool instead of its own engine, and the schema is versioned with Alembic with a reviewed, verified baseline. Right: recall ranks by relevance and recency; the result is added to context — today via instructions, moving to a dedicated input item next, since instructions should be the authority channel, not user data. The model responds with the recall indicator. Either an explicit save_memory call or a background extraction pass can write, and both funnel through one write gate — dedup, similarity, then a small model adjudicates real contradictions — before landing in Postgres as a new row or a supersede. This reflects the architecture in the merge request under review; the live demo runs on our stable pre-review build for reliability.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one append-only table, scoped by agent/user/tenant, with a pgvector column for semantic recall. The three-box chain is the point — a contradiction never overwrites, it retires the old row and points to the new one. The blend formula underneath is real and calibrated: a live contradiction measured cosine similarity of 0.309, well below literature-standard thresholds, which is why the floor is tuned from our own telemetry. Right: this is a bank, so safety is the design — off by default with a guard test, fail-closed identity, a denylist at write time, content-free logs, everything soft-deletable with 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seconds on the beats so the room knows what to watch, then switch to the console and run them — beat 2 is the money shot. After the demo: since Subomi's formal review, the foundation items are done with receipts, the merge request is in review right now, and the second wave — the architecture slide's step 2 change, durable extraction, governance APIs, console tenants — is designed and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floor. Predicted Q&amp;A is in the walkthrough doc: isn't this chat history; deletion and privacy; cost per turn; can my agent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UBS  ·  DIGIT AGENT HARNESS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that remember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Persistent, per-user memory for DIGIT agents — the architecture, the safeguards, and a live demo.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6035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Anshuman Pandey  ·  AI Engineering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686800" y="1874520"/>
            <a:ext cx="2834640" cy="2834640"/>
          </a:xfrm>
          <a:prstGeom prst="ellipse">
            <a:avLst/>
          </a:prstGeom>
          <a:solidFill>
            <a:srgbClr val="1E1E1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2606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zero memory to compounding value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" y="1860804"/>
            <a:ext cx="210312" cy="2103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17373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re-type preferences and context every single thread.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" y="2775204"/>
            <a:ext cx="210312" cy="2103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07008" y="26517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memory dies with the thread; a restart wipes even that.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3566160"/>
            <a:ext cx="457200" cy="457200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" y="3689604"/>
            <a:ext cx="210312" cy="21031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07008" y="35661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of usage teach an agent nothing about its users.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48640" y="4617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goal: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more someone uses a DIGIT agent, the better it works for them — automatically.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6309360" y="1325880"/>
            <a:ext cx="5330952" cy="4892040"/>
          </a:xfrm>
          <a:prstGeom prst="roundRect">
            <a:avLst>
              <a:gd name="adj" fmla="val 1869"/>
            </a:avLst>
          </a:prstGeom>
          <a:solidFill>
            <a:srgbClr val="F4F4F4"/>
          </a:solidFill>
          <a:ln/>
        </p:spPr>
      </p:sp>
      <p:sp>
        <p:nvSpPr>
          <p:cNvPr id="15" name="Text 10"/>
          <p:cNvSpPr/>
          <p:nvPr/>
        </p:nvSpPr>
        <p:spPr>
          <a:xfrm>
            <a:off x="6675120" y="1572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BUILT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675120" y="1938528"/>
            <a:ext cx="4617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facts about each user — preferences, corrections, working context — remembered across threads and backend restarts, inside the harness runtime.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675120" y="3017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profile_id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user_id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one memory scope, enforced at the database.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675120" y="397764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3875" y="4076395"/>
            <a:ext cx="168250" cy="16825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397764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by default — one profile flag enables it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675120" y="452628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3875" y="4625035"/>
            <a:ext cx="168250" cy="16825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178040" y="452628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in the Azure Postgres we already run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6675120" y="507492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3875" y="5173675"/>
            <a:ext cx="168250" cy="16825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78040" y="50749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recall via pgvector — no new services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— wired in, step by step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Left: where memory lives in the stack. Right: what happens during one turn.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09360" y="1298448"/>
            <a:ext cx="5330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TURN, STEP BY STEP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5394960" cy="457200"/>
          </a:xfrm>
          <a:prstGeom prst="roundRect">
            <a:avLst>
              <a:gd name="adj" fmla="val 14000"/>
            </a:avLst>
          </a:prstGeom>
          <a:solidFill>
            <a:srgbClr val="F4F4F4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68249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329" y="1776313"/>
            <a:ext cx="159837" cy="15983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1682496"/>
            <a:ext cx="4672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Console / API callers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43000" y="1865376"/>
            <a:ext cx="467258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profile_id · user · tenant_id in the turn request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3118104" y="2084832"/>
            <a:ext cx="256032" cy="146304"/>
          </a:xfrm>
          <a:prstGeom prst="downArrow">
            <a:avLst/>
          </a:prstGeom>
          <a:solidFill>
            <a:srgbClr val="EC0016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2231136"/>
            <a:ext cx="5394960" cy="685800"/>
          </a:xfrm>
          <a:prstGeom prst="roundRect">
            <a:avLst>
              <a:gd name="adj" fmla="val 9333"/>
            </a:avLst>
          </a:prstGeom>
          <a:solidFill>
            <a:srgbClr val="0F0F0F"/>
          </a:solidFill>
          <a:ln/>
        </p:spPr>
      </p:sp>
      <p:sp>
        <p:nvSpPr>
          <p:cNvPr id="13" name="Shape 10"/>
          <p:cNvSpPr/>
          <p:nvPr/>
        </p:nvSpPr>
        <p:spPr>
          <a:xfrm>
            <a:off x="667512" y="2382012"/>
            <a:ext cx="384048" cy="384048"/>
          </a:xfrm>
          <a:prstGeom prst="ellipse">
            <a:avLst/>
          </a:prstGeom>
          <a:solidFill>
            <a:srgbClr val="1E1E1E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05" y="2485705"/>
            <a:ext cx="176662" cy="17666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79576" y="2286000"/>
            <a:ext cx="46360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 Harness API — FastAPI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179576" y="2560320"/>
            <a:ext cx="4636008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ToolRegistry · TurnService · SDK Runner (sdk_runner.py)</a:t>
            </a:r>
            <a:endParaRPr lang="en-US" sz="970" dirty="0"/>
          </a:p>
        </p:txBody>
      </p:sp>
      <p:sp>
        <p:nvSpPr>
          <p:cNvPr id="17" name="Shape 13"/>
          <p:cNvSpPr/>
          <p:nvPr/>
        </p:nvSpPr>
        <p:spPr>
          <a:xfrm>
            <a:off x="3118104" y="2916936"/>
            <a:ext cx="256032" cy="146304"/>
          </a:xfrm>
          <a:prstGeom prst="downArrow">
            <a:avLst/>
          </a:prstGeom>
          <a:solidFill>
            <a:srgbClr val="EC0016"/>
          </a:solidFill>
          <a:ln/>
        </p:spPr>
      </p:sp>
      <p:sp>
        <p:nvSpPr>
          <p:cNvPr id="18" name="Shape 14"/>
          <p:cNvSpPr/>
          <p:nvPr/>
        </p:nvSpPr>
        <p:spPr>
          <a:xfrm>
            <a:off x="548640" y="3063240"/>
            <a:ext cx="5394960" cy="777240"/>
          </a:xfrm>
          <a:prstGeom prst="roundRect">
            <a:avLst>
              <a:gd name="adj" fmla="val 8235"/>
            </a:avLst>
          </a:prstGeom>
          <a:solidFill>
            <a:srgbClr val="F4F4F4"/>
          </a:solidFill>
          <a:ln/>
        </p:spPr>
      </p:sp>
      <p:sp>
        <p:nvSpPr>
          <p:cNvPr id="19" name="Shape 15"/>
          <p:cNvSpPr/>
          <p:nvPr/>
        </p:nvSpPr>
        <p:spPr>
          <a:xfrm>
            <a:off x="667512" y="325983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205" y="3363529"/>
            <a:ext cx="176662" cy="17666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179576" y="3118104"/>
            <a:ext cx="4636008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Memory Package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179576" y="3429000"/>
            <a:ext cx="4636008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· store · semantic · extraction · tool  +  Azure OpenAI calls (embeddings, decisions)</a:t>
            </a:r>
            <a:endParaRPr lang="en-US" sz="970" dirty="0"/>
          </a:p>
        </p:txBody>
      </p:sp>
      <p:sp>
        <p:nvSpPr>
          <p:cNvPr id="23" name="Shape 18"/>
          <p:cNvSpPr/>
          <p:nvPr/>
        </p:nvSpPr>
        <p:spPr>
          <a:xfrm>
            <a:off x="3118104" y="3840480"/>
            <a:ext cx="256032" cy="146304"/>
          </a:xfrm>
          <a:prstGeom prst="downArrow">
            <a:avLst/>
          </a:prstGeom>
          <a:solidFill>
            <a:srgbClr val="EC0016"/>
          </a:solidFill>
          <a:ln/>
        </p:spPr>
      </p:sp>
      <p:sp>
        <p:nvSpPr>
          <p:cNvPr id="24" name="Shape 19"/>
          <p:cNvSpPr/>
          <p:nvPr/>
        </p:nvSpPr>
        <p:spPr>
          <a:xfrm>
            <a:off x="548640" y="3986784"/>
            <a:ext cx="5394960" cy="548640"/>
          </a:xfrm>
          <a:prstGeom prst="roundRect">
            <a:avLst>
              <a:gd name="adj" fmla="val 11667"/>
            </a:avLst>
          </a:prstGeom>
          <a:solidFill>
            <a:srgbClr val="0F0F0F"/>
          </a:solidFill>
          <a:ln/>
        </p:spPr>
      </p:sp>
      <p:sp>
        <p:nvSpPr>
          <p:cNvPr id="25" name="Shape 20"/>
          <p:cNvSpPr/>
          <p:nvPr/>
        </p:nvSpPr>
        <p:spPr>
          <a:xfrm>
            <a:off x="667512" y="4069080"/>
            <a:ext cx="384048" cy="384048"/>
          </a:xfrm>
          <a:prstGeom prst="ellipse">
            <a:avLst/>
          </a:prstGeom>
          <a:solidFill>
            <a:srgbClr val="1E1E1E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205" y="4172773"/>
            <a:ext cx="176662" cy="17666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179576" y="4041648"/>
            <a:ext cx="4636008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Postgres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1179576" y="4261104"/>
            <a:ext cx="46360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agent_memory_entries (pgvector) · agent_memory_user_models</a:t>
            </a:r>
            <a:endParaRPr lang="en-US" sz="970" dirty="0"/>
          </a:p>
        </p:txBody>
      </p:sp>
      <p:sp>
        <p:nvSpPr>
          <p:cNvPr id="29" name="Text 23"/>
          <p:cNvSpPr/>
          <p:nvPr/>
        </p:nvSpPr>
        <p:spPr>
          <a:xfrm>
            <a:off x="548640" y="4700016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DB connection pool — no private engine. Schema versioned with Alembic — reviewed baseline, verified drift-free.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6309360" y="1627632"/>
            <a:ext cx="5330952" cy="457200"/>
          </a:xfrm>
          <a:prstGeom prst="roundRect">
            <a:avLst>
              <a:gd name="adj" fmla="val 14000"/>
            </a:avLst>
          </a:prstGeom>
          <a:solidFill>
            <a:srgbClr val="F4F4F4"/>
          </a:solidFill>
          <a:ln/>
        </p:spPr>
      </p:sp>
      <p:sp>
        <p:nvSpPr>
          <p:cNvPr id="31" name="Shape 25"/>
          <p:cNvSpPr/>
          <p:nvPr/>
        </p:nvSpPr>
        <p:spPr>
          <a:xfrm>
            <a:off x="6428232" y="168249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2049" y="1776313"/>
            <a:ext cx="159837" cy="159837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6903720" y="1682496"/>
            <a:ext cx="46085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Recall runs</a:t>
            </a:r>
            <a:endParaRPr lang="en-US" sz="1250" dirty="0"/>
          </a:p>
        </p:txBody>
      </p:sp>
      <p:sp>
        <p:nvSpPr>
          <p:cNvPr id="34" name="Text 27"/>
          <p:cNvSpPr/>
          <p:nvPr/>
        </p:nvSpPr>
        <p:spPr>
          <a:xfrm>
            <a:off x="6903720" y="1865376"/>
            <a:ext cx="4608576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by relevance + recency, this scope only</a:t>
            </a:r>
            <a:endParaRPr lang="en-US" sz="970" dirty="0"/>
          </a:p>
        </p:txBody>
      </p:sp>
      <p:sp>
        <p:nvSpPr>
          <p:cNvPr id="35" name="Shape 28"/>
          <p:cNvSpPr/>
          <p:nvPr/>
        </p:nvSpPr>
        <p:spPr>
          <a:xfrm>
            <a:off x="8846820" y="2084832"/>
            <a:ext cx="256032" cy="146304"/>
          </a:xfrm>
          <a:prstGeom prst="downArrow">
            <a:avLst/>
          </a:prstGeom>
          <a:solidFill>
            <a:srgbClr val="EC0016"/>
          </a:solidFill>
          <a:ln/>
        </p:spPr>
      </p:sp>
      <p:sp>
        <p:nvSpPr>
          <p:cNvPr id="36" name="Shape 29"/>
          <p:cNvSpPr/>
          <p:nvPr/>
        </p:nvSpPr>
        <p:spPr>
          <a:xfrm>
            <a:off x="6309360" y="2231136"/>
            <a:ext cx="5330952" cy="594360"/>
          </a:xfrm>
          <a:prstGeom prst="roundRect">
            <a:avLst>
              <a:gd name="adj" fmla="val 10769"/>
            </a:avLst>
          </a:prstGeom>
          <a:solidFill>
            <a:srgbClr val="F4F4F4"/>
          </a:solidFill>
          <a:ln/>
        </p:spPr>
      </p:sp>
      <p:sp>
        <p:nvSpPr>
          <p:cNvPr id="37" name="Shape 30"/>
          <p:cNvSpPr/>
          <p:nvPr/>
        </p:nvSpPr>
        <p:spPr>
          <a:xfrm>
            <a:off x="6428232" y="2336292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1925" y="2439985"/>
            <a:ext cx="176662" cy="176662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6940296" y="2286000"/>
            <a:ext cx="4572000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Added to context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6940296" y="2523744"/>
            <a:ext cx="4572000" cy="326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Fenced as data — today in instructions, moving to a dedicated input item</a:t>
            </a:r>
            <a:endParaRPr lang="en-US" sz="970" dirty="0"/>
          </a:p>
        </p:txBody>
      </p:sp>
      <p:sp>
        <p:nvSpPr>
          <p:cNvPr id="41" name="Shape 33"/>
          <p:cNvSpPr/>
          <p:nvPr/>
        </p:nvSpPr>
        <p:spPr>
          <a:xfrm>
            <a:off x="8846820" y="2825496"/>
            <a:ext cx="256032" cy="146304"/>
          </a:xfrm>
          <a:prstGeom prst="downArrow">
            <a:avLst/>
          </a:prstGeom>
          <a:solidFill>
            <a:srgbClr val="EC0016"/>
          </a:solidFill>
          <a:ln/>
        </p:spPr>
      </p:sp>
      <p:sp>
        <p:nvSpPr>
          <p:cNvPr id="42" name="Shape 34"/>
          <p:cNvSpPr/>
          <p:nvPr/>
        </p:nvSpPr>
        <p:spPr>
          <a:xfrm>
            <a:off x="6309360" y="2971800"/>
            <a:ext cx="5330952" cy="411480"/>
          </a:xfrm>
          <a:prstGeom prst="roundRect">
            <a:avLst>
              <a:gd name="adj" fmla="val 15556"/>
            </a:avLst>
          </a:prstGeom>
          <a:solidFill>
            <a:srgbClr val="F4F4F4"/>
          </a:solidFill>
          <a:ln/>
        </p:spPr>
      </p:sp>
      <p:sp>
        <p:nvSpPr>
          <p:cNvPr id="43" name="Shape 35"/>
          <p:cNvSpPr/>
          <p:nvPr/>
        </p:nvSpPr>
        <p:spPr>
          <a:xfrm>
            <a:off x="6428232" y="3026664"/>
            <a:ext cx="301752" cy="30175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9705" y="3108137"/>
            <a:ext cx="138806" cy="138806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6858000" y="3026664"/>
            <a:ext cx="465429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Model responds</a:t>
            </a:r>
            <a:endParaRPr lang="en-US" sz="1250" dirty="0"/>
          </a:p>
        </p:txBody>
      </p:sp>
      <p:sp>
        <p:nvSpPr>
          <p:cNvPr id="46" name="Text 37"/>
          <p:cNvSpPr/>
          <p:nvPr/>
        </p:nvSpPr>
        <p:spPr>
          <a:xfrm>
            <a:off x="6858000" y="3191256"/>
            <a:ext cx="465429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“Recalled N memories” indicator</a:t>
            </a:r>
            <a:endParaRPr lang="en-US" sz="970" dirty="0"/>
          </a:p>
        </p:txBody>
      </p:sp>
      <p:sp>
        <p:nvSpPr>
          <p:cNvPr id="47" name="Shape 38"/>
          <p:cNvSpPr/>
          <p:nvPr/>
        </p:nvSpPr>
        <p:spPr>
          <a:xfrm>
            <a:off x="8846820" y="3383280"/>
            <a:ext cx="256032" cy="146304"/>
          </a:xfrm>
          <a:prstGeom prst="downArrow">
            <a:avLst/>
          </a:prstGeom>
          <a:solidFill>
            <a:srgbClr val="EC0016"/>
          </a:solidFill>
          <a:ln/>
        </p:spPr>
      </p:sp>
      <p:sp>
        <p:nvSpPr>
          <p:cNvPr id="48" name="Shape 39"/>
          <p:cNvSpPr/>
          <p:nvPr/>
        </p:nvSpPr>
        <p:spPr>
          <a:xfrm>
            <a:off x="6309360" y="3529584"/>
            <a:ext cx="5330952" cy="685800"/>
          </a:xfrm>
          <a:prstGeom prst="roundRect">
            <a:avLst>
              <a:gd name="adj" fmla="val 9333"/>
            </a:avLst>
          </a:prstGeom>
          <a:solidFill>
            <a:srgbClr val="F4F4F4"/>
          </a:solidFill>
          <a:ln/>
        </p:spPr>
      </p:sp>
      <p:sp>
        <p:nvSpPr>
          <p:cNvPr id="49" name="Shape 40"/>
          <p:cNvSpPr/>
          <p:nvPr/>
        </p:nvSpPr>
        <p:spPr>
          <a:xfrm>
            <a:off x="6428232" y="36804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1925" y="3784153"/>
            <a:ext cx="176662" cy="176662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6940296" y="3584448"/>
            <a:ext cx="4572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Explicit save, or background extraction</a:t>
            </a:r>
            <a:endParaRPr lang="en-US" sz="1250" dirty="0"/>
          </a:p>
        </p:txBody>
      </p:sp>
      <p:sp>
        <p:nvSpPr>
          <p:cNvPr id="52" name="Text 42"/>
          <p:cNvSpPr/>
          <p:nvPr/>
        </p:nvSpPr>
        <p:spPr>
          <a:xfrm>
            <a:off x="6940296" y="3858768"/>
            <a:ext cx="45720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save_memory tool call — or a fire-and-forget pass after the turn</a:t>
            </a:r>
            <a:endParaRPr lang="en-US" sz="970" dirty="0"/>
          </a:p>
        </p:txBody>
      </p:sp>
      <p:sp>
        <p:nvSpPr>
          <p:cNvPr id="53" name="Shape 43"/>
          <p:cNvSpPr/>
          <p:nvPr/>
        </p:nvSpPr>
        <p:spPr>
          <a:xfrm>
            <a:off x="8846820" y="4215384"/>
            <a:ext cx="256032" cy="146304"/>
          </a:xfrm>
          <a:prstGeom prst="downArrow">
            <a:avLst/>
          </a:prstGeom>
          <a:solidFill>
            <a:srgbClr val="EC0016"/>
          </a:solidFill>
          <a:ln/>
        </p:spPr>
      </p:sp>
      <p:sp>
        <p:nvSpPr>
          <p:cNvPr id="54" name="Shape 44"/>
          <p:cNvSpPr/>
          <p:nvPr/>
        </p:nvSpPr>
        <p:spPr>
          <a:xfrm>
            <a:off x="6309360" y="4361688"/>
            <a:ext cx="5330952" cy="548640"/>
          </a:xfrm>
          <a:prstGeom prst="roundRect">
            <a:avLst>
              <a:gd name="adj" fmla="val 11667"/>
            </a:avLst>
          </a:prstGeom>
          <a:solidFill>
            <a:srgbClr val="0F0F0F"/>
          </a:solidFill>
          <a:ln/>
        </p:spPr>
      </p:sp>
      <p:sp>
        <p:nvSpPr>
          <p:cNvPr id="55" name="Shape 45"/>
          <p:cNvSpPr/>
          <p:nvPr/>
        </p:nvSpPr>
        <p:spPr>
          <a:xfrm>
            <a:off x="6428232" y="4443984"/>
            <a:ext cx="384048" cy="384048"/>
          </a:xfrm>
          <a:prstGeom prst="ellipse">
            <a:avLst/>
          </a:prstGeom>
          <a:solidFill>
            <a:srgbClr val="1E1E1E"/>
          </a:solidFill>
          <a:ln/>
        </p:spPr>
      </p:sp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1925" y="4547677"/>
            <a:ext cx="176662" cy="176662"/>
          </a:xfrm>
          <a:prstGeom prst="rect">
            <a:avLst/>
          </a:prstGeom>
        </p:spPr>
      </p:pic>
      <p:sp>
        <p:nvSpPr>
          <p:cNvPr id="57" name="Text 46"/>
          <p:cNvSpPr/>
          <p:nvPr/>
        </p:nvSpPr>
        <p:spPr>
          <a:xfrm>
            <a:off x="6940296" y="4416552"/>
            <a:ext cx="45720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Write gate → Postgres</a:t>
            </a:r>
            <a:endParaRPr lang="en-US" sz="1250" dirty="0"/>
          </a:p>
        </p:txBody>
      </p:sp>
      <p:sp>
        <p:nvSpPr>
          <p:cNvPr id="58" name="Text 47"/>
          <p:cNvSpPr/>
          <p:nvPr/>
        </p:nvSpPr>
        <p:spPr>
          <a:xfrm>
            <a:off x="6940296" y="4636008"/>
            <a:ext cx="4572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97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→ similarity → decide, then add or supersede</a:t>
            </a:r>
            <a:endParaRPr lang="en-US" sz="970" dirty="0"/>
          </a:p>
        </p:txBody>
      </p:sp>
      <p:sp>
        <p:nvSpPr>
          <p:cNvPr id="59" name="Text 48"/>
          <p:cNvSpPr/>
          <p:nvPr/>
        </p:nvSpPr>
        <p:spPr>
          <a:xfrm>
            <a:off x="6309360" y="5074920"/>
            <a:ext cx="5330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+ supersede: nothing is ever silently overwritten; “forget this user” is one call.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model — and why it's safe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MODEL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4F4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916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agent_memory_entries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084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— profile_id · user_id · tenant_id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— content · category · source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6700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— embedding: vector(1536), pgvector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9626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— superseded_by · observed_at · discarded_at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554480" cy="457200"/>
          </a:xfrm>
          <a:prstGeom prst="roundRect">
            <a:avLst>
              <a:gd name="adj" fmla="val 14000"/>
            </a:avLst>
          </a:prstGeom>
          <a:solidFill>
            <a:srgbClr val="E5E5E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" y="356616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(retired)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130552" y="3721608"/>
            <a:ext cx="265176" cy="146304"/>
          </a:xfrm>
          <a:prstGeom prst="rightArrow">
            <a:avLst/>
          </a:prstGeom>
          <a:solidFill>
            <a:srgbClr val="EC0016"/>
          </a:solidFill>
          <a:ln/>
        </p:spPr>
      </p:sp>
      <p:sp>
        <p:nvSpPr>
          <p:cNvPr id="13" name="Shape 11"/>
          <p:cNvSpPr/>
          <p:nvPr/>
        </p:nvSpPr>
        <p:spPr>
          <a:xfrm>
            <a:off x="2423160" y="3566160"/>
            <a:ext cx="1554480" cy="457200"/>
          </a:xfrm>
          <a:prstGeom prst="roundRect">
            <a:avLst>
              <a:gd name="adj" fmla="val 14000"/>
            </a:avLst>
          </a:prstGeom>
          <a:solidFill>
            <a:srgbClr val="E5E5E5"/>
          </a:solidFill>
          <a:ln/>
        </p:spPr>
      </p:sp>
      <p:sp>
        <p:nvSpPr>
          <p:cNvPr id="14" name="Text 12"/>
          <p:cNvSpPr/>
          <p:nvPr/>
        </p:nvSpPr>
        <p:spPr>
          <a:xfrm>
            <a:off x="2496312" y="356616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 (retired)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005072" y="3721608"/>
            <a:ext cx="265176" cy="146304"/>
          </a:xfrm>
          <a:prstGeom prst="rightArrow">
            <a:avLst/>
          </a:prstGeom>
          <a:solidFill>
            <a:srgbClr val="EC0016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7680" y="3566160"/>
            <a:ext cx="1554480" cy="457200"/>
          </a:xfrm>
          <a:prstGeom prst="roundRect">
            <a:avLst>
              <a:gd name="adj" fmla="val 14000"/>
            </a:avLst>
          </a:prstGeom>
          <a:solidFill>
            <a:srgbClr val="EC0016"/>
          </a:solidFill>
          <a:ln/>
        </p:spPr>
      </p:sp>
      <p:sp>
        <p:nvSpPr>
          <p:cNvPr id="17" name="Text 15"/>
          <p:cNvSpPr/>
          <p:nvPr/>
        </p:nvSpPr>
        <p:spPr>
          <a:xfrm>
            <a:off x="4370832" y="356616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(current)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41605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Contradiction retires the old row; the chain is the audit trail — nothing is deleted.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59028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blends 0.7 × similarity + 0.3 × recency decay, with a floor — thresholds calibrated from real telemetry, not copied from a paper.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309360" y="1234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GUARANTEES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1600200"/>
            <a:ext cx="420624" cy="420624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2928" y="1713768"/>
            <a:ext cx="193487" cy="193487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894576" y="1600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by default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894576" y="192938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 fails the build if any real profile enables it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309360" y="2350008"/>
            <a:ext cx="420624" cy="420624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2928" y="2463576"/>
            <a:ext cx="193487" cy="193487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894576" y="23500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or nothing</a:t>
            </a:r>
            <a:endParaRPr lang="en-US" sz="1350" dirty="0"/>
          </a:p>
        </p:txBody>
      </p:sp>
      <p:sp>
        <p:nvSpPr>
          <p:cNvPr id="28" name="Text 24"/>
          <p:cNvSpPr/>
          <p:nvPr/>
        </p:nvSpPr>
        <p:spPr>
          <a:xfrm>
            <a:off x="6894576" y="26791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validated user + tenant → memory silently disabled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309360" y="3099816"/>
            <a:ext cx="420624" cy="420624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2928" y="3213384"/>
            <a:ext cx="193487" cy="193487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6894576" y="309981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Denylist at write time</a:t>
            </a:r>
            <a:endParaRPr lang="en-US" sz="1350" dirty="0"/>
          </a:p>
        </p:txBody>
      </p:sp>
      <p:sp>
        <p:nvSpPr>
          <p:cNvPr id="32" name="Text 27"/>
          <p:cNvSpPr/>
          <p:nvPr/>
        </p:nvSpPr>
        <p:spPr>
          <a:xfrm>
            <a:off x="6894576" y="3429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Credential, card, and IBAN shapes are never stored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6309360" y="3849624"/>
            <a:ext cx="420624" cy="420624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2928" y="3963192"/>
            <a:ext cx="193487" cy="193487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894576" y="384962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Content-free logs</a:t>
            </a:r>
            <a:endParaRPr lang="en-US" sz="1350" dirty="0"/>
          </a:p>
        </p:txBody>
      </p:sp>
      <p:sp>
        <p:nvSpPr>
          <p:cNvPr id="36" name="Text 30"/>
          <p:cNvSpPr/>
          <p:nvPr/>
        </p:nvSpPr>
        <p:spPr>
          <a:xfrm>
            <a:off x="6894576" y="41788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 carries ids and counts — never the memory text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6309360" y="4599432"/>
            <a:ext cx="420624" cy="420624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2928" y="4713000"/>
            <a:ext cx="193487" cy="193487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6894576" y="4599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Deletable &amp; audited</a:t>
            </a:r>
            <a:endParaRPr lang="en-US" sz="1350" dirty="0"/>
          </a:p>
        </p:txBody>
      </p:sp>
      <p:sp>
        <p:nvSpPr>
          <p:cNvPr id="40" name="Text 33"/>
          <p:cNvSpPr/>
          <p:nvPr/>
        </p:nvSpPr>
        <p:spPr>
          <a:xfrm>
            <a:off x="6894576" y="492861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Soft-delete, one-call forget, and a full supersede history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— and where this stands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32688" y="1115568"/>
            <a:ext cx="384048" cy="384048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381" y="1219261"/>
            <a:ext cx="176662" cy="1766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15214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46120" y="1170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state durable facts — watch the save_memory tool call render.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932688" y="1682496"/>
            <a:ext cx="384048" cy="384048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381" y="1786189"/>
            <a:ext cx="176662" cy="17666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7190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thread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246120" y="173736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do you remember about me?” — 🧠 receipt + recital from an empty transcript.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48640" y="2276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932688" y="2249424"/>
            <a:ext cx="384048" cy="384048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81" y="2353117"/>
            <a:ext cx="176662" cy="17666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2286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the backend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3246120" y="230428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Restart, ask again. Postgres rows, not process state.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48640" y="2843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932688" y="2816352"/>
            <a:ext cx="384048" cy="384048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81" y="2920045"/>
            <a:ext cx="176662" cy="17666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28529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user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3246120" y="28712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agent, different user — finds nothing. Isolation at the database.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48640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932688" y="3383280"/>
            <a:ext cx="384048" cy="384048"/>
          </a:xfrm>
          <a:prstGeom prst="ellipse">
            <a:avLst/>
          </a:prstGeom>
          <a:solidFill>
            <a:srgbClr val="F4F4F4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381" y="3486973"/>
            <a:ext cx="176662" cy="17666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341985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my mind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3246120" y="343814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“Five bullets now, not three.” Old fact retired, replacement wins.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548640" y="39959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5F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the real system on the dev pod — live database, no mocks.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0F0F0F"/>
          </a:solidFill>
          <a:ln/>
        </p:spPr>
      </p:sp>
      <p:sp>
        <p:nvSpPr>
          <p:cNvPr id="30" name="Text 23"/>
          <p:cNvSpPr/>
          <p:nvPr/>
        </p:nvSpPr>
        <p:spPr>
          <a:xfrm>
            <a:off x="822960" y="4599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822960" y="48920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foundation merge request is in review now.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822960" y="5486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WAVE — DESIGNED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822960" y="57881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out of the instruction channel   ·   Durable extraction (outbox + retries)   ·   Governed APIs + audit events   ·   Console tenant plumbing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347472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dives: showcase · technical deep-dive · industry survey (ChatGPT, Claude, Gemini, Letta, mem0, Zep — and what we adopted).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9326880" y="2194560"/>
            <a:ext cx="2194560" cy="2194560"/>
          </a:xfrm>
          <a:prstGeom prst="ellipse">
            <a:avLst/>
          </a:prstGeom>
          <a:solidFill>
            <a:srgbClr val="1E1E1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278892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C00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the harness. In review for the harness.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memory for DIGIT — architecture &amp; demo</dc:title>
  <dc:subject>PptxGenJS Presentation</dc:subject>
  <dc:creator>Anshuman Pandey</dc:creator>
  <cp:lastModifiedBy>Anshuman Pandey</cp:lastModifiedBy>
  <cp:revision>1</cp:revision>
  <dcterms:created xsi:type="dcterms:W3CDTF">2026-07-22T17:33:24Z</dcterms:created>
  <dcterms:modified xsi:type="dcterms:W3CDTF">2026-07-22T17:33:24Z</dcterms:modified>
</cp:coreProperties>
</file>