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about agents improving with use. Today's version has more architecture depth for the team — system design, the turn flow, the data model — plus the live demo. About 15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problem — stateless agents, users repeat themselves. Right: what it is in one breath. Next three slides go deep on architecture before we touch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a caller sends profile/user/tenant on the turn request. The harness API — FastAPI, with TurnService and the SDK runner — is where our three insertion points live. The memory package is five files: recall, store, semantic, extraction, tool. It shares the harness's own Postgres — same database, no new service — and it side-calls Azure OpenAI for embeddings and small-model decisions. Two callouts worth saying out loud: memory now shares the harness's DB connection pool instead of running its own engine, and the schema is versioned with Alembic with a reviewed baseline — both were review feedback we implemented and verified. This reflects the architecture in the merge request now under review; the live demo in a few minutes runs on our stable pre-review build for reliability.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lifecycle of one turn. Recall runs first and ranks by relevance and recency. The recalled facts get fenced as data today in the instructions — moving to a dedicated input-list item is the next planned step, since instructions are supposed to be the authority channel, not user data. The model responds with the recall indicator. Two independent paths can write: an explicit save_memory tool call, or a background extraction pass after the turn that never blocks it. Either path goes through one write gate — exact-duplicate check, then embedding similarity, then a small model adjudicates real contradictions. The result is either a new row or a supersede — the old fact is retired with a pointer to its replacement, never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one append-only table, scoped by agent/user/tenant, with a pgvector column for semantic recall and the fields that make supersede possible. The three-box chain is the point — a contradiction never overwrites, it retires the old row and points to the new one, so the full history is always there for audit. Right: this is a bank, so safety is the design. Off by default with a guard test, fail-closed identity, a denylist at write time, logs that never carry content, and everything soft-deletable with 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seconds on this slide so the room knows the beats, then switch to the console and run them. Beat 2 is the money shot — pause after the recital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last demo this went through Subomi's formal review. Left: the foundation items, done, with receipts on every one. Right: the merge request is in review right now, and the second wave is designed — the injection channel change from slide 4, durable extraction, governance APIs, console tenants.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Predicted Q&amp;A is in the walkthrough doc: isn't this chat history; deletion and privacy; cost per turn; can my agent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0F"/>
        </a:solidFill>
      </p:bgPr>
    </p:bg>
    <p:spTree>
      <p:nvGrpSpPr>
        <p:cNvPr id="1" name=""/>
        <p:cNvGrpSpPr/>
        <p:nvPr/>
      </p:nvGrpSpPr>
      <p:grpSpPr>
        <a:xfrm>
          <a:off x="0" y="0"/>
          <a:ext cx="0" cy="0"/>
          <a:chOff x="0" y="0"/>
          <a:chExt cx="0" cy="0"/>
        </a:xfrm>
      </p:grpSpPr>
      <p:sp>
        <p:nvSpPr>
          <p:cNvPr id="2" name="Text 0"/>
          <p:cNvSpPr/>
          <p:nvPr/>
        </p:nvSpPr>
        <p:spPr>
          <a:xfrm>
            <a:off x="548640" y="1097280"/>
            <a:ext cx="7315200" cy="365760"/>
          </a:xfrm>
          <a:prstGeom prst="rect">
            <a:avLst/>
          </a:prstGeom>
          <a:noFill/>
          <a:ln/>
        </p:spPr>
        <p:txBody>
          <a:bodyPr wrap="square" rtlCol="0" anchor="ctr"/>
          <a:lstStyle/>
          <a:p>
            <a:pPr indent="0" marL="0">
              <a:buNone/>
            </a:pPr>
            <a:r>
              <a:rPr lang="en-US" sz="1300" b="1" spc="300" kern="0" dirty="0">
                <a:solidFill>
                  <a:srgbClr val="EC0016"/>
                </a:solidFill>
                <a:latin typeface="Arial" pitchFamily="34" charset="0"/>
                <a:ea typeface="Arial" pitchFamily="34" charset="-122"/>
                <a:cs typeface="Arial" pitchFamily="34" charset="-120"/>
              </a:rPr>
              <a:t>UBS  ·  DIGIT AGENT HARNESS</a:t>
            </a:r>
            <a:endParaRPr lang="en-US" sz="1300" dirty="0"/>
          </a:p>
        </p:txBody>
      </p:sp>
      <p:sp>
        <p:nvSpPr>
          <p:cNvPr id="3" name="Text 1"/>
          <p:cNvSpPr/>
          <p:nvPr/>
        </p:nvSpPr>
        <p:spPr>
          <a:xfrm>
            <a:off x="548640" y="1600200"/>
            <a:ext cx="8412480" cy="1554480"/>
          </a:xfrm>
          <a:prstGeom prst="rect">
            <a:avLst/>
          </a:prstGeom>
          <a:noFill/>
          <a:ln/>
        </p:spPr>
        <p:txBody>
          <a:bodyPr wrap="square" rtlCol="0" anchor="ctr"/>
          <a:lstStyle/>
          <a:p>
            <a:pPr indent="0" marL="0">
              <a:buNone/>
            </a:pPr>
            <a:r>
              <a:rPr lang="en-US" sz="5200" b="1" dirty="0">
                <a:solidFill>
                  <a:srgbClr val="FFFFFF"/>
                </a:solidFill>
                <a:latin typeface="Arial" pitchFamily="34" charset="0"/>
                <a:ea typeface="Arial" pitchFamily="34" charset="-122"/>
                <a:cs typeface="Arial" pitchFamily="34" charset="-120"/>
              </a:rPr>
              <a:t>Agents that remember</a:t>
            </a:r>
            <a:endParaRPr lang="en-US" sz="5200" dirty="0"/>
          </a:p>
        </p:txBody>
      </p:sp>
      <p:sp>
        <p:nvSpPr>
          <p:cNvPr id="4" name="Text 2"/>
          <p:cNvSpPr/>
          <p:nvPr/>
        </p:nvSpPr>
        <p:spPr>
          <a:xfrm>
            <a:off x="548640" y="3291840"/>
            <a:ext cx="7223760" cy="822960"/>
          </a:xfrm>
          <a:prstGeom prst="rect">
            <a:avLst/>
          </a:prstGeom>
          <a:noFill/>
          <a:ln/>
        </p:spPr>
        <p:txBody>
          <a:bodyPr wrap="square" rtlCol="0" anchor="ctr"/>
          <a:lstStyle/>
          <a:p>
            <a:pPr indent="0" marL="0">
              <a:lnSpc>
                <a:spcPct val="115000"/>
              </a:lnSpc>
              <a:buNone/>
            </a:pPr>
            <a:r>
              <a:rPr lang="en-US" sz="1700" dirty="0">
                <a:solidFill>
                  <a:srgbClr val="CFCFCF"/>
                </a:solidFill>
                <a:latin typeface="Arial" pitchFamily="34" charset="0"/>
                <a:ea typeface="Arial" pitchFamily="34" charset="-122"/>
                <a:cs typeface="Arial" pitchFamily="34" charset="-120"/>
              </a:rPr>
              <a:t>Persistent, per-user memory for DIGIT agents — architecture, safety, and a live demo.</a:t>
            </a:r>
            <a:endParaRPr lang="en-US" sz="1700" dirty="0"/>
          </a:p>
        </p:txBody>
      </p:sp>
      <p:sp>
        <p:nvSpPr>
          <p:cNvPr id="5" name="Text 3"/>
          <p:cNvSpPr/>
          <p:nvPr/>
        </p:nvSpPr>
        <p:spPr>
          <a:xfrm>
            <a:off x="548640" y="6035040"/>
            <a:ext cx="6400800" cy="365760"/>
          </a:xfrm>
          <a:prstGeom prst="rect">
            <a:avLst/>
          </a:prstGeom>
          <a:noFill/>
          <a:ln/>
        </p:spPr>
        <p:txBody>
          <a:bodyPr wrap="square" rtlCol="0" anchor="ctr"/>
          <a:lstStyle/>
          <a:p>
            <a:pPr indent="0" marL="0">
              <a:buNone/>
            </a:pPr>
            <a:r>
              <a:rPr lang="en-US" sz="1250" dirty="0">
                <a:solidFill>
                  <a:srgbClr val="9A9A9A"/>
                </a:solidFill>
                <a:latin typeface="Arial" pitchFamily="34" charset="0"/>
                <a:ea typeface="Arial" pitchFamily="34" charset="-122"/>
                <a:cs typeface="Arial" pitchFamily="34" charset="-120"/>
              </a:rPr>
              <a:t>Anshuman Pandey  ·  AI Engineering</a:t>
            </a:r>
            <a:endParaRPr lang="en-US" sz="1250" dirty="0"/>
          </a:p>
        </p:txBody>
      </p:sp>
      <p:sp>
        <p:nvSpPr>
          <p:cNvPr id="6" name="Shape 4"/>
          <p:cNvSpPr/>
          <p:nvPr/>
        </p:nvSpPr>
        <p:spPr>
          <a:xfrm>
            <a:off x="8686800" y="1874520"/>
            <a:ext cx="2834640" cy="2834640"/>
          </a:xfrm>
          <a:prstGeom prst="ellipse">
            <a:avLst/>
          </a:prstGeom>
          <a:solidFill>
            <a:srgbClr val="1E1E1E"/>
          </a:solidFill>
          <a:ln/>
        </p:spPr>
      </p:sp>
      <p:pic>
        <p:nvPicPr>
          <p:cNvPr id="7" name="Image 0" descr="preencoded.png">    </p:cNvPr>
          <p:cNvPicPr>
            <a:picLocks noChangeAspect="1"/>
          </p:cNvPicPr>
          <p:nvPr/>
        </p:nvPicPr>
        <p:blipFill>
          <a:blip r:embed="rId1"/>
          <a:stretch>
            <a:fillRect/>
          </a:stretch>
        </p:blipFill>
        <p:spPr>
          <a:xfrm>
            <a:off x="9418320" y="2606040"/>
            <a:ext cx="137160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64240" cy="594360"/>
          </a:xfrm>
          <a:prstGeom prst="rect">
            <a:avLst/>
          </a:prstGeom>
          <a:noFill/>
          <a:ln/>
        </p:spPr>
        <p:txBody>
          <a:bodyPr wrap="square" rtlCol="0" anchor="ctr"/>
          <a:lstStyle/>
          <a:p>
            <a:pPr indent="0" marL="0">
              <a:buNone/>
            </a:pPr>
            <a:r>
              <a:rPr lang="en-US" sz="3000" b="1" dirty="0">
                <a:solidFill>
                  <a:srgbClr val="1A1A1A"/>
                </a:solidFill>
                <a:latin typeface="Arial" pitchFamily="34" charset="0"/>
                <a:ea typeface="Arial" pitchFamily="34" charset="-122"/>
                <a:cs typeface="Arial" pitchFamily="34" charset="-120"/>
              </a:rPr>
              <a:t>From zero memory to compounding value</a:t>
            </a:r>
            <a:endParaRPr lang="en-US" sz="3000" dirty="0"/>
          </a:p>
        </p:txBody>
      </p:sp>
      <p:sp>
        <p:nvSpPr>
          <p:cNvPr id="3" name="Text 1"/>
          <p:cNvSpPr/>
          <p:nvPr/>
        </p:nvSpPr>
        <p:spPr>
          <a:xfrm>
            <a:off x="548640" y="1325880"/>
            <a:ext cx="2743200" cy="292608"/>
          </a:xfrm>
          <a:prstGeom prst="rect">
            <a:avLst/>
          </a:prstGeom>
          <a:noFill/>
          <a:ln/>
        </p:spPr>
        <p:txBody>
          <a:bodyPr wrap="square" rtlCol="0" anchor="ctr"/>
          <a:lstStyle/>
          <a:p>
            <a:pPr indent="0" marL="0">
              <a:buNone/>
            </a:pPr>
            <a:r>
              <a:rPr lang="en-US" sz="1200" b="1" spc="300" kern="0" dirty="0">
                <a:solidFill>
                  <a:srgbClr val="5F5F5F"/>
                </a:solidFill>
                <a:latin typeface="Arial" pitchFamily="34" charset="0"/>
                <a:ea typeface="Arial" pitchFamily="34" charset="-122"/>
                <a:cs typeface="Arial" pitchFamily="34" charset="-120"/>
              </a:rPr>
              <a:t>TODAY</a:t>
            </a:r>
            <a:endParaRPr lang="en-US" sz="1200" dirty="0"/>
          </a:p>
        </p:txBody>
      </p:sp>
      <p:sp>
        <p:nvSpPr>
          <p:cNvPr id="4" name="Shape 2"/>
          <p:cNvSpPr/>
          <p:nvPr/>
        </p:nvSpPr>
        <p:spPr>
          <a:xfrm>
            <a:off x="548640" y="1737360"/>
            <a:ext cx="457200" cy="457200"/>
          </a:xfrm>
          <a:prstGeom prst="ellipse">
            <a:avLst/>
          </a:prstGeom>
          <a:solidFill>
            <a:srgbClr val="F4F4F4"/>
          </a:solidFill>
          <a:ln/>
        </p:spPr>
      </p:sp>
      <p:pic>
        <p:nvPicPr>
          <p:cNvPr id="5" name="Image 0" descr="preencoded.png">    </p:cNvPr>
          <p:cNvPicPr>
            <a:picLocks noChangeAspect="1"/>
          </p:cNvPicPr>
          <p:nvPr/>
        </p:nvPicPr>
        <p:blipFill>
          <a:blip r:embed="rId1"/>
          <a:stretch>
            <a:fillRect/>
          </a:stretch>
        </p:blipFill>
        <p:spPr>
          <a:xfrm>
            <a:off x="672084" y="1860804"/>
            <a:ext cx="210312" cy="210312"/>
          </a:xfrm>
          <a:prstGeom prst="rect">
            <a:avLst/>
          </a:prstGeom>
        </p:spPr>
      </p:pic>
      <p:sp>
        <p:nvSpPr>
          <p:cNvPr id="6" name="Text 3"/>
          <p:cNvSpPr/>
          <p:nvPr/>
        </p:nvSpPr>
        <p:spPr>
          <a:xfrm>
            <a:off x="1207008" y="1737360"/>
            <a:ext cx="4663440" cy="777240"/>
          </a:xfrm>
          <a:prstGeom prst="rect">
            <a:avLst/>
          </a:prstGeom>
          <a:noFill/>
          <a:ln/>
        </p:spPr>
        <p:txBody>
          <a:bodyPr wrap="square" lIns="0" tIns="0" rIns="0" bIns="0" rtlCol="0" anchor="ctr"/>
          <a:lstStyle/>
          <a:p>
            <a:pPr indent="0" marL="0">
              <a:lnSpc>
                <a:spcPct val="110000"/>
              </a:lnSpc>
              <a:buNone/>
            </a:pPr>
            <a:r>
              <a:rPr lang="en-US" sz="1400" dirty="0">
                <a:solidFill>
                  <a:srgbClr val="1A1A1A"/>
                </a:solidFill>
                <a:latin typeface="Arial" pitchFamily="34" charset="0"/>
                <a:ea typeface="Arial" pitchFamily="34" charset="-122"/>
                <a:cs typeface="Arial" pitchFamily="34" charset="-120"/>
              </a:rPr>
              <a:t>Users re-type preferences and context every single thread.</a:t>
            </a:r>
            <a:endParaRPr lang="en-US" sz="1400" dirty="0"/>
          </a:p>
        </p:txBody>
      </p:sp>
      <p:sp>
        <p:nvSpPr>
          <p:cNvPr id="7" name="Shape 4"/>
          <p:cNvSpPr/>
          <p:nvPr/>
        </p:nvSpPr>
        <p:spPr>
          <a:xfrm>
            <a:off x="548640" y="2651760"/>
            <a:ext cx="457200" cy="457200"/>
          </a:xfrm>
          <a:prstGeom prst="ellipse">
            <a:avLst/>
          </a:prstGeom>
          <a:solidFill>
            <a:srgbClr val="F4F4F4"/>
          </a:solidFill>
          <a:ln/>
        </p:spPr>
      </p:sp>
      <p:pic>
        <p:nvPicPr>
          <p:cNvPr id="8" name="Image 1" descr="preencoded.png">    </p:cNvPr>
          <p:cNvPicPr>
            <a:picLocks noChangeAspect="1"/>
          </p:cNvPicPr>
          <p:nvPr/>
        </p:nvPicPr>
        <p:blipFill>
          <a:blip r:embed="rId2"/>
          <a:stretch>
            <a:fillRect/>
          </a:stretch>
        </p:blipFill>
        <p:spPr>
          <a:xfrm>
            <a:off x="672084" y="2775204"/>
            <a:ext cx="210312" cy="210312"/>
          </a:xfrm>
          <a:prstGeom prst="rect">
            <a:avLst/>
          </a:prstGeom>
        </p:spPr>
      </p:pic>
      <p:sp>
        <p:nvSpPr>
          <p:cNvPr id="9" name="Text 5"/>
          <p:cNvSpPr/>
          <p:nvPr/>
        </p:nvSpPr>
        <p:spPr>
          <a:xfrm>
            <a:off x="1207008" y="2651760"/>
            <a:ext cx="4663440" cy="777240"/>
          </a:xfrm>
          <a:prstGeom prst="rect">
            <a:avLst/>
          </a:prstGeom>
          <a:noFill/>
          <a:ln/>
        </p:spPr>
        <p:txBody>
          <a:bodyPr wrap="square" lIns="0" tIns="0" rIns="0" bIns="0" rtlCol="0" anchor="ctr"/>
          <a:lstStyle/>
          <a:p>
            <a:pPr indent="0" marL="0">
              <a:lnSpc>
                <a:spcPct val="110000"/>
              </a:lnSpc>
              <a:buNone/>
            </a:pPr>
            <a:r>
              <a:rPr lang="en-US" sz="1400" dirty="0">
                <a:solidFill>
                  <a:srgbClr val="1A1A1A"/>
                </a:solidFill>
                <a:latin typeface="Arial" pitchFamily="34" charset="0"/>
                <a:ea typeface="Arial" pitchFamily="34" charset="-122"/>
                <a:cs typeface="Arial" pitchFamily="34" charset="-120"/>
              </a:rPr>
              <a:t>Session memory dies with the thread; a restart wipes even that.</a:t>
            </a:r>
            <a:endParaRPr lang="en-US" sz="1400" dirty="0"/>
          </a:p>
        </p:txBody>
      </p:sp>
      <p:sp>
        <p:nvSpPr>
          <p:cNvPr id="10" name="Shape 6"/>
          <p:cNvSpPr/>
          <p:nvPr/>
        </p:nvSpPr>
        <p:spPr>
          <a:xfrm>
            <a:off x="548640" y="3566160"/>
            <a:ext cx="457200" cy="457200"/>
          </a:xfrm>
          <a:prstGeom prst="ellipse">
            <a:avLst/>
          </a:prstGeom>
          <a:solidFill>
            <a:srgbClr val="F4F4F4"/>
          </a:solidFill>
          <a:ln/>
        </p:spPr>
      </p:sp>
      <p:pic>
        <p:nvPicPr>
          <p:cNvPr id="11" name="Image 2" descr="preencoded.png">    </p:cNvPr>
          <p:cNvPicPr>
            <a:picLocks noChangeAspect="1"/>
          </p:cNvPicPr>
          <p:nvPr/>
        </p:nvPicPr>
        <p:blipFill>
          <a:blip r:embed="rId3"/>
          <a:stretch>
            <a:fillRect/>
          </a:stretch>
        </p:blipFill>
        <p:spPr>
          <a:xfrm>
            <a:off x="672084" y="3689604"/>
            <a:ext cx="210312" cy="210312"/>
          </a:xfrm>
          <a:prstGeom prst="rect">
            <a:avLst/>
          </a:prstGeom>
        </p:spPr>
      </p:pic>
      <p:sp>
        <p:nvSpPr>
          <p:cNvPr id="12" name="Text 7"/>
          <p:cNvSpPr/>
          <p:nvPr/>
        </p:nvSpPr>
        <p:spPr>
          <a:xfrm>
            <a:off x="1207008" y="3566160"/>
            <a:ext cx="4663440" cy="777240"/>
          </a:xfrm>
          <a:prstGeom prst="rect">
            <a:avLst/>
          </a:prstGeom>
          <a:noFill/>
          <a:ln/>
        </p:spPr>
        <p:txBody>
          <a:bodyPr wrap="square" lIns="0" tIns="0" rIns="0" bIns="0" rtlCol="0" anchor="ctr"/>
          <a:lstStyle/>
          <a:p>
            <a:pPr indent="0" marL="0">
              <a:lnSpc>
                <a:spcPct val="110000"/>
              </a:lnSpc>
              <a:buNone/>
            </a:pPr>
            <a:r>
              <a:rPr lang="en-US" sz="1400" dirty="0">
                <a:solidFill>
                  <a:srgbClr val="1A1A1A"/>
                </a:solidFill>
                <a:latin typeface="Arial" pitchFamily="34" charset="0"/>
                <a:ea typeface="Arial" pitchFamily="34" charset="-122"/>
                <a:cs typeface="Arial" pitchFamily="34" charset="-120"/>
              </a:rPr>
              <a:t>Months of usage teach an agent nothing about its users.</a:t>
            </a:r>
            <a:endParaRPr lang="en-US" sz="1400" dirty="0"/>
          </a:p>
        </p:txBody>
      </p:sp>
      <p:sp>
        <p:nvSpPr>
          <p:cNvPr id="13" name="Text 8"/>
          <p:cNvSpPr/>
          <p:nvPr/>
        </p:nvSpPr>
        <p:spPr>
          <a:xfrm>
            <a:off x="548640" y="4617720"/>
            <a:ext cx="5212080" cy="914400"/>
          </a:xfrm>
          <a:prstGeom prst="rect">
            <a:avLst/>
          </a:prstGeom>
          <a:noFill/>
          <a:ln/>
        </p:spPr>
        <p:txBody>
          <a:bodyPr wrap="square" lIns="0" tIns="0" rIns="0" bIns="0" rtlCol="0" anchor="ctr"/>
          <a:lstStyle/>
          <a:p>
            <a:pPr indent="0" marL="0">
              <a:lnSpc>
                <a:spcPct val="115000"/>
              </a:lnSpc>
              <a:buNone/>
            </a:pPr>
            <a:r>
              <a:rPr lang="en-US" sz="1500" b="1" dirty="0">
                <a:solidFill>
                  <a:srgbClr val="EC0016"/>
                </a:solidFill>
                <a:latin typeface="Arial" pitchFamily="34" charset="0"/>
                <a:ea typeface="Arial" pitchFamily="34" charset="-122"/>
                <a:cs typeface="Arial" pitchFamily="34" charset="-120"/>
              </a:rPr>
              <a:t>The goal: </a:t>
            </a:r>
            <a:pPr indent="0" marL="0">
              <a:lnSpc>
                <a:spcPct val="115000"/>
              </a:lnSpc>
              <a:buNone/>
            </a:pPr>
            <a:r>
              <a:rPr lang="en-US" sz="1500" dirty="0">
                <a:solidFill>
                  <a:srgbClr val="1A1A1A"/>
                </a:solidFill>
                <a:latin typeface="Arial" pitchFamily="34" charset="0"/>
                <a:ea typeface="Arial" pitchFamily="34" charset="-122"/>
                <a:cs typeface="Arial" pitchFamily="34" charset="-120"/>
              </a:rPr>
              <a:t>the more someone uses a DIGIT agent, the better it works for them — automatically.</a:t>
            </a:r>
            <a:endParaRPr lang="en-US" sz="1500" dirty="0"/>
          </a:p>
        </p:txBody>
      </p:sp>
      <p:sp>
        <p:nvSpPr>
          <p:cNvPr id="14" name="Shape 9"/>
          <p:cNvSpPr/>
          <p:nvPr/>
        </p:nvSpPr>
        <p:spPr>
          <a:xfrm>
            <a:off x="6309360" y="1325880"/>
            <a:ext cx="5330952" cy="4892040"/>
          </a:xfrm>
          <a:prstGeom prst="roundRect">
            <a:avLst>
              <a:gd name="adj" fmla="val 1869"/>
            </a:avLst>
          </a:prstGeom>
          <a:solidFill>
            <a:srgbClr val="F4F4F4"/>
          </a:solidFill>
          <a:ln/>
        </p:spPr>
      </p:sp>
      <p:sp>
        <p:nvSpPr>
          <p:cNvPr id="15" name="Text 10"/>
          <p:cNvSpPr/>
          <p:nvPr/>
        </p:nvSpPr>
        <p:spPr>
          <a:xfrm>
            <a:off x="6675120" y="1627632"/>
            <a:ext cx="4572000" cy="292608"/>
          </a:xfrm>
          <a:prstGeom prst="rect">
            <a:avLst/>
          </a:prstGeom>
          <a:noFill/>
          <a:ln/>
        </p:spPr>
        <p:txBody>
          <a:bodyPr wrap="square" lIns="0" tIns="0" rIns="0" bIns="0" rtlCol="0" anchor="ctr"/>
          <a:lstStyle/>
          <a:p>
            <a:pPr indent="0" marL="0">
              <a:buNone/>
            </a:pPr>
            <a:r>
              <a:rPr lang="en-US" sz="1200" b="1" spc="300" kern="0" dirty="0">
                <a:solidFill>
                  <a:srgbClr val="EC0016"/>
                </a:solidFill>
                <a:latin typeface="Arial" pitchFamily="34" charset="0"/>
                <a:ea typeface="Arial" pitchFamily="34" charset="-122"/>
                <a:cs typeface="Arial" pitchFamily="34" charset="-120"/>
              </a:rPr>
              <a:t>WHAT I BUILT</a:t>
            </a:r>
            <a:endParaRPr lang="en-US" sz="1200" dirty="0"/>
          </a:p>
        </p:txBody>
      </p:sp>
      <p:sp>
        <p:nvSpPr>
          <p:cNvPr id="16" name="Text 11"/>
          <p:cNvSpPr/>
          <p:nvPr/>
        </p:nvSpPr>
        <p:spPr>
          <a:xfrm>
            <a:off x="6675120" y="2011680"/>
            <a:ext cx="4617720" cy="1051560"/>
          </a:xfrm>
          <a:prstGeom prst="rect">
            <a:avLst/>
          </a:prstGeom>
          <a:noFill/>
          <a:ln/>
        </p:spPr>
        <p:txBody>
          <a:bodyPr wrap="square" lIns="0" tIns="0" rIns="0" bIns="0" rtlCol="0" anchor="ctr"/>
          <a:lstStyle/>
          <a:p>
            <a:pPr indent="0" marL="0">
              <a:lnSpc>
                <a:spcPct val="115000"/>
              </a:lnSpc>
              <a:buNone/>
            </a:pPr>
            <a:r>
              <a:rPr lang="en-US" sz="1500" dirty="0">
                <a:solidFill>
                  <a:srgbClr val="1A1A1A"/>
                </a:solidFill>
                <a:latin typeface="Arial" pitchFamily="34" charset="0"/>
                <a:ea typeface="Arial" pitchFamily="34" charset="-122"/>
                <a:cs typeface="Arial" pitchFamily="34" charset="-120"/>
              </a:rPr>
              <a:t>Durable facts about each user — preferences, corrections, working context — remembered across threads and backend restarts, inside the harness runtime.</a:t>
            </a:r>
            <a:endParaRPr lang="en-US" sz="1500" dirty="0"/>
          </a:p>
        </p:txBody>
      </p:sp>
      <p:sp>
        <p:nvSpPr>
          <p:cNvPr id="17" name="Shape 12"/>
          <p:cNvSpPr/>
          <p:nvPr/>
        </p:nvSpPr>
        <p:spPr>
          <a:xfrm>
            <a:off x="6675120" y="3337560"/>
            <a:ext cx="365760" cy="365760"/>
          </a:xfrm>
          <a:prstGeom prst="ellipse">
            <a:avLst/>
          </a:prstGeom>
          <a:solidFill>
            <a:srgbClr val="FFFFFF"/>
          </a:solidFill>
          <a:ln/>
        </p:spPr>
      </p:sp>
      <p:pic>
        <p:nvPicPr>
          <p:cNvPr id="18" name="Image 3" descr="preencoded.png">    </p:cNvPr>
          <p:cNvPicPr>
            <a:picLocks noChangeAspect="1"/>
          </p:cNvPicPr>
          <p:nvPr/>
        </p:nvPicPr>
        <p:blipFill>
          <a:blip r:embed="rId4"/>
          <a:stretch>
            <a:fillRect/>
          </a:stretch>
        </p:blipFill>
        <p:spPr>
          <a:xfrm>
            <a:off x="6773875" y="3436315"/>
            <a:ext cx="168250" cy="168250"/>
          </a:xfrm>
          <a:prstGeom prst="rect">
            <a:avLst/>
          </a:prstGeom>
        </p:spPr>
      </p:pic>
      <p:sp>
        <p:nvSpPr>
          <p:cNvPr id="19" name="Text 13"/>
          <p:cNvSpPr/>
          <p:nvPr/>
        </p:nvSpPr>
        <p:spPr>
          <a:xfrm>
            <a:off x="7178040" y="3337560"/>
            <a:ext cx="4160520" cy="548640"/>
          </a:xfrm>
          <a:prstGeom prst="rect">
            <a:avLst/>
          </a:prstGeom>
          <a:noFill/>
          <a:ln/>
        </p:spPr>
        <p:txBody>
          <a:bodyPr wrap="square" lIns="0" tIns="0" rIns="0" bIns="0" rtlCol="0" anchor="ctr"/>
          <a:lstStyle/>
          <a:p>
            <a:pPr indent="0" marL="0">
              <a:lnSpc>
                <a:spcPct val="105000"/>
              </a:lnSpc>
              <a:buNone/>
            </a:pPr>
            <a:r>
              <a:rPr lang="en-US" sz="1300" dirty="0">
                <a:solidFill>
                  <a:srgbClr val="1A1A1A"/>
                </a:solidFill>
                <a:latin typeface="Arial" pitchFamily="34" charset="0"/>
                <a:ea typeface="Arial" pitchFamily="34" charset="-122"/>
                <a:cs typeface="Arial" pitchFamily="34" charset="-120"/>
              </a:rPr>
              <a:t>Scoped: agent × user × tenant, enforced in the DB</a:t>
            </a:r>
            <a:endParaRPr lang="en-US" sz="1300" dirty="0"/>
          </a:p>
        </p:txBody>
      </p:sp>
      <p:sp>
        <p:nvSpPr>
          <p:cNvPr id="20" name="Shape 14"/>
          <p:cNvSpPr/>
          <p:nvPr/>
        </p:nvSpPr>
        <p:spPr>
          <a:xfrm>
            <a:off x="6675120" y="3995928"/>
            <a:ext cx="365760" cy="365760"/>
          </a:xfrm>
          <a:prstGeom prst="ellipse">
            <a:avLst/>
          </a:prstGeom>
          <a:solidFill>
            <a:srgbClr val="FFFFFF"/>
          </a:solidFill>
          <a:ln/>
        </p:spPr>
      </p:sp>
      <p:pic>
        <p:nvPicPr>
          <p:cNvPr id="21" name="Image 4" descr="preencoded.png">    </p:cNvPr>
          <p:cNvPicPr>
            <a:picLocks noChangeAspect="1"/>
          </p:cNvPicPr>
          <p:nvPr/>
        </p:nvPicPr>
        <p:blipFill>
          <a:blip r:embed="rId5"/>
          <a:stretch>
            <a:fillRect/>
          </a:stretch>
        </p:blipFill>
        <p:spPr>
          <a:xfrm>
            <a:off x="6773875" y="4094683"/>
            <a:ext cx="168250" cy="168250"/>
          </a:xfrm>
          <a:prstGeom prst="rect">
            <a:avLst/>
          </a:prstGeom>
        </p:spPr>
      </p:pic>
      <p:sp>
        <p:nvSpPr>
          <p:cNvPr id="22" name="Text 15"/>
          <p:cNvSpPr/>
          <p:nvPr/>
        </p:nvSpPr>
        <p:spPr>
          <a:xfrm>
            <a:off x="7178040" y="3995928"/>
            <a:ext cx="4160520" cy="548640"/>
          </a:xfrm>
          <a:prstGeom prst="rect">
            <a:avLst/>
          </a:prstGeom>
          <a:noFill/>
          <a:ln/>
        </p:spPr>
        <p:txBody>
          <a:bodyPr wrap="square" lIns="0" tIns="0" rIns="0" bIns="0" rtlCol="0" anchor="ctr"/>
          <a:lstStyle/>
          <a:p>
            <a:pPr indent="0" marL="0">
              <a:lnSpc>
                <a:spcPct val="105000"/>
              </a:lnSpc>
              <a:buNone/>
            </a:pPr>
            <a:r>
              <a:rPr lang="en-US" sz="1300" dirty="0">
                <a:solidFill>
                  <a:srgbClr val="1A1A1A"/>
                </a:solidFill>
                <a:latin typeface="Arial" pitchFamily="34" charset="0"/>
                <a:ea typeface="Arial" pitchFamily="34" charset="-122"/>
                <a:cs typeface="Arial" pitchFamily="34" charset="-120"/>
              </a:rPr>
              <a:t>Lives in the Azure Postgres we already run</a:t>
            </a:r>
            <a:endParaRPr lang="en-US" sz="1300" dirty="0"/>
          </a:p>
        </p:txBody>
      </p:sp>
      <p:sp>
        <p:nvSpPr>
          <p:cNvPr id="23" name="Shape 16"/>
          <p:cNvSpPr/>
          <p:nvPr/>
        </p:nvSpPr>
        <p:spPr>
          <a:xfrm>
            <a:off x="6675120" y="4654296"/>
            <a:ext cx="365760" cy="365760"/>
          </a:xfrm>
          <a:prstGeom prst="ellipse">
            <a:avLst/>
          </a:prstGeom>
          <a:solidFill>
            <a:srgbClr val="FFFFFF"/>
          </a:solidFill>
          <a:ln/>
        </p:spPr>
      </p:sp>
      <p:pic>
        <p:nvPicPr>
          <p:cNvPr id="24" name="Image 5" descr="preencoded.png">    </p:cNvPr>
          <p:cNvPicPr>
            <a:picLocks noChangeAspect="1"/>
          </p:cNvPicPr>
          <p:nvPr/>
        </p:nvPicPr>
        <p:blipFill>
          <a:blip r:embed="rId6"/>
          <a:stretch>
            <a:fillRect/>
          </a:stretch>
        </p:blipFill>
        <p:spPr>
          <a:xfrm>
            <a:off x="6773875" y="4753051"/>
            <a:ext cx="168250" cy="168250"/>
          </a:xfrm>
          <a:prstGeom prst="rect">
            <a:avLst/>
          </a:prstGeom>
        </p:spPr>
      </p:pic>
      <p:sp>
        <p:nvSpPr>
          <p:cNvPr id="25" name="Text 17"/>
          <p:cNvSpPr/>
          <p:nvPr/>
        </p:nvSpPr>
        <p:spPr>
          <a:xfrm>
            <a:off x="7178040" y="4654296"/>
            <a:ext cx="4160520" cy="548640"/>
          </a:xfrm>
          <a:prstGeom prst="rect">
            <a:avLst/>
          </a:prstGeom>
          <a:noFill/>
          <a:ln/>
        </p:spPr>
        <p:txBody>
          <a:bodyPr wrap="square" lIns="0" tIns="0" rIns="0" bIns="0" rtlCol="0" anchor="ctr"/>
          <a:lstStyle/>
          <a:p>
            <a:pPr indent="0" marL="0">
              <a:lnSpc>
                <a:spcPct val="105000"/>
              </a:lnSpc>
              <a:buNone/>
            </a:pPr>
            <a:r>
              <a:rPr lang="en-US" sz="1300" dirty="0">
                <a:solidFill>
                  <a:srgbClr val="1A1A1A"/>
                </a:solidFill>
                <a:latin typeface="Arial" pitchFamily="34" charset="0"/>
                <a:ea typeface="Arial" pitchFamily="34" charset="-122"/>
                <a:cs typeface="Arial" pitchFamily="34" charset="-120"/>
              </a:rPr>
              <a:t>Off by default — one profile flag enables it</a:t>
            </a:r>
            <a:endParaRPr lang="en-US" sz="1300" dirty="0"/>
          </a:p>
        </p:txBody>
      </p:sp>
      <p:sp>
        <p:nvSpPr>
          <p:cNvPr id="26" name="Shape 18"/>
          <p:cNvSpPr/>
          <p:nvPr/>
        </p:nvSpPr>
        <p:spPr>
          <a:xfrm>
            <a:off x="6675120" y="5312664"/>
            <a:ext cx="365760" cy="365760"/>
          </a:xfrm>
          <a:prstGeom prst="ellipse">
            <a:avLst/>
          </a:prstGeom>
          <a:solidFill>
            <a:srgbClr val="FFFFFF"/>
          </a:solidFill>
          <a:ln/>
        </p:spPr>
      </p:sp>
      <p:pic>
        <p:nvPicPr>
          <p:cNvPr id="27" name="Image 6" descr="preencoded.png">    </p:cNvPr>
          <p:cNvPicPr>
            <a:picLocks noChangeAspect="1"/>
          </p:cNvPicPr>
          <p:nvPr/>
        </p:nvPicPr>
        <p:blipFill>
          <a:blip r:embed="rId7"/>
          <a:stretch>
            <a:fillRect/>
          </a:stretch>
        </p:blipFill>
        <p:spPr>
          <a:xfrm>
            <a:off x="6773875" y="5411419"/>
            <a:ext cx="168250" cy="168250"/>
          </a:xfrm>
          <a:prstGeom prst="rect">
            <a:avLst/>
          </a:prstGeom>
        </p:spPr>
      </p:pic>
      <p:sp>
        <p:nvSpPr>
          <p:cNvPr id="28" name="Text 19"/>
          <p:cNvSpPr/>
          <p:nvPr/>
        </p:nvSpPr>
        <p:spPr>
          <a:xfrm>
            <a:off x="7178040" y="5312664"/>
            <a:ext cx="4160520" cy="548640"/>
          </a:xfrm>
          <a:prstGeom prst="rect">
            <a:avLst/>
          </a:prstGeom>
          <a:noFill/>
          <a:ln/>
        </p:spPr>
        <p:txBody>
          <a:bodyPr wrap="square" lIns="0" tIns="0" rIns="0" bIns="0" rtlCol="0" anchor="ctr"/>
          <a:lstStyle/>
          <a:p>
            <a:pPr indent="0" marL="0">
              <a:lnSpc>
                <a:spcPct val="105000"/>
              </a:lnSpc>
              <a:buNone/>
            </a:pPr>
            <a:r>
              <a:rPr lang="en-US" sz="1300" dirty="0">
                <a:solidFill>
                  <a:srgbClr val="1A1A1A"/>
                </a:solidFill>
                <a:latin typeface="Arial" pitchFamily="34" charset="0"/>
                <a:ea typeface="Arial" pitchFamily="34" charset="-122"/>
                <a:cs typeface="Arial" pitchFamily="34" charset="-120"/>
              </a:rPr>
              <a:t>Semantic recall via pgvector — no new services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64240" cy="502920"/>
          </a:xfrm>
          <a:prstGeom prst="rect">
            <a:avLst/>
          </a:prstGeom>
          <a:noFill/>
          <a:ln/>
        </p:spPr>
        <p:txBody>
          <a:bodyPr wrap="square" rtlCol="0" anchor="ctr"/>
          <a:lstStyle/>
          <a:p>
            <a:pPr indent="0" marL="0">
              <a:buNone/>
            </a:pPr>
            <a:r>
              <a:rPr lang="en-US" sz="3000" b="1" dirty="0">
                <a:solidFill>
                  <a:srgbClr val="1A1A1A"/>
                </a:solidFill>
                <a:latin typeface="Arial" pitchFamily="34" charset="0"/>
                <a:ea typeface="Arial" pitchFamily="34" charset="-122"/>
                <a:cs typeface="Arial" pitchFamily="34" charset="-120"/>
              </a:rPr>
              <a:t>System architecture — where memory lives</a:t>
            </a:r>
            <a:endParaRPr lang="en-US" sz="3000" dirty="0"/>
          </a:p>
        </p:txBody>
      </p:sp>
      <p:sp>
        <p:nvSpPr>
          <p:cNvPr id="3" name="Text 1"/>
          <p:cNvSpPr/>
          <p:nvPr/>
        </p:nvSpPr>
        <p:spPr>
          <a:xfrm>
            <a:off x="548640" y="987552"/>
            <a:ext cx="11064240" cy="292608"/>
          </a:xfrm>
          <a:prstGeom prst="rect">
            <a:avLst/>
          </a:prstGeom>
          <a:noFill/>
          <a:ln/>
        </p:spPr>
        <p:txBody>
          <a:bodyPr wrap="square" rtlCol="0" anchor="ctr"/>
          <a:lstStyle/>
          <a:p>
            <a:pPr indent="0" marL="0">
              <a:buNone/>
            </a:pPr>
            <a:r>
              <a:rPr lang="en-US" sz="1300" i="1" dirty="0">
                <a:solidFill>
                  <a:srgbClr val="5F5F5F"/>
                </a:solidFill>
                <a:latin typeface="Arial" pitchFamily="34" charset="0"/>
                <a:ea typeface="Arial" pitchFamily="34" charset="-122"/>
                <a:cs typeface="Arial" pitchFamily="34" charset="-120"/>
              </a:rPr>
              <a:t>One flag turns memory on; everything below runs on infrastructure the harness already has.</a:t>
            </a:r>
            <a:endParaRPr lang="en-US" sz="1300" dirty="0"/>
          </a:p>
        </p:txBody>
      </p:sp>
      <p:sp>
        <p:nvSpPr>
          <p:cNvPr id="4" name="Shape 2"/>
          <p:cNvSpPr/>
          <p:nvPr/>
        </p:nvSpPr>
        <p:spPr>
          <a:xfrm>
            <a:off x="1613916" y="1417320"/>
            <a:ext cx="5943600" cy="594360"/>
          </a:xfrm>
          <a:prstGeom prst="roundRect">
            <a:avLst>
              <a:gd name="adj" fmla="val 12308"/>
            </a:avLst>
          </a:prstGeom>
          <a:solidFill>
            <a:srgbClr val="F4F4F4"/>
          </a:solidFill>
          <a:ln/>
        </p:spPr>
      </p:sp>
      <p:sp>
        <p:nvSpPr>
          <p:cNvPr id="5" name="Shape 3"/>
          <p:cNvSpPr/>
          <p:nvPr/>
        </p:nvSpPr>
        <p:spPr>
          <a:xfrm>
            <a:off x="1760220" y="1490472"/>
            <a:ext cx="448056" cy="44805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881195" y="1611447"/>
            <a:ext cx="206106" cy="206106"/>
          </a:xfrm>
          <a:prstGeom prst="rect">
            <a:avLst/>
          </a:prstGeom>
        </p:spPr>
      </p:pic>
      <p:sp>
        <p:nvSpPr>
          <p:cNvPr id="7" name="Text 4"/>
          <p:cNvSpPr/>
          <p:nvPr/>
        </p:nvSpPr>
        <p:spPr>
          <a:xfrm>
            <a:off x="2354580" y="1490472"/>
            <a:ext cx="5056632" cy="273406"/>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Agent Console / API callers</a:t>
            </a:r>
            <a:endParaRPr lang="en-US" sz="1350" dirty="0"/>
          </a:p>
        </p:txBody>
      </p:sp>
      <p:sp>
        <p:nvSpPr>
          <p:cNvPr id="8" name="Text 5"/>
          <p:cNvSpPr/>
          <p:nvPr/>
        </p:nvSpPr>
        <p:spPr>
          <a:xfrm>
            <a:off x="2354580" y="1740103"/>
            <a:ext cx="5056632" cy="29718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profile_id · user · tenant_id in the turn request</a:t>
            </a:r>
            <a:endParaRPr lang="en-US" sz="1050" dirty="0"/>
          </a:p>
        </p:txBody>
      </p:sp>
      <p:sp>
        <p:nvSpPr>
          <p:cNvPr id="9" name="Shape 6"/>
          <p:cNvSpPr/>
          <p:nvPr/>
        </p:nvSpPr>
        <p:spPr>
          <a:xfrm>
            <a:off x="4439412" y="2011680"/>
            <a:ext cx="292608" cy="228600"/>
          </a:xfrm>
          <a:prstGeom prst="downArrow">
            <a:avLst/>
          </a:prstGeom>
          <a:solidFill>
            <a:srgbClr val="EC0016"/>
          </a:solidFill>
          <a:ln/>
        </p:spPr>
      </p:sp>
      <p:sp>
        <p:nvSpPr>
          <p:cNvPr id="10" name="Shape 7"/>
          <p:cNvSpPr/>
          <p:nvPr/>
        </p:nvSpPr>
        <p:spPr>
          <a:xfrm>
            <a:off x="1613916" y="2240280"/>
            <a:ext cx="5943600" cy="914400"/>
          </a:xfrm>
          <a:prstGeom prst="roundRect">
            <a:avLst>
              <a:gd name="adj" fmla="val 8000"/>
            </a:avLst>
          </a:prstGeom>
          <a:solidFill>
            <a:srgbClr val="0F0F0F"/>
          </a:solidFill>
          <a:ln/>
        </p:spPr>
      </p:sp>
      <p:sp>
        <p:nvSpPr>
          <p:cNvPr id="11" name="Shape 8"/>
          <p:cNvSpPr/>
          <p:nvPr/>
        </p:nvSpPr>
        <p:spPr>
          <a:xfrm>
            <a:off x="1760220" y="2468880"/>
            <a:ext cx="457200" cy="457200"/>
          </a:xfrm>
          <a:prstGeom prst="ellipse">
            <a:avLst/>
          </a:prstGeom>
          <a:solidFill>
            <a:srgbClr val="1E1E1E"/>
          </a:solidFill>
          <a:ln/>
        </p:spPr>
      </p:sp>
      <p:pic>
        <p:nvPicPr>
          <p:cNvPr id="12" name="Image 1" descr="preencoded.png">    </p:cNvPr>
          <p:cNvPicPr>
            <a:picLocks noChangeAspect="1"/>
          </p:cNvPicPr>
          <p:nvPr/>
        </p:nvPicPr>
        <p:blipFill>
          <a:blip r:embed="rId2"/>
          <a:stretch>
            <a:fillRect/>
          </a:stretch>
        </p:blipFill>
        <p:spPr>
          <a:xfrm>
            <a:off x="1883664" y="2592324"/>
            <a:ext cx="210312" cy="210312"/>
          </a:xfrm>
          <a:prstGeom prst="rect">
            <a:avLst/>
          </a:prstGeom>
        </p:spPr>
      </p:pic>
      <p:sp>
        <p:nvSpPr>
          <p:cNvPr id="13" name="Text 9"/>
          <p:cNvSpPr/>
          <p:nvPr/>
        </p:nvSpPr>
        <p:spPr>
          <a:xfrm>
            <a:off x="2363724" y="2313432"/>
            <a:ext cx="5047488" cy="420624"/>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DIGIT Harness API — FastAPI</a:t>
            </a:r>
            <a:endParaRPr lang="en-US" sz="1350" dirty="0"/>
          </a:p>
        </p:txBody>
      </p:sp>
      <p:sp>
        <p:nvSpPr>
          <p:cNvPr id="14" name="Text 10"/>
          <p:cNvSpPr/>
          <p:nvPr/>
        </p:nvSpPr>
        <p:spPr>
          <a:xfrm>
            <a:off x="2363724" y="2697480"/>
            <a:ext cx="5047488" cy="457200"/>
          </a:xfrm>
          <a:prstGeom prst="rect">
            <a:avLst/>
          </a:prstGeom>
          <a:noFill/>
          <a:ln/>
        </p:spPr>
        <p:txBody>
          <a:bodyPr wrap="square" lIns="0" tIns="0" rIns="0" bIns="0" rtlCol="0" anchor="t"/>
          <a:lstStyle/>
          <a:p>
            <a:pPr indent="0" marL="0">
              <a:lnSpc>
                <a:spcPct val="105000"/>
              </a:lnSpc>
              <a:buNone/>
            </a:pPr>
            <a:r>
              <a:rPr lang="en-US" sz="1050" dirty="0">
                <a:solidFill>
                  <a:srgbClr val="D9D9D9"/>
                </a:solidFill>
                <a:latin typeface="Arial" pitchFamily="34" charset="0"/>
                <a:ea typeface="Arial" pitchFamily="34" charset="-122"/>
                <a:cs typeface="Arial" pitchFamily="34" charset="-120"/>
              </a:rPr>
              <a:t>ToolRegistry · TurnService · SDK Runner (sdk_runner.py)</a:t>
            </a:r>
            <a:endParaRPr lang="en-US" sz="1050" dirty="0"/>
          </a:p>
        </p:txBody>
      </p:sp>
      <p:sp>
        <p:nvSpPr>
          <p:cNvPr id="15" name="Shape 11"/>
          <p:cNvSpPr/>
          <p:nvPr/>
        </p:nvSpPr>
        <p:spPr>
          <a:xfrm>
            <a:off x="4439412" y="3154680"/>
            <a:ext cx="292608" cy="228600"/>
          </a:xfrm>
          <a:prstGeom prst="downArrow">
            <a:avLst/>
          </a:prstGeom>
          <a:solidFill>
            <a:srgbClr val="EC0016"/>
          </a:solidFill>
          <a:ln/>
        </p:spPr>
      </p:sp>
      <p:sp>
        <p:nvSpPr>
          <p:cNvPr id="16" name="Shape 12"/>
          <p:cNvSpPr/>
          <p:nvPr/>
        </p:nvSpPr>
        <p:spPr>
          <a:xfrm>
            <a:off x="1613916" y="3383280"/>
            <a:ext cx="5943600" cy="914400"/>
          </a:xfrm>
          <a:prstGeom prst="roundRect">
            <a:avLst>
              <a:gd name="adj" fmla="val 8000"/>
            </a:avLst>
          </a:prstGeom>
          <a:solidFill>
            <a:srgbClr val="F4F4F4"/>
          </a:solidFill>
          <a:ln/>
        </p:spPr>
      </p:sp>
      <p:sp>
        <p:nvSpPr>
          <p:cNvPr id="17" name="Shape 13"/>
          <p:cNvSpPr/>
          <p:nvPr/>
        </p:nvSpPr>
        <p:spPr>
          <a:xfrm>
            <a:off x="1760220" y="3611880"/>
            <a:ext cx="457200" cy="457200"/>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1883664" y="3735324"/>
            <a:ext cx="210312" cy="210312"/>
          </a:xfrm>
          <a:prstGeom prst="rect">
            <a:avLst/>
          </a:prstGeom>
        </p:spPr>
      </p:pic>
      <p:sp>
        <p:nvSpPr>
          <p:cNvPr id="19" name="Text 14"/>
          <p:cNvSpPr/>
          <p:nvPr/>
        </p:nvSpPr>
        <p:spPr>
          <a:xfrm>
            <a:off x="2363724" y="3456432"/>
            <a:ext cx="5047488" cy="420624"/>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Agent Memory Package</a:t>
            </a:r>
            <a:endParaRPr lang="en-US" sz="1350" dirty="0"/>
          </a:p>
        </p:txBody>
      </p:sp>
      <p:sp>
        <p:nvSpPr>
          <p:cNvPr id="20" name="Text 15"/>
          <p:cNvSpPr/>
          <p:nvPr/>
        </p:nvSpPr>
        <p:spPr>
          <a:xfrm>
            <a:off x="2363724" y="3840480"/>
            <a:ext cx="5047488" cy="45720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recall · store · semantic · extraction · tool  (src/agent_factory/memory)</a:t>
            </a:r>
            <a:endParaRPr lang="en-US" sz="1050" dirty="0"/>
          </a:p>
        </p:txBody>
      </p:sp>
      <p:sp>
        <p:nvSpPr>
          <p:cNvPr id="21" name="Shape 16"/>
          <p:cNvSpPr/>
          <p:nvPr/>
        </p:nvSpPr>
        <p:spPr>
          <a:xfrm>
            <a:off x="4439412" y="4297680"/>
            <a:ext cx="292608" cy="228600"/>
          </a:xfrm>
          <a:prstGeom prst="downArrow">
            <a:avLst/>
          </a:prstGeom>
          <a:solidFill>
            <a:srgbClr val="EC0016"/>
          </a:solidFill>
          <a:ln/>
        </p:spPr>
      </p:sp>
      <p:sp>
        <p:nvSpPr>
          <p:cNvPr id="22" name="Shape 17"/>
          <p:cNvSpPr/>
          <p:nvPr/>
        </p:nvSpPr>
        <p:spPr>
          <a:xfrm>
            <a:off x="1613916" y="4526280"/>
            <a:ext cx="5943600" cy="685800"/>
          </a:xfrm>
          <a:prstGeom prst="roundRect">
            <a:avLst>
              <a:gd name="adj" fmla="val 10667"/>
            </a:avLst>
          </a:prstGeom>
          <a:solidFill>
            <a:srgbClr val="0F0F0F"/>
          </a:solidFill>
          <a:ln/>
        </p:spPr>
      </p:sp>
      <p:sp>
        <p:nvSpPr>
          <p:cNvPr id="23" name="Shape 18"/>
          <p:cNvSpPr/>
          <p:nvPr/>
        </p:nvSpPr>
        <p:spPr>
          <a:xfrm>
            <a:off x="1760220" y="4640580"/>
            <a:ext cx="457200" cy="457200"/>
          </a:xfrm>
          <a:prstGeom prst="ellipse">
            <a:avLst/>
          </a:prstGeom>
          <a:solidFill>
            <a:srgbClr val="1E1E1E"/>
          </a:solidFill>
          <a:ln/>
        </p:spPr>
      </p:sp>
      <p:pic>
        <p:nvPicPr>
          <p:cNvPr id="24" name="Image 3" descr="preencoded.png">    </p:cNvPr>
          <p:cNvPicPr>
            <a:picLocks noChangeAspect="1"/>
          </p:cNvPicPr>
          <p:nvPr/>
        </p:nvPicPr>
        <p:blipFill>
          <a:blip r:embed="rId4"/>
          <a:stretch>
            <a:fillRect/>
          </a:stretch>
        </p:blipFill>
        <p:spPr>
          <a:xfrm>
            <a:off x="1883664" y="4764024"/>
            <a:ext cx="210312" cy="210312"/>
          </a:xfrm>
          <a:prstGeom prst="rect">
            <a:avLst/>
          </a:prstGeom>
        </p:spPr>
      </p:pic>
      <p:sp>
        <p:nvSpPr>
          <p:cNvPr id="25" name="Text 19"/>
          <p:cNvSpPr/>
          <p:nvPr/>
        </p:nvSpPr>
        <p:spPr>
          <a:xfrm>
            <a:off x="2363724" y="4599432"/>
            <a:ext cx="5047488" cy="315468"/>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Azure Postgres — existing database</a:t>
            </a:r>
            <a:endParaRPr lang="en-US" sz="1350" dirty="0"/>
          </a:p>
        </p:txBody>
      </p:sp>
      <p:sp>
        <p:nvSpPr>
          <p:cNvPr id="26" name="Text 20"/>
          <p:cNvSpPr/>
          <p:nvPr/>
        </p:nvSpPr>
        <p:spPr>
          <a:xfrm>
            <a:off x="2363724" y="4887468"/>
            <a:ext cx="5047488" cy="342900"/>
          </a:xfrm>
          <a:prstGeom prst="rect">
            <a:avLst/>
          </a:prstGeom>
          <a:noFill/>
          <a:ln/>
        </p:spPr>
        <p:txBody>
          <a:bodyPr wrap="square" lIns="0" tIns="0" rIns="0" bIns="0" rtlCol="0" anchor="t"/>
          <a:lstStyle/>
          <a:p>
            <a:pPr indent="0" marL="0">
              <a:lnSpc>
                <a:spcPct val="105000"/>
              </a:lnSpc>
              <a:buNone/>
            </a:pPr>
            <a:r>
              <a:rPr lang="en-US" sz="1050" dirty="0">
                <a:solidFill>
                  <a:srgbClr val="D9D9D9"/>
                </a:solidFill>
                <a:latin typeface="Arial" pitchFamily="34" charset="0"/>
                <a:ea typeface="Arial" pitchFamily="34" charset="-122"/>
                <a:cs typeface="Arial" pitchFamily="34" charset="-120"/>
              </a:rPr>
              <a:t>agent_memory_entries (pgvector) · agent_memory_user_models</a:t>
            </a:r>
            <a:endParaRPr lang="en-US" sz="1050" dirty="0"/>
          </a:p>
        </p:txBody>
      </p:sp>
      <p:sp>
        <p:nvSpPr>
          <p:cNvPr id="27" name="Shape 21"/>
          <p:cNvSpPr/>
          <p:nvPr/>
        </p:nvSpPr>
        <p:spPr>
          <a:xfrm>
            <a:off x="7575804" y="3712464"/>
            <a:ext cx="256032" cy="256032"/>
          </a:xfrm>
          <a:prstGeom prst="rightArrow">
            <a:avLst/>
          </a:prstGeom>
          <a:solidFill>
            <a:srgbClr val="EC0016"/>
          </a:solidFill>
          <a:ln/>
        </p:spPr>
      </p:sp>
      <p:sp>
        <p:nvSpPr>
          <p:cNvPr id="28" name="Shape 22"/>
          <p:cNvSpPr/>
          <p:nvPr/>
        </p:nvSpPr>
        <p:spPr>
          <a:xfrm>
            <a:off x="7831836" y="3383280"/>
            <a:ext cx="3808476" cy="914400"/>
          </a:xfrm>
          <a:prstGeom prst="roundRect">
            <a:avLst>
              <a:gd name="adj" fmla="val 8000"/>
            </a:avLst>
          </a:prstGeom>
          <a:solidFill>
            <a:srgbClr val="F4F4F4"/>
          </a:solidFill>
          <a:ln/>
        </p:spPr>
      </p:sp>
      <p:sp>
        <p:nvSpPr>
          <p:cNvPr id="29" name="Shape 23"/>
          <p:cNvSpPr/>
          <p:nvPr/>
        </p:nvSpPr>
        <p:spPr>
          <a:xfrm>
            <a:off x="7978140" y="3611880"/>
            <a:ext cx="457200" cy="457200"/>
          </a:xfrm>
          <a:prstGeom prst="ellipse">
            <a:avLst/>
          </a:prstGeom>
          <a:solidFill>
            <a:srgbClr val="FFFFFF"/>
          </a:solidFill>
          <a:ln/>
        </p:spPr>
      </p:sp>
      <p:pic>
        <p:nvPicPr>
          <p:cNvPr id="30" name="Image 4" descr="preencoded.png">    </p:cNvPr>
          <p:cNvPicPr>
            <a:picLocks noChangeAspect="1"/>
          </p:cNvPicPr>
          <p:nvPr/>
        </p:nvPicPr>
        <p:blipFill>
          <a:blip r:embed="rId5"/>
          <a:stretch>
            <a:fillRect/>
          </a:stretch>
        </p:blipFill>
        <p:spPr>
          <a:xfrm>
            <a:off x="8101584" y="3735324"/>
            <a:ext cx="210312" cy="210312"/>
          </a:xfrm>
          <a:prstGeom prst="rect">
            <a:avLst/>
          </a:prstGeom>
        </p:spPr>
      </p:pic>
      <p:sp>
        <p:nvSpPr>
          <p:cNvPr id="31" name="Text 24"/>
          <p:cNvSpPr/>
          <p:nvPr/>
        </p:nvSpPr>
        <p:spPr>
          <a:xfrm>
            <a:off x="8581644" y="3456432"/>
            <a:ext cx="2912364" cy="420624"/>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Azure OpenAI</a:t>
            </a:r>
            <a:endParaRPr lang="en-US" sz="1350" dirty="0"/>
          </a:p>
        </p:txBody>
      </p:sp>
      <p:sp>
        <p:nvSpPr>
          <p:cNvPr id="32" name="Text 25"/>
          <p:cNvSpPr/>
          <p:nvPr/>
        </p:nvSpPr>
        <p:spPr>
          <a:xfrm>
            <a:off x="8581644" y="3840480"/>
            <a:ext cx="2912364" cy="45720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text-embedding-3-large (recall) · gpt-5.4-mini (write-gate decisions)</a:t>
            </a:r>
            <a:endParaRPr lang="en-US" sz="1050" dirty="0"/>
          </a:p>
        </p:txBody>
      </p:sp>
      <p:sp>
        <p:nvSpPr>
          <p:cNvPr id="33" name="Text 26"/>
          <p:cNvSpPr/>
          <p:nvPr/>
        </p:nvSpPr>
        <p:spPr>
          <a:xfrm>
            <a:off x="548640" y="5440680"/>
            <a:ext cx="11064240" cy="365760"/>
          </a:xfrm>
          <a:prstGeom prst="rect">
            <a:avLst/>
          </a:prstGeom>
          <a:noFill/>
          <a:ln/>
        </p:spPr>
        <p:txBody>
          <a:bodyPr wrap="square" rtlCol="0" anchor="ctr"/>
          <a:lstStyle/>
          <a:p>
            <a:pPr indent="0" marL="0">
              <a:buNone/>
            </a:pPr>
            <a:r>
              <a:rPr lang="en-US" sz="1250" i="1" dirty="0">
                <a:solidFill>
                  <a:srgbClr val="5F5F5F"/>
                </a:solidFill>
                <a:latin typeface="Arial" pitchFamily="34" charset="0"/>
                <a:ea typeface="Arial" pitchFamily="34" charset="-122"/>
                <a:cs typeface="Arial" pitchFamily="34" charset="-120"/>
              </a:rPr>
              <a:t>Shared DB connection pool — no private engine  ·  schema versioned with Alembic — reviewed baseline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64240" cy="502920"/>
          </a:xfrm>
          <a:prstGeom prst="rect">
            <a:avLst/>
          </a:prstGeom>
          <a:noFill/>
          <a:ln/>
        </p:spPr>
        <p:txBody>
          <a:bodyPr wrap="square" rtlCol="0" anchor="ctr"/>
          <a:lstStyle/>
          <a:p>
            <a:pPr indent="0" marL="0">
              <a:buNone/>
            </a:pPr>
            <a:r>
              <a:rPr lang="en-US" sz="3000" b="1" dirty="0">
                <a:solidFill>
                  <a:srgbClr val="1A1A1A"/>
                </a:solidFill>
                <a:latin typeface="Arial" pitchFamily="34" charset="0"/>
                <a:ea typeface="Arial" pitchFamily="34" charset="-122"/>
                <a:cs typeface="Arial" pitchFamily="34" charset="-120"/>
              </a:rPr>
              <a:t>Anatomy of one turn</a:t>
            </a:r>
            <a:endParaRPr lang="en-US" sz="3000" dirty="0"/>
          </a:p>
        </p:txBody>
      </p:sp>
      <p:sp>
        <p:nvSpPr>
          <p:cNvPr id="3" name="Text 1"/>
          <p:cNvSpPr/>
          <p:nvPr/>
        </p:nvSpPr>
        <p:spPr>
          <a:xfrm>
            <a:off x="548640" y="960120"/>
            <a:ext cx="11064240" cy="292608"/>
          </a:xfrm>
          <a:prstGeom prst="rect">
            <a:avLst/>
          </a:prstGeom>
          <a:noFill/>
          <a:ln/>
        </p:spPr>
        <p:txBody>
          <a:bodyPr wrap="square" rtlCol="0" anchor="ctr"/>
          <a:lstStyle/>
          <a:p>
            <a:pPr indent="0" marL="0">
              <a:buNone/>
            </a:pPr>
            <a:r>
              <a:rPr lang="en-US" sz="1300" i="1" dirty="0">
                <a:solidFill>
                  <a:srgbClr val="5F5F5F"/>
                </a:solidFill>
                <a:latin typeface="Arial" pitchFamily="34" charset="0"/>
                <a:ea typeface="Arial" pitchFamily="34" charset="-122"/>
                <a:cs typeface="Arial" pitchFamily="34" charset="-120"/>
              </a:rPr>
              <a:t>Every step is logged; nothing here can block or break a turn.</a:t>
            </a:r>
            <a:endParaRPr lang="en-US" sz="1300" dirty="0"/>
          </a:p>
        </p:txBody>
      </p:sp>
      <p:sp>
        <p:nvSpPr>
          <p:cNvPr id="4" name="Shape 2"/>
          <p:cNvSpPr/>
          <p:nvPr/>
        </p:nvSpPr>
        <p:spPr>
          <a:xfrm>
            <a:off x="2436876" y="1325880"/>
            <a:ext cx="7315200" cy="594360"/>
          </a:xfrm>
          <a:prstGeom prst="roundRect">
            <a:avLst>
              <a:gd name="adj" fmla="val 12308"/>
            </a:avLst>
          </a:prstGeom>
          <a:solidFill>
            <a:srgbClr val="F4F4F4"/>
          </a:solidFill>
          <a:ln/>
        </p:spPr>
      </p:sp>
      <p:sp>
        <p:nvSpPr>
          <p:cNvPr id="5" name="Shape 3"/>
          <p:cNvSpPr/>
          <p:nvPr/>
        </p:nvSpPr>
        <p:spPr>
          <a:xfrm>
            <a:off x="2583180" y="1399032"/>
            <a:ext cx="448056" cy="44805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2704155" y="1520007"/>
            <a:ext cx="206106" cy="206106"/>
          </a:xfrm>
          <a:prstGeom prst="rect">
            <a:avLst/>
          </a:prstGeom>
        </p:spPr>
      </p:pic>
      <p:sp>
        <p:nvSpPr>
          <p:cNvPr id="7" name="Text 4"/>
          <p:cNvSpPr/>
          <p:nvPr/>
        </p:nvSpPr>
        <p:spPr>
          <a:xfrm>
            <a:off x="3177540" y="1399032"/>
            <a:ext cx="6428232" cy="273406"/>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① Turn starts → recall runs</a:t>
            </a:r>
            <a:endParaRPr lang="en-US" sz="1350" dirty="0"/>
          </a:p>
        </p:txBody>
      </p:sp>
      <p:sp>
        <p:nvSpPr>
          <p:cNvPr id="8" name="Text 5"/>
          <p:cNvSpPr/>
          <p:nvPr/>
        </p:nvSpPr>
        <p:spPr>
          <a:xfrm>
            <a:off x="3177540" y="1648663"/>
            <a:ext cx="6428232" cy="29718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Flag on → fetch this scope's memories, rank by relevance + recency</a:t>
            </a:r>
            <a:endParaRPr lang="en-US" sz="1050" dirty="0"/>
          </a:p>
        </p:txBody>
      </p:sp>
      <p:sp>
        <p:nvSpPr>
          <p:cNvPr id="9" name="Shape 6"/>
          <p:cNvSpPr/>
          <p:nvPr/>
        </p:nvSpPr>
        <p:spPr>
          <a:xfrm>
            <a:off x="5948172" y="1920240"/>
            <a:ext cx="292608" cy="201168"/>
          </a:xfrm>
          <a:prstGeom prst="downArrow">
            <a:avLst/>
          </a:prstGeom>
          <a:solidFill>
            <a:srgbClr val="EC0016"/>
          </a:solidFill>
          <a:ln/>
        </p:spPr>
      </p:sp>
      <p:sp>
        <p:nvSpPr>
          <p:cNvPr id="10" name="Shape 7"/>
          <p:cNvSpPr/>
          <p:nvPr/>
        </p:nvSpPr>
        <p:spPr>
          <a:xfrm>
            <a:off x="2436876" y="2121408"/>
            <a:ext cx="7315200" cy="594360"/>
          </a:xfrm>
          <a:prstGeom prst="roundRect">
            <a:avLst>
              <a:gd name="adj" fmla="val 12308"/>
            </a:avLst>
          </a:prstGeom>
          <a:solidFill>
            <a:srgbClr val="F4F4F4"/>
          </a:solidFill>
          <a:ln/>
        </p:spPr>
      </p:sp>
      <p:sp>
        <p:nvSpPr>
          <p:cNvPr id="11" name="Shape 8"/>
          <p:cNvSpPr/>
          <p:nvPr/>
        </p:nvSpPr>
        <p:spPr>
          <a:xfrm>
            <a:off x="2583180" y="2194560"/>
            <a:ext cx="448056" cy="448056"/>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2704155" y="2315535"/>
            <a:ext cx="206106" cy="206106"/>
          </a:xfrm>
          <a:prstGeom prst="rect">
            <a:avLst/>
          </a:prstGeom>
        </p:spPr>
      </p:pic>
      <p:sp>
        <p:nvSpPr>
          <p:cNvPr id="13" name="Text 9"/>
          <p:cNvSpPr/>
          <p:nvPr/>
        </p:nvSpPr>
        <p:spPr>
          <a:xfrm>
            <a:off x="3177540" y="2194560"/>
            <a:ext cx="6428232" cy="273406"/>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② Added to context — fenced as data</a:t>
            </a:r>
            <a:endParaRPr lang="en-US" sz="1350" dirty="0"/>
          </a:p>
        </p:txBody>
      </p:sp>
      <p:sp>
        <p:nvSpPr>
          <p:cNvPr id="14" name="Text 10"/>
          <p:cNvSpPr/>
          <p:nvPr/>
        </p:nvSpPr>
        <p:spPr>
          <a:xfrm>
            <a:off x="3177540" y="2444191"/>
            <a:ext cx="6428232" cy="29718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Today: appended to instructions. Next: a dedicated input item (see What's next).</a:t>
            </a:r>
            <a:endParaRPr lang="en-US" sz="1050" dirty="0"/>
          </a:p>
        </p:txBody>
      </p:sp>
      <p:sp>
        <p:nvSpPr>
          <p:cNvPr id="15" name="Shape 11"/>
          <p:cNvSpPr/>
          <p:nvPr/>
        </p:nvSpPr>
        <p:spPr>
          <a:xfrm>
            <a:off x="5948172" y="2715768"/>
            <a:ext cx="292608" cy="201168"/>
          </a:xfrm>
          <a:prstGeom prst="downArrow">
            <a:avLst/>
          </a:prstGeom>
          <a:solidFill>
            <a:srgbClr val="EC0016"/>
          </a:solidFill>
          <a:ln/>
        </p:spPr>
      </p:sp>
      <p:sp>
        <p:nvSpPr>
          <p:cNvPr id="16" name="Shape 12"/>
          <p:cNvSpPr/>
          <p:nvPr/>
        </p:nvSpPr>
        <p:spPr>
          <a:xfrm>
            <a:off x="2436876" y="2916936"/>
            <a:ext cx="7315200" cy="502920"/>
          </a:xfrm>
          <a:prstGeom prst="roundRect">
            <a:avLst>
              <a:gd name="adj" fmla="val 14545"/>
            </a:avLst>
          </a:prstGeom>
          <a:solidFill>
            <a:srgbClr val="F4F4F4"/>
          </a:solidFill>
          <a:ln/>
        </p:spPr>
      </p:sp>
      <p:sp>
        <p:nvSpPr>
          <p:cNvPr id="17" name="Shape 13"/>
          <p:cNvSpPr/>
          <p:nvPr/>
        </p:nvSpPr>
        <p:spPr>
          <a:xfrm>
            <a:off x="2583180" y="2990088"/>
            <a:ext cx="356616" cy="356616"/>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2679466" y="3086374"/>
            <a:ext cx="164043" cy="164043"/>
          </a:xfrm>
          <a:prstGeom prst="rect">
            <a:avLst/>
          </a:prstGeom>
        </p:spPr>
      </p:pic>
      <p:sp>
        <p:nvSpPr>
          <p:cNvPr id="19" name="Text 14"/>
          <p:cNvSpPr/>
          <p:nvPr/>
        </p:nvSpPr>
        <p:spPr>
          <a:xfrm>
            <a:off x="3086100" y="2990088"/>
            <a:ext cx="6519672" cy="231343"/>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③ Model responds</a:t>
            </a:r>
            <a:endParaRPr lang="en-US" sz="1350" dirty="0"/>
          </a:p>
        </p:txBody>
      </p:sp>
      <p:sp>
        <p:nvSpPr>
          <p:cNvPr id="20" name="Text 15"/>
          <p:cNvSpPr/>
          <p:nvPr/>
        </p:nvSpPr>
        <p:spPr>
          <a:xfrm>
            <a:off x="3086100" y="3201314"/>
            <a:ext cx="6519672" cy="25146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 “Recalled N memories” indicator</a:t>
            </a:r>
            <a:endParaRPr lang="en-US" sz="1050" dirty="0"/>
          </a:p>
        </p:txBody>
      </p:sp>
      <p:sp>
        <p:nvSpPr>
          <p:cNvPr id="21" name="Shape 16"/>
          <p:cNvSpPr/>
          <p:nvPr/>
        </p:nvSpPr>
        <p:spPr>
          <a:xfrm>
            <a:off x="5948172" y="3419856"/>
            <a:ext cx="292608" cy="201168"/>
          </a:xfrm>
          <a:prstGeom prst="downArrow">
            <a:avLst/>
          </a:prstGeom>
          <a:solidFill>
            <a:srgbClr val="EC0016"/>
          </a:solidFill>
          <a:ln/>
        </p:spPr>
      </p:sp>
      <p:sp>
        <p:nvSpPr>
          <p:cNvPr id="22" name="Shape 17"/>
          <p:cNvSpPr/>
          <p:nvPr/>
        </p:nvSpPr>
        <p:spPr>
          <a:xfrm>
            <a:off x="2436876" y="3621024"/>
            <a:ext cx="3474720" cy="685800"/>
          </a:xfrm>
          <a:prstGeom prst="roundRect">
            <a:avLst>
              <a:gd name="adj" fmla="val 10667"/>
            </a:avLst>
          </a:prstGeom>
          <a:solidFill>
            <a:srgbClr val="F4F4F4"/>
          </a:solidFill>
          <a:ln/>
        </p:spPr>
      </p:sp>
      <p:sp>
        <p:nvSpPr>
          <p:cNvPr id="23" name="Shape 18"/>
          <p:cNvSpPr/>
          <p:nvPr/>
        </p:nvSpPr>
        <p:spPr>
          <a:xfrm>
            <a:off x="2583180" y="3735324"/>
            <a:ext cx="457200" cy="457200"/>
          </a:xfrm>
          <a:prstGeom prst="ellipse">
            <a:avLst/>
          </a:prstGeom>
          <a:solidFill>
            <a:srgbClr val="FFFFFF"/>
          </a:solidFill>
          <a:ln/>
        </p:spPr>
      </p:sp>
      <p:pic>
        <p:nvPicPr>
          <p:cNvPr id="24" name="Image 3" descr="preencoded.png">    </p:cNvPr>
          <p:cNvPicPr>
            <a:picLocks noChangeAspect="1"/>
          </p:cNvPicPr>
          <p:nvPr/>
        </p:nvPicPr>
        <p:blipFill>
          <a:blip r:embed="rId4"/>
          <a:stretch>
            <a:fillRect/>
          </a:stretch>
        </p:blipFill>
        <p:spPr>
          <a:xfrm>
            <a:off x="2706624" y="3858768"/>
            <a:ext cx="210312" cy="210312"/>
          </a:xfrm>
          <a:prstGeom prst="rect">
            <a:avLst/>
          </a:prstGeom>
        </p:spPr>
      </p:pic>
      <p:sp>
        <p:nvSpPr>
          <p:cNvPr id="25" name="Text 19"/>
          <p:cNvSpPr/>
          <p:nvPr/>
        </p:nvSpPr>
        <p:spPr>
          <a:xfrm>
            <a:off x="3186684" y="3694176"/>
            <a:ext cx="2578608" cy="315468"/>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④a Explicit save</a:t>
            </a:r>
            <a:endParaRPr lang="en-US" sz="1350" dirty="0"/>
          </a:p>
        </p:txBody>
      </p:sp>
      <p:sp>
        <p:nvSpPr>
          <p:cNvPr id="26" name="Text 20"/>
          <p:cNvSpPr/>
          <p:nvPr/>
        </p:nvSpPr>
        <p:spPr>
          <a:xfrm>
            <a:off x="3186684" y="3982212"/>
            <a:ext cx="2578608" cy="34290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save_memory tool call</a:t>
            </a:r>
            <a:endParaRPr lang="en-US" sz="1050" dirty="0"/>
          </a:p>
        </p:txBody>
      </p:sp>
      <p:sp>
        <p:nvSpPr>
          <p:cNvPr id="27" name="Shape 21"/>
          <p:cNvSpPr/>
          <p:nvPr/>
        </p:nvSpPr>
        <p:spPr>
          <a:xfrm>
            <a:off x="6277356" y="3621024"/>
            <a:ext cx="3474720" cy="685800"/>
          </a:xfrm>
          <a:prstGeom prst="roundRect">
            <a:avLst>
              <a:gd name="adj" fmla="val 10667"/>
            </a:avLst>
          </a:prstGeom>
          <a:solidFill>
            <a:srgbClr val="F4F4F4"/>
          </a:solidFill>
          <a:ln/>
        </p:spPr>
      </p:sp>
      <p:sp>
        <p:nvSpPr>
          <p:cNvPr id="28" name="Shape 22"/>
          <p:cNvSpPr/>
          <p:nvPr/>
        </p:nvSpPr>
        <p:spPr>
          <a:xfrm>
            <a:off x="6423660" y="3735324"/>
            <a:ext cx="457200" cy="457200"/>
          </a:xfrm>
          <a:prstGeom prst="ellipse">
            <a:avLst/>
          </a:prstGeom>
          <a:solidFill>
            <a:srgbClr val="FFFFFF"/>
          </a:solidFill>
          <a:ln/>
        </p:spPr>
      </p:sp>
      <p:pic>
        <p:nvPicPr>
          <p:cNvPr id="29" name="Image 4" descr="preencoded.png">    </p:cNvPr>
          <p:cNvPicPr>
            <a:picLocks noChangeAspect="1"/>
          </p:cNvPicPr>
          <p:nvPr/>
        </p:nvPicPr>
        <p:blipFill>
          <a:blip r:embed="rId5"/>
          <a:stretch>
            <a:fillRect/>
          </a:stretch>
        </p:blipFill>
        <p:spPr>
          <a:xfrm>
            <a:off x="6547104" y="3858768"/>
            <a:ext cx="210312" cy="210312"/>
          </a:xfrm>
          <a:prstGeom prst="rect">
            <a:avLst/>
          </a:prstGeom>
        </p:spPr>
      </p:pic>
      <p:sp>
        <p:nvSpPr>
          <p:cNvPr id="30" name="Text 23"/>
          <p:cNvSpPr/>
          <p:nvPr/>
        </p:nvSpPr>
        <p:spPr>
          <a:xfrm>
            <a:off x="7027164" y="3694176"/>
            <a:ext cx="2578608" cy="315468"/>
          </a:xfrm>
          <a:prstGeom prst="rect">
            <a:avLst/>
          </a:prstGeom>
          <a:noFill/>
          <a:ln/>
        </p:spPr>
        <p:txBody>
          <a:bodyPr wrap="square" lIns="0" tIns="0" rIns="0" bIns="0" rtlCol="0" anchor="t"/>
          <a:lstStyle/>
          <a:p>
            <a:pPr indent="0" marL="0">
              <a:buNone/>
            </a:pPr>
            <a:r>
              <a:rPr lang="en-US" sz="1350" b="1" dirty="0">
                <a:solidFill>
                  <a:srgbClr val="1A1A1A"/>
                </a:solidFill>
                <a:latin typeface="Arial" pitchFamily="34" charset="0"/>
                <a:ea typeface="Arial" pitchFamily="34" charset="-122"/>
                <a:cs typeface="Arial" pitchFamily="34" charset="-120"/>
              </a:rPr>
              <a:t>④b Background extraction</a:t>
            </a:r>
            <a:endParaRPr lang="en-US" sz="1350" dirty="0"/>
          </a:p>
        </p:txBody>
      </p:sp>
      <p:sp>
        <p:nvSpPr>
          <p:cNvPr id="31" name="Text 24"/>
          <p:cNvSpPr/>
          <p:nvPr/>
        </p:nvSpPr>
        <p:spPr>
          <a:xfrm>
            <a:off x="7027164" y="3982212"/>
            <a:ext cx="2578608" cy="342900"/>
          </a:xfrm>
          <a:prstGeom prst="rect">
            <a:avLst/>
          </a:prstGeom>
          <a:noFill/>
          <a:ln/>
        </p:spPr>
        <p:txBody>
          <a:bodyPr wrap="square" lIns="0" tIns="0" rIns="0" bIns="0" rtlCol="0" anchor="t"/>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Post-turn, fire-and-forget</a:t>
            </a:r>
            <a:endParaRPr lang="en-US" sz="1050" dirty="0"/>
          </a:p>
        </p:txBody>
      </p:sp>
      <p:sp>
        <p:nvSpPr>
          <p:cNvPr id="32" name="Shape 25"/>
          <p:cNvSpPr/>
          <p:nvPr/>
        </p:nvSpPr>
        <p:spPr>
          <a:xfrm>
            <a:off x="4027932" y="4306824"/>
            <a:ext cx="292608" cy="201168"/>
          </a:xfrm>
          <a:prstGeom prst="downArrow">
            <a:avLst/>
          </a:prstGeom>
          <a:solidFill>
            <a:srgbClr val="EC0016"/>
          </a:solidFill>
          <a:ln/>
        </p:spPr>
      </p:sp>
      <p:sp>
        <p:nvSpPr>
          <p:cNvPr id="33" name="Shape 26"/>
          <p:cNvSpPr/>
          <p:nvPr/>
        </p:nvSpPr>
        <p:spPr>
          <a:xfrm>
            <a:off x="7868412" y="4306824"/>
            <a:ext cx="292608" cy="201168"/>
          </a:xfrm>
          <a:prstGeom prst="downArrow">
            <a:avLst/>
          </a:prstGeom>
          <a:solidFill>
            <a:srgbClr val="EC0016"/>
          </a:solidFill>
          <a:ln/>
        </p:spPr>
      </p:sp>
      <p:sp>
        <p:nvSpPr>
          <p:cNvPr id="34" name="Shape 27"/>
          <p:cNvSpPr/>
          <p:nvPr/>
        </p:nvSpPr>
        <p:spPr>
          <a:xfrm>
            <a:off x="2436876" y="4507992"/>
            <a:ext cx="7315200" cy="594360"/>
          </a:xfrm>
          <a:prstGeom prst="roundRect">
            <a:avLst>
              <a:gd name="adj" fmla="val 12308"/>
            </a:avLst>
          </a:prstGeom>
          <a:solidFill>
            <a:srgbClr val="0F0F0F"/>
          </a:solidFill>
          <a:ln/>
        </p:spPr>
      </p:sp>
      <p:sp>
        <p:nvSpPr>
          <p:cNvPr id="35" name="Shape 28"/>
          <p:cNvSpPr/>
          <p:nvPr/>
        </p:nvSpPr>
        <p:spPr>
          <a:xfrm>
            <a:off x="2583180" y="4581144"/>
            <a:ext cx="448056" cy="448056"/>
          </a:xfrm>
          <a:prstGeom prst="ellipse">
            <a:avLst/>
          </a:prstGeom>
          <a:solidFill>
            <a:srgbClr val="1E1E1E"/>
          </a:solidFill>
          <a:ln/>
        </p:spPr>
      </p:sp>
      <p:pic>
        <p:nvPicPr>
          <p:cNvPr id="36" name="Image 5" descr="preencoded.png">    </p:cNvPr>
          <p:cNvPicPr>
            <a:picLocks noChangeAspect="1"/>
          </p:cNvPicPr>
          <p:nvPr/>
        </p:nvPicPr>
        <p:blipFill>
          <a:blip r:embed="rId6"/>
          <a:stretch>
            <a:fillRect/>
          </a:stretch>
        </p:blipFill>
        <p:spPr>
          <a:xfrm>
            <a:off x="2704155" y="4702119"/>
            <a:ext cx="206106" cy="206106"/>
          </a:xfrm>
          <a:prstGeom prst="rect">
            <a:avLst/>
          </a:prstGeom>
        </p:spPr>
      </p:pic>
      <p:sp>
        <p:nvSpPr>
          <p:cNvPr id="37" name="Text 29"/>
          <p:cNvSpPr/>
          <p:nvPr/>
        </p:nvSpPr>
        <p:spPr>
          <a:xfrm>
            <a:off x="3177540" y="4581144"/>
            <a:ext cx="6428232" cy="273406"/>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⑤ The write gate</a:t>
            </a:r>
            <a:endParaRPr lang="en-US" sz="1350" dirty="0"/>
          </a:p>
        </p:txBody>
      </p:sp>
      <p:sp>
        <p:nvSpPr>
          <p:cNvPr id="38" name="Text 30"/>
          <p:cNvSpPr/>
          <p:nvPr/>
        </p:nvSpPr>
        <p:spPr>
          <a:xfrm>
            <a:off x="3177540" y="4830775"/>
            <a:ext cx="6428232" cy="297180"/>
          </a:xfrm>
          <a:prstGeom prst="rect">
            <a:avLst/>
          </a:prstGeom>
          <a:noFill/>
          <a:ln/>
        </p:spPr>
        <p:txBody>
          <a:bodyPr wrap="square" lIns="0" tIns="0" rIns="0" bIns="0" rtlCol="0" anchor="t"/>
          <a:lstStyle/>
          <a:p>
            <a:pPr indent="0" marL="0">
              <a:lnSpc>
                <a:spcPct val="105000"/>
              </a:lnSpc>
              <a:buNone/>
            </a:pPr>
            <a:r>
              <a:rPr lang="en-US" sz="1050" dirty="0">
                <a:solidFill>
                  <a:srgbClr val="D9D9D9"/>
                </a:solidFill>
                <a:latin typeface="Arial" pitchFamily="34" charset="0"/>
                <a:ea typeface="Arial" pitchFamily="34" charset="-122"/>
                <a:cs typeface="Arial" pitchFamily="34" charset="-120"/>
              </a:rPr>
              <a:t>Dedup → similarity tiers → small-model decide</a:t>
            </a:r>
            <a:endParaRPr lang="en-US" sz="1050" dirty="0"/>
          </a:p>
        </p:txBody>
      </p:sp>
      <p:sp>
        <p:nvSpPr>
          <p:cNvPr id="39" name="Shape 31"/>
          <p:cNvSpPr/>
          <p:nvPr/>
        </p:nvSpPr>
        <p:spPr>
          <a:xfrm>
            <a:off x="5948172" y="5102352"/>
            <a:ext cx="292608" cy="201168"/>
          </a:xfrm>
          <a:prstGeom prst="downArrow">
            <a:avLst/>
          </a:prstGeom>
          <a:solidFill>
            <a:srgbClr val="EC0016"/>
          </a:solidFill>
          <a:ln/>
        </p:spPr>
      </p:sp>
      <p:sp>
        <p:nvSpPr>
          <p:cNvPr id="40" name="Shape 32"/>
          <p:cNvSpPr/>
          <p:nvPr/>
        </p:nvSpPr>
        <p:spPr>
          <a:xfrm>
            <a:off x="2436876" y="5303520"/>
            <a:ext cx="7315200" cy="502920"/>
          </a:xfrm>
          <a:prstGeom prst="roundRect">
            <a:avLst>
              <a:gd name="adj" fmla="val 14545"/>
            </a:avLst>
          </a:prstGeom>
          <a:solidFill>
            <a:srgbClr val="0F0F0F"/>
          </a:solidFill>
          <a:ln/>
        </p:spPr>
      </p:sp>
      <p:sp>
        <p:nvSpPr>
          <p:cNvPr id="41" name="Shape 33"/>
          <p:cNvSpPr/>
          <p:nvPr/>
        </p:nvSpPr>
        <p:spPr>
          <a:xfrm>
            <a:off x="2583180" y="5376672"/>
            <a:ext cx="356616" cy="356616"/>
          </a:xfrm>
          <a:prstGeom prst="ellipse">
            <a:avLst/>
          </a:prstGeom>
          <a:solidFill>
            <a:srgbClr val="1E1E1E"/>
          </a:solidFill>
          <a:ln/>
        </p:spPr>
      </p:sp>
      <p:pic>
        <p:nvPicPr>
          <p:cNvPr id="42" name="Image 6" descr="preencoded.png">    </p:cNvPr>
          <p:cNvPicPr>
            <a:picLocks noChangeAspect="1"/>
          </p:cNvPicPr>
          <p:nvPr/>
        </p:nvPicPr>
        <p:blipFill>
          <a:blip r:embed="rId7"/>
          <a:stretch>
            <a:fillRect/>
          </a:stretch>
        </p:blipFill>
        <p:spPr>
          <a:xfrm>
            <a:off x="2679466" y="5472958"/>
            <a:ext cx="164043" cy="164043"/>
          </a:xfrm>
          <a:prstGeom prst="rect">
            <a:avLst/>
          </a:prstGeom>
        </p:spPr>
      </p:pic>
      <p:sp>
        <p:nvSpPr>
          <p:cNvPr id="43" name="Text 34"/>
          <p:cNvSpPr/>
          <p:nvPr/>
        </p:nvSpPr>
        <p:spPr>
          <a:xfrm>
            <a:off x="3086100" y="5376672"/>
            <a:ext cx="6519672" cy="231343"/>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⑥ Postgres</a:t>
            </a:r>
            <a:endParaRPr lang="en-US" sz="1350" dirty="0"/>
          </a:p>
        </p:txBody>
      </p:sp>
      <p:sp>
        <p:nvSpPr>
          <p:cNvPr id="44" name="Text 35"/>
          <p:cNvSpPr/>
          <p:nvPr/>
        </p:nvSpPr>
        <p:spPr>
          <a:xfrm>
            <a:off x="3086100" y="5587898"/>
            <a:ext cx="6519672" cy="251460"/>
          </a:xfrm>
          <a:prstGeom prst="rect">
            <a:avLst/>
          </a:prstGeom>
          <a:noFill/>
          <a:ln/>
        </p:spPr>
        <p:txBody>
          <a:bodyPr wrap="square" lIns="0" tIns="0" rIns="0" bIns="0" rtlCol="0" anchor="t"/>
          <a:lstStyle/>
          <a:p>
            <a:pPr indent="0" marL="0">
              <a:lnSpc>
                <a:spcPct val="105000"/>
              </a:lnSpc>
              <a:buNone/>
            </a:pPr>
            <a:r>
              <a:rPr lang="en-US" sz="1050" dirty="0">
                <a:solidFill>
                  <a:srgbClr val="D9D9D9"/>
                </a:solidFill>
                <a:latin typeface="Arial" pitchFamily="34" charset="0"/>
                <a:ea typeface="Arial" pitchFamily="34" charset="-122"/>
                <a:cs typeface="Arial" pitchFamily="34" charset="-120"/>
              </a:rPr>
              <a:t>Add the new fact, or supersede the old one</a:t>
            </a:r>
            <a:endParaRPr lang="en-US" sz="1050" dirty="0"/>
          </a:p>
        </p:txBody>
      </p:sp>
      <p:sp>
        <p:nvSpPr>
          <p:cNvPr id="45" name="Text 36"/>
          <p:cNvSpPr/>
          <p:nvPr/>
        </p:nvSpPr>
        <p:spPr>
          <a:xfrm>
            <a:off x="548640" y="5943600"/>
            <a:ext cx="11064240" cy="365760"/>
          </a:xfrm>
          <a:prstGeom prst="rect">
            <a:avLst/>
          </a:prstGeom>
          <a:noFill/>
          <a:ln/>
        </p:spPr>
        <p:txBody>
          <a:bodyPr wrap="square" rtlCol="0" anchor="ctr"/>
          <a:lstStyle/>
          <a:p>
            <a:pPr indent="0" marL="0">
              <a:buNone/>
            </a:pPr>
            <a:r>
              <a:rPr lang="en-US" sz="1250" i="1" dirty="0">
                <a:solidFill>
                  <a:srgbClr val="5F5F5F"/>
                </a:solidFill>
                <a:latin typeface="Arial" pitchFamily="34" charset="0"/>
                <a:ea typeface="Arial" pitchFamily="34" charset="-122"/>
                <a:cs typeface="Arial" pitchFamily="34" charset="-120"/>
              </a:rPr>
              <a:t>Append-only + supersede chain: nothing is ever silently overwritten, and “forget this user” is one call.</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64240" cy="548640"/>
          </a:xfrm>
          <a:prstGeom prst="rect">
            <a:avLst/>
          </a:prstGeom>
          <a:noFill/>
          <a:ln/>
        </p:spPr>
        <p:txBody>
          <a:bodyPr wrap="square" rtlCol="0" anchor="ctr"/>
          <a:lstStyle/>
          <a:p>
            <a:pPr indent="0" marL="0">
              <a:buNone/>
            </a:pPr>
            <a:r>
              <a:rPr lang="en-US" sz="3000" b="1" dirty="0">
                <a:solidFill>
                  <a:srgbClr val="1A1A1A"/>
                </a:solidFill>
                <a:latin typeface="Arial" pitchFamily="34" charset="0"/>
                <a:ea typeface="Arial" pitchFamily="34" charset="-122"/>
                <a:cs typeface="Arial" pitchFamily="34" charset="-120"/>
              </a:rPr>
              <a:t>The data model — and why it's safe</a:t>
            </a:r>
            <a:endParaRPr lang="en-US" sz="3000" dirty="0"/>
          </a:p>
        </p:txBody>
      </p:sp>
      <p:sp>
        <p:nvSpPr>
          <p:cNvPr id="3" name="Text 1"/>
          <p:cNvSpPr/>
          <p:nvPr/>
        </p:nvSpPr>
        <p:spPr>
          <a:xfrm>
            <a:off x="548640" y="1234440"/>
            <a:ext cx="3657600" cy="274320"/>
          </a:xfrm>
          <a:prstGeom prst="rect">
            <a:avLst/>
          </a:prstGeom>
          <a:noFill/>
          <a:ln/>
        </p:spPr>
        <p:txBody>
          <a:bodyPr wrap="square" rtlCol="0" anchor="ctr"/>
          <a:lstStyle/>
          <a:p>
            <a:pPr indent="0" marL="0">
              <a:buNone/>
            </a:pPr>
            <a:r>
              <a:rPr lang="en-US" sz="1200" b="1" spc="300" kern="0" dirty="0">
                <a:solidFill>
                  <a:srgbClr val="EC0016"/>
                </a:solidFill>
                <a:latin typeface="Arial" pitchFamily="34" charset="0"/>
                <a:ea typeface="Arial" pitchFamily="34" charset="-122"/>
                <a:cs typeface="Arial" pitchFamily="34" charset="-120"/>
              </a:rPr>
              <a:t>THE DATA MODEL</a:t>
            </a:r>
            <a:endParaRPr lang="en-US" sz="1200" dirty="0"/>
          </a:p>
        </p:txBody>
      </p:sp>
      <p:sp>
        <p:nvSpPr>
          <p:cNvPr id="4" name="Shape 2"/>
          <p:cNvSpPr/>
          <p:nvPr/>
        </p:nvSpPr>
        <p:spPr>
          <a:xfrm>
            <a:off x="548640" y="1554480"/>
            <a:ext cx="5394960" cy="1783080"/>
          </a:xfrm>
          <a:prstGeom prst="roundRect">
            <a:avLst>
              <a:gd name="adj" fmla="val 4103"/>
            </a:avLst>
          </a:prstGeom>
          <a:solidFill>
            <a:srgbClr val="F4F4F4"/>
          </a:solidFill>
          <a:ln/>
        </p:spPr>
      </p:sp>
      <p:sp>
        <p:nvSpPr>
          <p:cNvPr id="5" name="Text 3"/>
          <p:cNvSpPr/>
          <p:nvPr/>
        </p:nvSpPr>
        <p:spPr>
          <a:xfrm>
            <a:off x="777240" y="1691640"/>
            <a:ext cx="4937760" cy="32004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agent_memory_entries</a:t>
            </a:r>
            <a:endParaRPr lang="en-US" sz="1500" dirty="0"/>
          </a:p>
        </p:txBody>
      </p:sp>
      <p:sp>
        <p:nvSpPr>
          <p:cNvPr id="6" name="Text 4"/>
          <p:cNvSpPr/>
          <p:nvPr/>
        </p:nvSpPr>
        <p:spPr>
          <a:xfrm>
            <a:off x="868680" y="2084832"/>
            <a:ext cx="4846320" cy="274320"/>
          </a:xfrm>
          <a:prstGeom prst="rect">
            <a:avLst/>
          </a:prstGeom>
          <a:noFill/>
          <a:ln/>
        </p:spPr>
        <p:txBody>
          <a:bodyPr wrap="square" lIns="0" tIns="0" rIns="0" bIns="0" rtlCol="0" anchor="ctr"/>
          <a:lstStyle/>
          <a:p>
            <a:pPr indent="0" marL="0">
              <a:buNone/>
            </a:pPr>
            <a:r>
              <a:rPr lang="en-US" sz="1100" dirty="0">
                <a:solidFill>
                  <a:srgbClr val="5F5F5F"/>
                </a:solidFill>
                <a:latin typeface="Arial" pitchFamily="34" charset="0"/>
                <a:ea typeface="Arial" pitchFamily="34" charset="-122"/>
                <a:cs typeface="Arial" pitchFamily="34" charset="-120"/>
              </a:rPr>
              <a:t>Scope — profile_id · user_id · tenant_id</a:t>
            </a:r>
            <a:endParaRPr lang="en-US" sz="1100" dirty="0"/>
          </a:p>
        </p:txBody>
      </p:sp>
      <p:sp>
        <p:nvSpPr>
          <p:cNvPr id="7" name="Text 5"/>
          <p:cNvSpPr/>
          <p:nvPr/>
        </p:nvSpPr>
        <p:spPr>
          <a:xfrm>
            <a:off x="868680" y="2377440"/>
            <a:ext cx="4846320" cy="274320"/>
          </a:xfrm>
          <a:prstGeom prst="rect">
            <a:avLst/>
          </a:prstGeom>
          <a:noFill/>
          <a:ln/>
        </p:spPr>
        <p:txBody>
          <a:bodyPr wrap="square" lIns="0" tIns="0" rIns="0" bIns="0" rtlCol="0" anchor="ctr"/>
          <a:lstStyle/>
          <a:p>
            <a:pPr indent="0" marL="0">
              <a:buNone/>
            </a:pPr>
            <a:r>
              <a:rPr lang="en-US" sz="1100" dirty="0">
                <a:solidFill>
                  <a:srgbClr val="5F5F5F"/>
                </a:solidFill>
                <a:latin typeface="Arial" pitchFamily="34" charset="0"/>
                <a:ea typeface="Arial" pitchFamily="34" charset="-122"/>
                <a:cs typeface="Arial" pitchFamily="34" charset="-120"/>
              </a:rPr>
              <a:t>Content — content · category · source</a:t>
            </a:r>
            <a:endParaRPr lang="en-US" sz="1100" dirty="0"/>
          </a:p>
        </p:txBody>
      </p:sp>
      <p:sp>
        <p:nvSpPr>
          <p:cNvPr id="8" name="Text 6"/>
          <p:cNvSpPr/>
          <p:nvPr/>
        </p:nvSpPr>
        <p:spPr>
          <a:xfrm>
            <a:off x="868680" y="2670048"/>
            <a:ext cx="4846320" cy="274320"/>
          </a:xfrm>
          <a:prstGeom prst="rect">
            <a:avLst/>
          </a:prstGeom>
          <a:noFill/>
          <a:ln/>
        </p:spPr>
        <p:txBody>
          <a:bodyPr wrap="square" lIns="0" tIns="0" rIns="0" bIns="0" rtlCol="0" anchor="ctr"/>
          <a:lstStyle/>
          <a:p>
            <a:pPr indent="0" marL="0">
              <a:buNone/>
            </a:pPr>
            <a:r>
              <a:rPr lang="en-US" sz="1100" dirty="0">
                <a:solidFill>
                  <a:srgbClr val="5F5F5F"/>
                </a:solidFill>
                <a:latin typeface="Arial" pitchFamily="34" charset="0"/>
                <a:ea typeface="Arial" pitchFamily="34" charset="-122"/>
                <a:cs typeface="Arial" pitchFamily="34" charset="-120"/>
              </a:rPr>
              <a:t>Semantic — embedding: vector(1536), pgvector</a:t>
            </a:r>
            <a:endParaRPr lang="en-US" sz="1100" dirty="0"/>
          </a:p>
        </p:txBody>
      </p:sp>
      <p:sp>
        <p:nvSpPr>
          <p:cNvPr id="9" name="Text 7"/>
          <p:cNvSpPr/>
          <p:nvPr/>
        </p:nvSpPr>
        <p:spPr>
          <a:xfrm>
            <a:off x="868680" y="2962656"/>
            <a:ext cx="4846320" cy="274320"/>
          </a:xfrm>
          <a:prstGeom prst="rect">
            <a:avLst/>
          </a:prstGeom>
          <a:noFill/>
          <a:ln/>
        </p:spPr>
        <p:txBody>
          <a:bodyPr wrap="square" lIns="0" tIns="0" rIns="0" bIns="0" rtlCol="0" anchor="ctr"/>
          <a:lstStyle/>
          <a:p>
            <a:pPr indent="0" marL="0">
              <a:buNone/>
            </a:pPr>
            <a:r>
              <a:rPr lang="en-US" sz="1100" dirty="0">
                <a:solidFill>
                  <a:srgbClr val="5F5F5F"/>
                </a:solidFill>
                <a:latin typeface="Arial" pitchFamily="34" charset="0"/>
                <a:ea typeface="Arial" pitchFamily="34" charset="-122"/>
                <a:cs typeface="Arial" pitchFamily="34" charset="-120"/>
              </a:rPr>
              <a:t>Lifecycle — superseded_by · observed_at · discarded_at</a:t>
            </a:r>
            <a:endParaRPr lang="en-US" sz="1100" dirty="0"/>
          </a:p>
        </p:txBody>
      </p:sp>
      <p:sp>
        <p:nvSpPr>
          <p:cNvPr id="10" name="Shape 8"/>
          <p:cNvSpPr/>
          <p:nvPr/>
        </p:nvSpPr>
        <p:spPr>
          <a:xfrm>
            <a:off x="548640" y="3566160"/>
            <a:ext cx="1554480" cy="502920"/>
          </a:xfrm>
          <a:prstGeom prst="roundRect">
            <a:avLst>
              <a:gd name="adj" fmla="val 14545"/>
            </a:avLst>
          </a:prstGeom>
          <a:solidFill>
            <a:srgbClr val="E5E5E5"/>
          </a:solidFill>
          <a:ln/>
        </p:spPr>
      </p:sp>
      <p:sp>
        <p:nvSpPr>
          <p:cNvPr id="11" name="Text 9"/>
          <p:cNvSpPr/>
          <p:nvPr/>
        </p:nvSpPr>
        <p:spPr>
          <a:xfrm>
            <a:off x="621792" y="3621024"/>
            <a:ext cx="1408176" cy="393192"/>
          </a:xfrm>
          <a:prstGeom prst="rect">
            <a:avLst/>
          </a:prstGeom>
          <a:noFill/>
          <a:ln/>
        </p:spPr>
        <p:txBody>
          <a:bodyPr wrap="square" lIns="0" tIns="0" rIns="0" bIns="0" rtlCol="0" anchor="ctr"/>
          <a:lstStyle/>
          <a:p>
            <a:pPr algn="ctr" indent="0" marL="0">
              <a:buNone/>
            </a:pPr>
            <a:r>
              <a:rPr lang="en-US" sz="1250" b="1" dirty="0">
                <a:solidFill>
                  <a:srgbClr val="5F5F5F"/>
                </a:solidFill>
                <a:latin typeface="Arial" pitchFamily="34" charset="0"/>
                <a:ea typeface="Arial" pitchFamily="34" charset="-122"/>
                <a:cs typeface="Arial" pitchFamily="34" charset="-120"/>
              </a:rPr>
              <a:t>v1 (retired)</a:t>
            </a:r>
            <a:endParaRPr lang="en-US" sz="1250" dirty="0"/>
          </a:p>
        </p:txBody>
      </p:sp>
      <p:sp>
        <p:nvSpPr>
          <p:cNvPr id="12" name="Shape 10"/>
          <p:cNvSpPr/>
          <p:nvPr/>
        </p:nvSpPr>
        <p:spPr>
          <a:xfrm>
            <a:off x="2130552" y="3735324"/>
            <a:ext cx="265176" cy="164592"/>
          </a:xfrm>
          <a:prstGeom prst="rightArrow">
            <a:avLst/>
          </a:prstGeom>
          <a:solidFill>
            <a:srgbClr val="EC0016"/>
          </a:solidFill>
          <a:ln/>
        </p:spPr>
      </p:sp>
      <p:sp>
        <p:nvSpPr>
          <p:cNvPr id="13" name="Shape 11"/>
          <p:cNvSpPr/>
          <p:nvPr/>
        </p:nvSpPr>
        <p:spPr>
          <a:xfrm>
            <a:off x="2423160" y="3566160"/>
            <a:ext cx="1554480" cy="502920"/>
          </a:xfrm>
          <a:prstGeom prst="roundRect">
            <a:avLst>
              <a:gd name="adj" fmla="val 14545"/>
            </a:avLst>
          </a:prstGeom>
          <a:solidFill>
            <a:srgbClr val="E5E5E5"/>
          </a:solidFill>
          <a:ln/>
        </p:spPr>
      </p:sp>
      <p:sp>
        <p:nvSpPr>
          <p:cNvPr id="14" name="Text 12"/>
          <p:cNvSpPr/>
          <p:nvPr/>
        </p:nvSpPr>
        <p:spPr>
          <a:xfrm>
            <a:off x="2496312" y="3621024"/>
            <a:ext cx="1408176" cy="393192"/>
          </a:xfrm>
          <a:prstGeom prst="rect">
            <a:avLst/>
          </a:prstGeom>
          <a:noFill/>
          <a:ln/>
        </p:spPr>
        <p:txBody>
          <a:bodyPr wrap="square" lIns="0" tIns="0" rIns="0" bIns="0" rtlCol="0" anchor="ctr"/>
          <a:lstStyle/>
          <a:p>
            <a:pPr algn="ctr" indent="0" marL="0">
              <a:buNone/>
            </a:pPr>
            <a:r>
              <a:rPr lang="en-US" sz="1250" b="1" dirty="0">
                <a:solidFill>
                  <a:srgbClr val="5F5F5F"/>
                </a:solidFill>
                <a:latin typeface="Arial" pitchFamily="34" charset="0"/>
                <a:ea typeface="Arial" pitchFamily="34" charset="-122"/>
                <a:cs typeface="Arial" pitchFamily="34" charset="-120"/>
              </a:rPr>
              <a:t>v2 (retired)</a:t>
            </a:r>
            <a:endParaRPr lang="en-US" sz="1250" dirty="0"/>
          </a:p>
        </p:txBody>
      </p:sp>
      <p:sp>
        <p:nvSpPr>
          <p:cNvPr id="15" name="Shape 13"/>
          <p:cNvSpPr/>
          <p:nvPr/>
        </p:nvSpPr>
        <p:spPr>
          <a:xfrm>
            <a:off x="4005072" y="3735324"/>
            <a:ext cx="265176" cy="164592"/>
          </a:xfrm>
          <a:prstGeom prst="rightArrow">
            <a:avLst/>
          </a:prstGeom>
          <a:solidFill>
            <a:srgbClr val="EC0016"/>
          </a:solidFill>
          <a:ln/>
        </p:spPr>
      </p:sp>
      <p:sp>
        <p:nvSpPr>
          <p:cNvPr id="16" name="Shape 14"/>
          <p:cNvSpPr/>
          <p:nvPr/>
        </p:nvSpPr>
        <p:spPr>
          <a:xfrm>
            <a:off x="4297680" y="3566160"/>
            <a:ext cx="1554480" cy="502920"/>
          </a:xfrm>
          <a:prstGeom prst="roundRect">
            <a:avLst>
              <a:gd name="adj" fmla="val 14545"/>
            </a:avLst>
          </a:prstGeom>
          <a:solidFill>
            <a:srgbClr val="EC0016"/>
          </a:solidFill>
          <a:ln/>
        </p:spPr>
      </p:sp>
      <p:sp>
        <p:nvSpPr>
          <p:cNvPr id="17" name="Text 15"/>
          <p:cNvSpPr/>
          <p:nvPr/>
        </p:nvSpPr>
        <p:spPr>
          <a:xfrm>
            <a:off x="4370832" y="3621024"/>
            <a:ext cx="1408176" cy="39319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v3 (current)</a:t>
            </a:r>
            <a:endParaRPr lang="en-US" sz="1250" dirty="0"/>
          </a:p>
        </p:txBody>
      </p:sp>
      <p:sp>
        <p:nvSpPr>
          <p:cNvPr id="18" name="Text 16"/>
          <p:cNvSpPr/>
          <p:nvPr/>
        </p:nvSpPr>
        <p:spPr>
          <a:xfrm>
            <a:off x="548640" y="4233672"/>
            <a:ext cx="5394960" cy="457200"/>
          </a:xfrm>
          <a:prstGeom prst="rect">
            <a:avLst/>
          </a:prstGeom>
          <a:noFill/>
          <a:ln/>
        </p:spPr>
        <p:txBody>
          <a:bodyPr wrap="square" lIns="0" tIns="0" rIns="0" bIns="0" rtlCol="0" anchor="ctr"/>
          <a:lstStyle/>
          <a:p>
            <a:pPr indent="0" marL="0">
              <a:lnSpc>
                <a:spcPct val="110000"/>
              </a:lnSpc>
              <a:buNone/>
            </a:pPr>
            <a:r>
              <a:rPr lang="en-US" sz="1100" i="1" dirty="0">
                <a:solidFill>
                  <a:srgbClr val="5F5F5F"/>
                </a:solidFill>
                <a:latin typeface="Arial" pitchFamily="34" charset="0"/>
                <a:ea typeface="Arial" pitchFamily="34" charset="-122"/>
                <a:cs typeface="Arial" pitchFamily="34" charset="-120"/>
              </a:rPr>
              <a:t>Contradiction retires the old row; the chain is the audit trail — nothing is deleted.</a:t>
            </a:r>
            <a:endParaRPr lang="en-US" sz="1100" dirty="0"/>
          </a:p>
        </p:txBody>
      </p:sp>
      <p:sp>
        <p:nvSpPr>
          <p:cNvPr id="19" name="Text 17"/>
          <p:cNvSpPr/>
          <p:nvPr/>
        </p:nvSpPr>
        <p:spPr>
          <a:xfrm>
            <a:off x="6309360" y="1234440"/>
            <a:ext cx="4572000" cy="274320"/>
          </a:xfrm>
          <a:prstGeom prst="rect">
            <a:avLst/>
          </a:prstGeom>
          <a:noFill/>
          <a:ln/>
        </p:spPr>
        <p:txBody>
          <a:bodyPr wrap="square" rtlCol="0" anchor="ctr"/>
          <a:lstStyle/>
          <a:p>
            <a:pPr indent="0" marL="0">
              <a:buNone/>
            </a:pPr>
            <a:r>
              <a:rPr lang="en-US" sz="1200" b="1" spc="300" kern="0" dirty="0">
                <a:solidFill>
                  <a:srgbClr val="EC0016"/>
                </a:solidFill>
                <a:latin typeface="Arial" pitchFamily="34" charset="0"/>
                <a:ea typeface="Arial" pitchFamily="34" charset="-122"/>
                <a:cs typeface="Arial" pitchFamily="34" charset="-120"/>
              </a:rPr>
              <a:t>SAFETY GUARANTEES</a:t>
            </a:r>
            <a:endParaRPr lang="en-US" sz="1200" dirty="0"/>
          </a:p>
        </p:txBody>
      </p:sp>
      <p:sp>
        <p:nvSpPr>
          <p:cNvPr id="20" name="Shape 18"/>
          <p:cNvSpPr/>
          <p:nvPr/>
        </p:nvSpPr>
        <p:spPr>
          <a:xfrm>
            <a:off x="6309360" y="1600200"/>
            <a:ext cx="420624" cy="420624"/>
          </a:xfrm>
          <a:prstGeom prst="ellipse">
            <a:avLst/>
          </a:prstGeom>
          <a:solidFill>
            <a:srgbClr val="F4F4F4"/>
          </a:solidFill>
          <a:ln/>
        </p:spPr>
      </p:sp>
      <p:pic>
        <p:nvPicPr>
          <p:cNvPr id="21" name="Image 0" descr="preencoded.png">    </p:cNvPr>
          <p:cNvPicPr>
            <a:picLocks noChangeAspect="1"/>
          </p:cNvPicPr>
          <p:nvPr/>
        </p:nvPicPr>
        <p:blipFill>
          <a:blip r:embed="rId1"/>
          <a:stretch>
            <a:fillRect/>
          </a:stretch>
        </p:blipFill>
        <p:spPr>
          <a:xfrm>
            <a:off x="6422928" y="1713768"/>
            <a:ext cx="193487" cy="193487"/>
          </a:xfrm>
          <a:prstGeom prst="rect">
            <a:avLst/>
          </a:prstGeom>
        </p:spPr>
      </p:pic>
      <p:sp>
        <p:nvSpPr>
          <p:cNvPr id="22" name="Text 19"/>
          <p:cNvSpPr/>
          <p:nvPr/>
        </p:nvSpPr>
        <p:spPr>
          <a:xfrm>
            <a:off x="6894576" y="1600200"/>
            <a:ext cx="4572000" cy="320040"/>
          </a:xfrm>
          <a:prstGeom prst="rect">
            <a:avLst/>
          </a:prstGeom>
          <a:noFill/>
          <a:ln/>
        </p:spPr>
        <p:txBody>
          <a:bodyPr wrap="square" lIns="0" tIns="0" rIns="0" bIns="0" rtlCol="0" anchor="ctr"/>
          <a:lstStyle/>
          <a:p>
            <a:pPr indent="0" marL="0">
              <a:buNone/>
            </a:pPr>
            <a:r>
              <a:rPr lang="en-US" sz="1350" b="1" dirty="0">
                <a:solidFill>
                  <a:srgbClr val="1A1A1A"/>
                </a:solidFill>
                <a:latin typeface="Arial" pitchFamily="34" charset="0"/>
                <a:ea typeface="Arial" pitchFamily="34" charset="-122"/>
                <a:cs typeface="Arial" pitchFamily="34" charset="-120"/>
              </a:rPr>
              <a:t>Off by default</a:t>
            </a:r>
            <a:endParaRPr lang="en-US" sz="1350" dirty="0"/>
          </a:p>
        </p:txBody>
      </p:sp>
      <p:sp>
        <p:nvSpPr>
          <p:cNvPr id="23" name="Text 20"/>
          <p:cNvSpPr/>
          <p:nvPr/>
        </p:nvSpPr>
        <p:spPr>
          <a:xfrm>
            <a:off x="6894576" y="1929384"/>
            <a:ext cx="4572000" cy="411480"/>
          </a:xfrm>
          <a:prstGeom prst="rect">
            <a:avLst/>
          </a:prstGeom>
          <a:noFill/>
          <a:ln/>
        </p:spPr>
        <p:txBody>
          <a:bodyPr wrap="square" lIns="0" tIns="0" rIns="0" bIns="0" rtlCol="0" anchor="ctr"/>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A test fails the build if any real profile enables it</a:t>
            </a:r>
            <a:endParaRPr lang="en-US" sz="1050" dirty="0"/>
          </a:p>
        </p:txBody>
      </p:sp>
      <p:sp>
        <p:nvSpPr>
          <p:cNvPr id="24" name="Shape 21"/>
          <p:cNvSpPr/>
          <p:nvPr/>
        </p:nvSpPr>
        <p:spPr>
          <a:xfrm>
            <a:off x="6309360" y="2350008"/>
            <a:ext cx="420624" cy="420624"/>
          </a:xfrm>
          <a:prstGeom prst="ellipse">
            <a:avLst/>
          </a:prstGeom>
          <a:solidFill>
            <a:srgbClr val="F4F4F4"/>
          </a:solidFill>
          <a:ln/>
        </p:spPr>
      </p:sp>
      <p:pic>
        <p:nvPicPr>
          <p:cNvPr id="25" name="Image 1" descr="preencoded.png">    </p:cNvPr>
          <p:cNvPicPr>
            <a:picLocks noChangeAspect="1"/>
          </p:cNvPicPr>
          <p:nvPr/>
        </p:nvPicPr>
        <p:blipFill>
          <a:blip r:embed="rId2"/>
          <a:stretch>
            <a:fillRect/>
          </a:stretch>
        </p:blipFill>
        <p:spPr>
          <a:xfrm>
            <a:off x="6422928" y="2463576"/>
            <a:ext cx="193487" cy="193487"/>
          </a:xfrm>
          <a:prstGeom prst="rect">
            <a:avLst/>
          </a:prstGeom>
        </p:spPr>
      </p:pic>
      <p:sp>
        <p:nvSpPr>
          <p:cNvPr id="26" name="Text 22"/>
          <p:cNvSpPr/>
          <p:nvPr/>
        </p:nvSpPr>
        <p:spPr>
          <a:xfrm>
            <a:off x="6894576" y="2350008"/>
            <a:ext cx="4572000" cy="320040"/>
          </a:xfrm>
          <a:prstGeom prst="rect">
            <a:avLst/>
          </a:prstGeom>
          <a:noFill/>
          <a:ln/>
        </p:spPr>
        <p:txBody>
          <a:bodyPr wrap="square" lIns="0" tIns="0" rIns="0" bIns="0" rtlCol="0" anchor="ctr"/>
          <a:lstStyle/>
          <a:p>
            <a:pPr indent="0" marL="0">
              <a:buNone/>
            </a:pPr>
            <a:r>
              <a:rPr lang="en-US" sz="1350" b="1" dirty="0">
                <a:solidFill>
                  <a:srgbClr val="1A1A1A"/>
                </a:solidFill>
                <a:latin typeface="Arial" pitchFamily="34" charset="0"/>
                <a:ea typeface="Arial" pitchFamily="34" charset="-122"/>
                <a:cs typeface="Arial" pitchFamily="34" charset="-120"/>
              </a:rPr>
              <a:t>Identity or nothing</a:t>
            </a:r>
            <a:endParaRPr lang="en-US" sz="1350" dirty="0"/>
          </a:p>
        </p:txBody>
      </p:sp>
      <p:sp>
        <p:nvSpPr>
          <p:cNvPr id="27" name="Text 23"/>
          <p:cNvSpPr/>
          <p:nvPr/>
        </p:nvSpPr>
        <p:spPr>
          <a:xfrm>
            <a:off x="6894576" y="2679192"/>
            <a:ext cx="4572000" cy="411480"/>
          </a:xfrm>
          <a:prstGeom prst="rect">
            <a:avLst/>
          </a:prstGeom>
          <a:noFill/>
          <a:ln/>
        </p:spPr>
        <p:txBody>
          <a:bodyPr wrap="square" lIns="0" tIns="0" rIns="0" bIns="0" rtlCol="0" anchor="ctr"/>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No validated user + tenant → memory silently disabled</a:t>
            </a:r>
            <a:endParaRPr lang="en-US" sz="1050" dirty="0"/>
          </a:p>
        </p:txBody>
      </p:sp>
      <p:sp>
        <p:nvSpPr>
          <p:cNvPr id="28" name="Shape 24"/>
          <p:cNvSpPr/>
          <p:nvPr/>
        </p:nvSpPr>
        <p:spPr>
          <a:xfrm>
            <a:off x="6309360" y="3099816"/>
            <a:ext cx="420624" cy="420624"/>
          </a:xfrm>
          <a:prstGeom prst="ellipse">
            <a:avLst/>
          </a:prstGeom>
          <a:solidFill>
            <a:srgbClr val="F4F4F4"/>
          </a:solidFill>
          <a:ln/>
        </p:spPr>
      </p:sp>
      <p:pic>
        <p:nvPicPr>
          <p:cNvPr id="29" name="Image 2" descr="preencoded.png">    </p:cNvPr>
          <p:cNvPicPr>
            <a:picLocks noChangeAspect="1"/>
          </p:cNvPicPr>
          <p:nvPr/>
        </p:nvPicPr>
        <p:blipFill>
          <a:blip r:embed="rId3"/>
          <a:stretch>
            <a:fillRect/>
          </a:stretch>
        </p:blipFill>
        <p:spPr>
          <a:xfrm>
            <a:off x="6422928" y="3213384"/>
            <a:ext cx="193487" cy="193487"/>
          </a:xfrm>
          <a:prstGeom prst="rect">
            <a:avLst/>
          </a:prstGeom>
        </p:spPr>
      </p:pic>
      <p:sp>
        <p:nvSpPr>
          <p:cNvPr id="30" name="Text 25"/>
          <p:cNvSpPr/>
          <p:nvPr/>
        </p:nvSpPr>
        <p:spPr>
          <a:xfrm>
            <a:off x="6894576" y="3099816"/>
            <a:ext cx="4572000" cy="320040"/>
          </a:xfrm>
          <a:prstGeom prst="rect">
            <a:avLst/>
          </a:prstGeom>
          <a:noFill/>
          <a:ln/>
        </p:spPr>
        <p:txBody>
          <a:bodyPr wrap="square" lIns="0" tIns="0" rIns="0" bIns="0" rtlCol="0" anchor="ctr"/>
          <a:lstStyle/>
          <a:p>
            <a:pPr indent="0" marL="0">
              <a:buNone/>
            </a:pPr>
            <a:r>
              <a:rPr lang="en-US" sz="1350" b="1" dirty="0">
                <a:solidFill>
                  <a:srgbClr val="1A1A1A"/>
                </a:solidFill>
                <a:latin typeface="Arial" pitchFamily="34" charset="0"/>
                <a:ea typeface="Arial" pitchFamily="34" charset="-122"/>
                <a:cs typeface="Arial" pitchFamily="34" charset="-120"/>
              </a:rPr>
              <a:t>Denylist at write time</a:t>
            </a:r>
            <a:endParaRPr lang="en-US" sz="1350" dirty="0"/>
          </a:p>
        </p:txBody>
      </p:sp>
      <p:sp>
        <p:nvSpPr>
          <p:cNvPr id="31" name="Text 26"/>
          <p:cNvSpPr/>
          <p:nvPr/>
        </p:nvSpPr>
        <p:spPr>
          <a:xfrm>
            <a:off x="6894576" y="3429000"/>
            <a:ext cx="4572000" cy="411480"/>
          </a:xfrm>
          <a:prstGeom prst="rect">
            <a:avLst/>
          </a:prstGeom>
          <a:noFill/>
          <a:ln/>
        </p:spPr>
        <p:txBody>
          <a:bodyPr wrap="square" lIns="0" tIns="0" rIns="0" bIns="0" rtlCol="0" anchor="ctr"/>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Credential, card, and IBAN shapes are never stored</a:t>
            </a:r>
            <a:endParaRPr lang="en-US" sz="1050" dirty="0"/>
          </a:p>
        </p:txBody>
      </p:sp>
      <p:sp>
        <p:nvSpPr>
          <p:cNvPr id="32" name="Shape 27"/>
          <p:cNvSpPr/>
          <p:nvPr/>
        </p:nvSpPr>
        <p:spPr>
          <a:xfrm>
            <a:off x="6309360" y="3849624"/>
            <a:ext cx="420624" cy="420624"/>
          </a:xfrm>
          <a:prstGeom prst="ellipse">
            <a:avLst/>
          </a:prstGeom>
          <a:solidFill>
            <a:srgbClr val="F4F4F4"/>
          </a:solidFill>
          <a:ln/>
        </p:spPr>
      </p:sp>
      <p:pic>
        <p:nvPicPr>
          <p:cNvPr id="33" name="Image 3" descr="preencoded.png">    </p:cNvPr>
          <p:cNvPicPr>
            <a:picLocks noChangeAspect="1"/>
          </p:cNvPicPr>
          <p:nvPr/>
        </p:nvPicPr>
        <p:blipFill>
          <a:blip r:embed="rId4"/>
          <a:stretch>
            <a:fillRect/>
          </a:stretch>
        </p:blipFill>
        <p:spPr>
          <a:xfrm>
            <a:off x="6422928" y="3963192"/>
            <a:ext cx="193487" cy="193487"/>
          </a:xfrm>
          <a:prstGeom prst="rect">
            <a:avLst/>
          </a:prstGeom>
        </p:spPr>
      </p:pic>
      <p:sp>
        <p:nvSpPr>
          <p:cNvPr id="34" name="Text 28"/>
          <p:cNvSpPr/>
          <p:nvPr/>
        </p:nvSpPr>
        <p:spPr>
          <a:xfrm>
            <a:off x="6894576" y="3849624"/>
            <a:ext cx="4572000" cy="320040"/>
          </a:xfrm>
          <a:prstGeom prst="rect">
            <a:avLst/>
          </a:prstGeom>
          <a:noFill/>
          <a:ln/>
        </p:spPr>
        <p:txBody>
          <a:bodyPr wrap="square" lIns="0" tIns="0" rIns="0" bIns="0" rtlCol="0" anchor="ctr"/>
          <a:lstStyle/>
          <a:p>
            <a:pPr indent="0" marL="0">
              <a:buNone/>
            </a:pPr>
            <a:r>
              <a:rPr lang="en-US" sz="1350" b="1" dirty="0">
                <a:solidFill>
                  <a:srgbClr val="1A1A1A"/>
                </a:solidFill>
                <a:latin typeface="Arial" pitchFamily="34" charset="0"/>
                <a:ea typeface="Arial" pitchFamily="34" charset="-122"/>
                <a:cs typeface="Arial" pitchFamily="34" charset="-120"/>
              </a:rPr>
              <a:t>Content-free logs</a:t>
            </a:r>
            <a:endParaRPr lang="en-US" sz="1350" dirty="0"/>
          </a:p>
        </p:txBody>
      </p:sp>
      <p:sp>
        <p:nvSpPr>
          <p:cNvPr id="35" name="Text 29"/>
          <p:cNvSpPr/>
          <p:nvPr/>
        </p:nvSpPr>
        <p:spPr>
          <a:xfrm>
            <a:off x="6894576" y="4178808"/>
            <a:ext cx="4572000" cy="411480"/>
          </a:xfrm>
          <a:prstGeom prst="rect">
            <a:avLst/>
          </a:prstGeom>
          <a:noFill/>
          <a:ln/>
        </p:spPr>
        <p:txBody>
          <a:bodyPr wrap="square" lIns="0" tIns="0" rIns="0" bIns="0" rtlCol="0" anchor="ctr"/>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Telemetry carries ids and counts — never the memory text</a:t>
            </a:r>
            <a:endParaRPr lang="en-US" sz="1050" dirty="0"/>
          </a:p>
        </p:txBody>
      </p:sp>
      <p:sp>
        <p:nvSpPr>
          <p:cNvPr id="36" name="Shape 30"/>
          <p:cNvSpPr/>
          <p:nvPr/>
        </p:nvSpPr>
        <p:spPr>
          <a:xfrm>
            <a:off x="6309360" y="4599432"/>
            <a:ext cx="420624" cy="420624"/>
          </a:xfrm>
          <a:prstGeom prst="ellipse">
            <a:avLst/>
          </a:prstGeom>
          <a:solidFill>
            <a:srgbClr val="F4F4F4"/>
          </a:solidFill>
          <a:ln/>
        </p:spPr>
      </p:sp>
      <p:pic>
        <p:nvPicPr>
          <p:cNvPr id="37" name="Image 4" descr="preencoded.png">    </p:cNvPr>
          <p:cNvPicPr>
            <a:picLocks noChangeAspect="1"/>
          </p:cNvPicPr>
          <p:nvPr/>
        </p:nvPicPr>
        <p:blipFill>
          <a:blip r:embed="rId5"/>
          <a:stretch>
            <a:fillRect/>
          </a:stretch>
        </p:blipFill>
        <p:spPr>
          <a:xfrm>
            <a:off x="6422928" y="4713000"/>
            <a:ext cx="193487" cy="193487"/>
          </a:xfrm>
          <a:prstGeom prst="rect">
            <a:avLst/>
          </a:prstGeom>
        </p:spPr>
      </p:pic>
      <p:sp>
        <p:nvSpPr>
          <p:cNvPr id="38" name="Text 31"/>
          <p:cNvSpPr/>
          <p:nvPr/>
        </p:nvSpPr>
        <p:spPr>
          <a:xfrm>
            <a:off x="6894576" y="4599432"/>
            <a:ext cx="4572000" cy="320040"/>
          </a:xfrm>
          <a:prstGeom prst="rect">
            <a:avLst/>
          </a:prstGeom>
          <a:noFill/>
          <a:ln/>
        </p:spPr>
        <p:txBody>
          <a:bodyPr wrap="square" lIns="0" tIns="0" rIns="0" bIns="0" rtlCol="0" anchor="ctr"/>
          <a:lstStyle/>
          <a:p>
            <a:pPr indent="0" marL="0">
              <a:buNone/>
            </a:pPr>
            <a:r>
              <a:rPr lang="en-US" sz="1350" b="1" dirty="0">
                <a:solidFill>
                  <a:srgbClr val="1A1A1A"/>
                </a:solidFill>
                <a:latin typeface="Arial" pitchFamily="34" charset="0"/>
                <a:ea typeface="Arial" pitchFamily="34" charset="-122"/>
                <a:cs typeface="Arial" pitchFamily="34" charset="-120"/>
              </a:rPr>
              <a:t>Deletable &amp; audited</a:t>
            </a:r>
            <a:endParaRPr lang="en-US" sz="1350" dirty="0"/>
          </a:p>
        </p:txBody>
      </p:sp>
      <p:sp>
        <p:nvSpPr>
          <p:cNvPr id="39" name="Text 32"/>
          <p:cNvSpPr/>
          <p:nvPr/>
        </p:nvSpPr>
        <p:spPr>
          <a:xfrm>
            <a:off x="6894576" y="4928616"/>
            <a:ext cx="4572000" cy="411480"/>
          </a:xfrm>
          <a:prstGeom prst="rect">
            <a:avLst/>
          </a:prstGeom>
          <a:noFill/>
          <a:ln/>
        </p:spPr>
        <p:txBody>
          <a:bodyPr wrap="square" lIns="0" tIns="0" rIns="0" bIns="0" rtlCol="0" anchor="ctr"/>
          <a:lstStyle/>
          <a:p>
            <a:pPr indent="0" marL="0">
              <a:lnSpc>
                <a:spcPct val="105000"/>
              </a:lnSpc>
              <a:buNone/>
            </a:pPr>
            <a:r>
              <a:rPr lang="en-US" sz="1050" dirty="0">
                <a:solidFill>
                  <a:srgbClr val="5F5F5F"/>
                </a:solidFill>
                <a:latin typeface="Arial" pitchFamily="34" charset="0"/>
                <a:ea typeface="Arial" pitchFamily="34" charset="-122"/>
                <a:cs typeface="Arial" pitchFamily="34" charset="-120"/>
              </a:rPr>
              <a:t>Soft-delete, one-call forget, and a full supersede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64240" cy="640080"/>
          </a:xfrm>
          <a:prstGeom prst="rect">
            <a:avLst/>
          </a:prstGeom>
          <a:noFill/>
          <a:ln/>
        </p:spPr>
        <p:txBody>
          <a:bodyPr wrap="square" rtlCol="0" anchor="ctr"/>
          <a:lstStyle/>
          <a:p>
            <a:pPr indent="0" marL="0">
              <a:buNone/>
            </a:pPr>
            <a:r>
              <a:rPr lang="en-US" sz="3000" b="1" dirty="0">
                <a:solidFill>
                  <a:srgbClr val="1A1A1A"/>
                </a:solidFill>
                <a:latin typeface="Arial" pitchFamily="34" charset="0"/>
                <a:ea typeface="Arial" pitchFamily="34" charset="-122"/>
                <a:cs typeface="Arial" pitchFamily="34" charset="-120"/>
              </a:rPr>
              <a:t>Live demo — five things to watch</a:t>
            </a:r>
            <a:endParaRPr lang="en-US" sz="3000" dirty="0"/>
          </a:p>
        </p:txBody>
      </p:sp>
      <p:sp>
        <p:nvSpPr>
          <p:cNvPr id="3" name="Text 1"/>
          <p:cNvSpPr/>
          <p:nvPr/>
        </p:nvSpPr>
        <p:spPr>
          <a:xfrm>
            <a:off x="548640" y="1527048"/>
            <a:ext cx="411480" cy="457200"/>
          </a:xfrm>
          <a:prstGeom prst="rect">
            <a:avLst/>
          </a:prstGeom>
          <a:noFill/>
          <a:ln/>
        </p:spPr>
        <p:txBody>
          <a:bodyPr wrap="square" lIns="0" tIns="0" rIns="0" bIns="0" rtlCol="0" anchor="ctr"/>
          <a:lstStyle/>
          <a:p>
            <a:pPr indent="0" marL="0">
              <a:buNone/>
            </a:pPr>
            <a:r>
              <a:rPr lang="en-US" sz="2200" b="1" dirty="0">
                <a:solidFill>
                  <a:srgbClr val="EC0016"/>
                </a:solidFill>
                <a:latin typeface="Arial" pitchFamily="34" charset="0"/>
                <a:ea typeface="Arial" pitchFamily="34" charset="-122"/>
                <a:cs typeface="Arial" pitchFamily="34" charset="-120"/>
              </a:rPr>
              <a:t>1</a:t>
            </a:r>
            <a:endParaRPr lang="en-US" sz="2200" dirty="0"/>
          </a:p>
        </p:txBody>
      </p:sp>
      <p:sp>
        <p:nvSpPr>
          <p:cNvPr id="4" name="Shape 2"/>
          <p:cNvSpPr/>
          <p:nvPr/>
        </p:nvSpPr>
        <p:spPr>
          <a:xfrm>
            <a:off x="1005840" y="1508760"/>
            <a:ext cx="457200" cy="457200"/>
          </a:xfrm>
          <a:prstGeom prst="ellipse">
            <a:avLst/>
          </a:prstGeom>
          <a:solidFill>
            <a:srgbClr val="F4F4F4"/>
          </a:solidFill>
          <a:ln/>
        </p:spPr>
      </p:sp>
      <p:pic>
        <p:nvPicPr>
          <p:cNvPr id="5" name="Image 0" descr="preencoded.png">    </p:cNvPr>
          <p:cNvPicPr>
            <a:picLocks noChangeAspect="1"/>
          </p:cNvPicPr>
          <p:nvPr/>
        </p:nvPicPr>
        <p:blipFill>
          <a:blip r:embed="rId1"/>
          <a:stretch>
            <a:fillRect/>
          </a:stretch>
        </p:blipFill>
        <p:spPr>
          <a:xfrm>
            <a:off x="1129284" y="1632204"/>
            <a:ext cx="210312" cy="210312"/>
          </a:xfrm>
          <a:prstGeom prst="rect">
            <a:avLst/>
          </a:prstGeom>
        </p:spPr>
      </p:pic>
      <p:sp>
        <p:nvSpPr>
          <p:cNvPr id="6" name="Text 3"/>
          <p:cNvSpPr/>
          <p:nvPr/>
        </p:nvSpPr>
        <p:spPr>
          <a:xfrm>
            <a:off x="1691640" y="1536192"/>
            <a:ext cx="2286000" cy="365760"/>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Teach it</a:t>
            </a:r>
            <a:endParaRPr lang="en-US" sz="1550" dirty="0"/>
          </a:p>
        </p:txBody>
      </p:sp>
      <p:sp>
        <p:nvSpPr>
          <p:cNvPr id="7" name="Text 4"/>
          <p:cNvSpPr/>
          <p:nvPr/>
        </p:nvSpPr>
        <p:spPr>
          <a:xfrm>
            <a:off x="4114800" y="1554480"/>
            <a:ext cx="7498080" cy="457200"/>
          </a:xfrm>
          <a:prstGeom prst="rect">
            <a:avLst/>
          </a:prstGeom>
          <a:noFill/>
          <a:ln/>
        </p:spPr>
        <p:txBody>
          <a:bodyPr wrap="square" lIns="0" tIns="0" rIns="0" bIns="0" rtlCol="0" anchor="ctr"/>
          <a:lstStyle/>
          <a:p>
            <a:pPr indent="0" marL="0">
              <a:buNone/>
            </a:pPr>
            <a:r>
              <a:rPr lang="en-US" sz="1350" dirty="0">
                <a:solidFill>
                  <a:srgbClr val="5F5F5F"/>
                </a:solidFill>
                <a:latin typeface="Arial" pitchFamily="34" charset="0"/>
                <a:ea typeface="Arial" pitchFamily="34" charset="-122"/>
                <a:cs typeface="Arial" pitchFamily="34" charset="-120"/>
              </a:rPr>
              <a:t>I state durable facts — watch the save_memory tool call render.</a:t>
            </a:r>
            <a:endParaRPr lang="en-US" sz="1350" dirty="0"/>
          </a:p>
        </p:txBody>
      </p:sp>
      <p:sp>
        <p:nvSpPr>
          <p:cNvPr id="8" name="Text 5"/>
          <p:cNvSpPr/>
          <p:nvPr/>
        </p:nvSpPr>
        <p:spPr>
          <a:xfrm>
            <a:off x="548640" y="2395728"/>
            <a:ext cx="411480" cy="457200"/>
          </a:xfrm>
          <a:prstGeom prst="rect">
            <a:avLst/>
          </a:prstGeom>
          <a:noFill/>
          <a:ln/>
        </p:spPr>
        <p:txBody>
          <a:bodyPr wrap="square" lIns="0" tIns="0" rIns="0" bIns="0" rtlCol="0" anchor="ctr"/>
          <a:lstStyle/>
          <a:p>
            <a:pPr indent="0" marL="0">
              <a:buNone/>
            </a:pPr>
            <a:r>
              <a:rPr lang="en-US" sz="2200" b="1" dirty="0">
                <a:solidFill>
                  <a:srgbClr val="EC0016"/>
                </a:solidFill>
                <a:latin typeface="Arial" pitchFamily="34" charset="0"/>
                <a:ea typeface="Arial" pitchFamily="34" charset="-122"/>
                <a:cs typeface="Arial" pitchFamily="34" charset="-120"/>
              </a:rPr>
              <a:t>2</a:t>
            </a:r>
            <a:endParaRPr lang="en-US" sz="2200" dirty="0"/>
          </a:p>
        </p:txBody>
      </p:sp>
      <p:sp>
        <p:nvSpPr>
          <p:cNvPr id="9" name="Shape 6"/>
          <p:cNvSpPr/>
          <p:nvPr/>
        </p:nvSpPr>
        <p:spPr>
          <a:xfrm>
            <a:off x="1005840" y="2377440"/>
            <a:ext cx="457200" cy="457200"/>
          </a:xfrm>
          <a:prstGeom prst="ellipse">
            <a:avLst/>
          </a:prstGeom>
          <a:solidFill>
            <a:srgbClr val="F4F4F4"/>
          </a:solidFill>
          <a:ln/>
        </p:spPr>
      </p:sp>
      <p:pic>
        <p:nvPicPr>
          <p:cNvPr id="10" name="Image 1" descr="preencoded.png">    </p:cNvPr>
          <p:cNvPicPr>
            <a:picLocks noChangeAspect="1"/>
          </p:cNvPicPr>
          <p:nvPr/>
        </p:nvPicPr>
        <p:blipFill>
          <a:blip r:embed="rId2"/>
          <a:stretch>
            <a:fillRect/>
          </a:stretch>
        </p:blipFill>
        <p:spPr>
          <a:xfrm>
            <a:off x="1129284" y="2500884"/>
            <a:ext cx="210312" cy="210312"/>
          </a:xfrm>
          <a:prstGeom prst="rect">
            <a:avLst/>
          </a:prstGeom>
        </p:spPr>
      </p:pic>
      <p:sp>
        <p:nvSpPr>
          <p:cNvPr id="11" name="Text 7"/>
          <p:cNvSpPr/>
          <p:nvPr/>
        </p:nvSpPr>
        <p:spPr>
          <a:xfrm>
            <a:off x="1691640" y="2404872"/>
            <a:ext cx="2286000" cy="365760"/>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New thread</a:t>
            </a:r>
            <a:endParaRPr lang="en-US" sz="1550" dirty="0"/>
          </a:p>
        </p:txBody>
      </p:sp>
      <p:sp>
        <p:nvSpPr>
          <p:cNvPr id="12" name="Text 8"/>
          <p:cNvSpPr/>
          <p:nvPr/>
        </p:nvSpPr>
        <p:spPr>
          <a:xfrm>
            <a:off x="4114800" y="2423160"/>
            <a:ext cx="7498080" cy="457200"/>
          </a:xfrm>
          <a:prstGeom prst="rect">
            <a:avLst/>
          </a:prstGeom>
          <a:noFill/>
          <a:ln/>
        </p:spPr>
        <p:txBody>
          <a:bodyPr wrap="square" lIns="0" tIns="0" rIns="0" bIns="0" rtlCol="0" anchor="ctr"/>
          <a:lstStyle/>
          <a:p>
            <a:pPr indent="0" marL="0">
              <a:buNone/>
            </a:pPr>
            <a:r>
              <a:rPr lang="en-US" sz="1350" dirty="0">
                <a:solidFill>
                  <a:srgbClr val="5F5F5F"/>
                </a:solidFill>
                <a:latin typeface="Arial" pitchFamily="34" charset="0"/>
                <a:ea typeface="Arial" pitchFamily="34" charset="-122"/>
                <a:cs typeface="Arial" pitchFamily="34" charset="-120"/>
              </a:rPr>
              <a:t>“What do you remember about me?” — 🧠 receipt + recital from an empty transcript.</a:t>
            </a:r>
            <a:endParaRPr lang="en-US" sz="1350" dirty="0"/>
          </a:p>
        </p:txBody>
      </p:sp>
      <p:sp>
        <p:nvSpPr>
          <p:cNvPr id="13" name="Text 9"/>
          <p:cNvSpPr/>
          <p:nvPr/>
        </p:nvSpPr>
        <p:spPr>
          <a:xfrm>
            <a:off x="548640" y="3264408"/>
            <a:ext cx="411480" cy="457200"/>
          </a:xfrm>
          <a:prstGeom prst="rect">
            <a:avLst/>
          </a:prstGeom>
          <a:noFill/>
          <a:ln/>
        </p:spPr>
        <p:txBody>
          <a:bodyPr wrap="square" lIns="0" tIns="0" rIns="0" bIns="0" rtlCol="0" anchor="ctr"/>
          <a:lstStyle/>
          <a:p>
            <a:pPr indent="0" marL="0">
              <a:buNone/>
            </a:pPr>
            <a:r>
              <a:rPr lang="en-US" sz="2200" b="1" dirty="0">
                <a:solidFill>
                  <a:srgbClr val="EC0016"/>
                </a:solidFill>
                <a:latin typeface="Arial" pitchFamily="34" charset="0"/>
                <a:ea typeface="Arial" pitchFamily="34" charset="-122"/>
                <a:cs typeface="Arial" pitchFamily="34" charset="-120"/>
              </a:rPr>
              <a:t>3</a:t>
            </a:r>
            <a:endParaRPr lang="en-US" sz="2200" dirty="0"/>
          </a:p>
        </p:txBody>
      </p:sp>
      <p:sp>
        <p:nvSpPr>
          <p:cNvPr id="14" name="Shape 10"/>
          <p:cNvSpPr/>
          <p:nvPr/>
        </p:nvSpPr>
        <p:spPr>
          <a:xfrm>
            <a:off x="1005840" y="3246120"/>
            <a:ext cx="457200" cy="457200"/>
          </a:xfrm>
          <a:prstGeom prst="ellipse">
            <a:avLst/>
          </a:prstGeom>
          <a:solidFill>
            <a:srgbClr val="F4F4F4"/>
          </a:solidFill>
          <a:ln/>
        </p:spPr>
      </p:sp>
      <p:pic>
        <p:nvPicPr>
          <p:cNvPr id="15" name="Image 2" descr="preencoded.png">    </p:cNvPr>
          <p:cNvPicPr>
            <a:picLocks noChangeAspect="1"/>
          </p:cNvPicPr>
          <p:nvPr/>
        </p:nvPicPr>
        <p:blipFill>
          <a:blip r:embed="rId3"/>
          <a:stretch>
            <a:fillRect/>
          </a:stretch>
        </p:blipFill>
        <p:spPr>
          <a:xfrm>
            <a:off x="1129284" y="3369564"/>
            <a:ext cx="210312" cy="210312"/>
          </a:xfrm>
          <a:prstGeom prst="rect">
            <a:avLst/>
          </a:prstGeom>
        </p:spPr>
      </p:pic>
      <p:sp>
        <p:nvSpPr>
          <p:cNvPr id="16" name="Text 11"/>
          <p:cNvSpPr/>
          <p:nvPr/>
        </p:nvSpPr>
        <p:spPr>
          <a:xfrm>
            <a:off x="1691640" y="3273552"/>
            <a:ext cx="2286000" cy="365760"/>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Kill the backend</a:t>
            </a:r>
            <a:endParaRPr lang="en-US" sz="1550" dirty="0"/>
          </a:p>
        </p:txBody>
      </p:sp>
      <p:sp>
        <p:nvSpPr>
          <p:cNvPr id="17" name="Text 12"/>
          <p:cNvSpPr/>
          <p:nvPr/>
        </p:nvSpPr>
        <p:spPr>
          <a:xfrm>
            <a:off x="4114800" y="3291840"/>
            <a:ext cx="7498080" cy="457200"/>
          </a:xfrm>
          <a:prstGeom prst="rect">
            <a:avLst/>
          </a:prstGeom>
          <a:noFill/>
          <a:ln/>
        </p:spPr>
        <p:txBody>
          <a:bodyPr wrap="square" lIns="0" tIns="0" rIns="0" bIns="0" rtlCol="0" anchor="ctr"/>
          <a:lstStyle/>
          <a:p>
            <a:pPr indent="0" marL="0">
              <a:buNone/>
            </a:pPr>
            <a:r>
              <a:rPr lang="en-US" sz="1350" dirty="0">
                <a:solidFill>
                  <a:srgbClr val="5F5F5F"/>
                </a:solidFill>
                <a:latin typeface="Arial" pitchFamily="34" charset="0"/>
                <a:ea typeface="Arial" pitchFamily="34" charset="-122"/>
                <a:cs typeface="Arial" pitchFamily="34" charset="-120"/>
              </a:rPr>
              <a:t>Restart, ask again. Postgres rows, not process state.</a:t>
            </a:r>
            <a:endParaRPr lang="en-US" sz="1350" dirty="0"/>
          </a:p>
        </p:txBody>
      </p:sp>
      <p:sp>
        <p:nvSpPr>
          <p:cNvPr id="18" name="Text 13"/>
          <p:cNvSpPr/>
          <p:nvPr/>
        </p:nvSpPr>
        <p:spPr>
          <a:xfrm>
            <a:off x="548640" y="4133088"/>
            <a:ext cx="411480" cy="457200"/>
          </a:xfrm>
          <a:prstGeom prst="rect">
            <a:avLst/>
          </a:prstGeom>
          <a:noFill/>
          <a:ln/>
        </p:spPr>
        <p:txBody>
          <a:bodyPr wrap="square" lIns="0" tIns="0" rIns="0" bIns="0" rtlCol="0" anchor="ctr"/>
          <a:lstStyle/>
          <a:p>
            <a:pPr indent="0" marL="0">
              <a:buNone/>
            </a:pPr>
            <a:r>
              <a:rPr lang="en-US" sz="2200" b="1" dirty="0">
                <a:solidFill>
                  <a:srgbClr val="EC0016"/>
                </a:solidFill>
                <a:latin typeface="Arial" pitchFamily="34" charset="0"/>
                <a:ea typeface="Arial" pitchFamily="34" charset="-122"/>
                <a:cs typeface="Arial" pitchFamily="34" charset="-120"/>
              </a:rPr>
              <a:t>4</a:t>
            </a:r>
            <a:endParaRPr lang="en-US" sz="2200" dirty="0"/>
          </a:p>
        </p:txBody>
      </p:sp>
      <p:sp>
        <p:nvSpPr>
          <p:cNvPr id="19" name="Shape 14"/>
          <p:cNvSpPr/>
          <p:nvPr/>
        </p:nvSpPr>
        <p:spPr>
          <a:xfrm>
            <a:off x="1005840" y="4114800"/>
            <a:ext cx="457200" cy="457200"/>
          </a:xfrm>
          <a:prstGeom prst="ellipse">
            <a:avLst/>
          </a:prstGeom>
          <a:solidFill>
            <a:srgbClr val="F4F4F4"/>
          </a:solidFill>
          <a:ln/>
        </p:spPr>
      </p:sp>
      <p:pic>
        <p:nvPicPr>
          <p:cNvPr id="20" name="Image 3" descr="preencoded.png">    </p:cNvPr>
          <p:cNvPicPr>
            <a:picLocks noChangeAspect="1"/>
          </p:cNvPicPr>
          <p:nvPr/>
        </p:nvPicPr>
        <p:blipFill>
          <a:blip r:embed="rId4"/>
          <a:stretch>
            <a:fillRect/>
          </a:stretch>
        </p:blipFill>
        <p:spPr>
          <a:xfrm>
            <a:off x="1129284" y="4238244"/>
            <a:ext cx="210312" cy="210312"/>
          </a:xfrm>
          <a:prstGeom prst="rect">
            <a:avLst/>
          </a:prstGeom>
        </p:spPr>
      </p:pic>
      <p:sp>
        <p:nvSpPr>
          <p:cNvPr id="21" name="Text 15"/>
          <p:cNvSpPr/>
          <p:nvPr/>
        </p:nvSpPr>
        <p:spPr>
          <a:xfrm>
            <a:off x="1691640" y="4142232"/>
            <a:ext cx="2286000" cy="365760"/>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Switch user</a:t>
            </a:r>
            <a:endParaRPr lang="en-US" sz="1550" dirty="0"/>
          </a:p>
        </p:txBody>
      </p:sp>
      <p:sp>
        <p:nvSpPr>
          <p:cNvPr id="22" name="Text 16"/>
          <p:cNvSpPr/>
          <p:nvPr/>
        </p:nvSpPr>
        <p:spPr>
          <a:xfrm>
            <a:off x="4114800" y="4160520"/>
            <a:ext cx="7498080" cy="457200"/>
          </a:xfrm>
          <a:prstGeom prst="rect">
            <a:avLst/>
          </a:prstGeom>
          <a:noFill/>
          <a:ln/>
        </p:spPr>
        <p:txBody>
          <a:bodyPr wrap="square" lIns="0" tIns="0" rIns="0" bIns="0" rtlCol="0" anchor="ctr"/>
          <a:lstStyle/>
          <a:p>
            <a:pPr indent="0" marL="0">
              <a:buNone/>
            </a:pPr>
            <a:r>
              <a:rPr lang="en-US" sz="1350" dirty="0">
                <a:solidFill>
                  <a:srgbClr val="5F5F5F"/>
                </a:solidFill>
                <a:latin typeface="Arial" pitchFamily="34" charset="0"/>
                <a:ea typeface="Arial" pitchFamily="34" charset="-122"/>
                <a:cs typeface="Arial" pitchFamily="34" charset="-120"/>
              </a:rPr>
              <a:t>Same agent, different user — finds nothing. Isolation at the database.</a:t>
            </a:r>
            <a:endParaRPr lang="en-US" sz="1350" dirty="0"/>
          </a:p>
        </p:txBody>
      </p:sp>
      <p:sp>
        <p:nvSpPr>
          <p:cNvPr id="23" name="Text 17"/>
          <p:cNvSpPr/>
          <p:nvPr/>
        </p:nvSpPr>
        <p:spPr>
          <a:xfrm>
            <a:off x="548640" y="5001768"/>
            <a:ext cx="411480" cy="457200"/>
          </a:xfrm>
          <a:prstGeom prst="rect">
            <a:avLst/>
          </a:prstGeom>
          <a:noFill/>
          <a:ln/>
        </p:spPr>
        <p:txBody>
          <a:bodyPr wrap="square" lIns="0" tIns="0" rIns="0" bIns="0" rtlCol="0" anchor="ctr"/>
          <a:lstStyle/>
          <a:p>
            <a:pPr indent="0" marL="0">
              <a:buNone/>
            </a:pPr>
            <a:r>
              <a:rPr lang="en-US" sz="2200" b="1" dirty="0">
                <a:solidFill>
                  <a:srgbClr val="EC0016"/>
                </a:solidFill>
                <a:latin typeface="Arial" pitchFamily="34" charset="0"/>
                <a:ea typeface="Arial" pitchFamily="34" charset="-122"/>
                <a:cs typeface="Arial" pitchFamily="34" charset="-120"/>
              </a:rPr>
              <a:t>5</a:t>
            </a:r>
            <a:endParaRPr lang="en-US" sz="2200" dirty="0"/>
          </a:p>
        </p:txBody>
      </p:sp>
      <p:sp>
        <p:nvSpPr>
          <p:cNvPr id="24" name="Shape 18"/>
          <p:cNvSpPr/>
          <p:nvPr/>
        </p:nvSpPr>
        <p:spPr>
          <a:xfrm>
            <a:off x="1005840" y="4983480"/>
            <a:ext cx="457200" cy="457200"/>
          </a:xfrm>
          <a:prstGeom prst="ellipse">
            <a:avLst/>
          </a:prstGeom>
          <a:solidFill>
            <a:srgbClr val="F4F4F4"/>
          </a:solidFill>
          <a:ln/>
        </p:spPr>
      </p:sp>
      <p:pic>
        <p:nvPicPr>
          <p:cNvPr id="25" name="Image 4" descr="preencoded.png">    </p:cNvPr>
          <p:cNvPicPr>
            <a:picLocks noChangeAspect="1"/>
          </p:cNvPicPr>
          <p:nvPr/>
        </p:nvPicPr>
        <p:blipFill>
          <a:blip r:embed="rId5"/>
          <a:stretch>
            <a:fillRect/>
          </a:stretch>
        </p:blipFill>
        <p:spPr>
          <a:xfrm>
            <a:off x="1129284" y="5106924"/>
            <a:ext cx="210312" cy="210312"/>
          </a:xfrm>
          <a:prstGeom prst="rect">
            <a:avLst/>
          </a:prstGeom>
        </p:spPr>
      </p:pic>
      <p:sp>
        <p:nvSpPr>
          <p:cNvPr id="26" name="Text 19"/>
          <p:cNvSpPr/>
          <p:nvPr/>
        </p:nvSpPr>
        <p:spPr>
          <a:xfrm>
            <a:off x="1691640" y="5010912"/>
            <a:ext cx="2286000" cy="365760"/>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Change my mind</a:t>
            </a:r>
            <a:endParaRPr lang="en-US" sz="1550" dirty="0"/>
          </a:p>
        </p:txBody>
      </p:sp>
      <p:sp>
        <p:nvSpPr>
          <p:cNvPr id="27" name="Text 20"/>
          <p:cNvSpPr/>
          <p:nvPr/>
        </p:nvSpPr>
        <p:spPr>
          <a:xfrm>
            <a:off x="4114800" y="5029200"/>
            <a:ext cx="7498080" cy="457200"/>
          </a:xfrm>
          <a:prstGeom prst="rect">
            <a:avLst/>
          </a:prstGeom>
          <a:noFill/>
          <a:ln/>
        </p:spPr>
        <p:txBody>
          <a:bodyPr wrap="square" lIns="0" tIns="0" rIns="0" bIns="0" rtlCol="0" anchor="ctr"/>
          <a:lstStyle/>
          <a:p>
            <a:pPr indent="0" marL="0">
              <a:buNone/>
            </a:pPr>
            <a:r>
              <a:rPr lang="en-US" sz="1350" dirty="0">
                <a:solidFill>
                  <a:srgbClr val="5F5F5F"/>
                </a:solidFill>
                <a:latin typeface="Arial" pitchFamily="34" charset="0"/>
                <a:ea typeface="Arial" pitchFamily="34" charset="-122"/>
                <a:cs typeface="Arial" pitchFamily="34" charset="-120"/>
              </a:rPr>
              <a:t>“Five bullets now, not three.” Old fact retired, replacement wins.</a:t>
            </a:r>
            <a:endParaRPr lang="en-US" sz="1350" dirty="0"/>
          </a:p>
        </p:txBody>
      </p:sp>
      <p:sp>
        <p:nvSpPr>
          <p:cNvPr id="28" name="Text 21"/>
          <p:cNvSpPr/>
          <p:nvPr/>
        </p:nvSpPr>
        <p:spPr>
          <a:xfrm>
            <a:off x="548640" y="6035040"/>
            <a:ext cx="10972800" cy="365760"/>
          </a:xfrm>
          <a:prstGeom prst="rect">
            <a:avLst/>
          </a:prstGeom>
          <a:noFill/>
          <a:ln/>
        </p:spPr>
        <p:txBody>
          <a:bodyPr wrap="square" rtlCol="0" anchor="ctr"/>
          <a:lstStyle/>
          <a:p>
            <a:pPr indent="0" marL="0">
              <a:buNone/>
            </a:pPr>
            <a:r>
              <a:rPr lang="en-US" sz="1250" i="1" dirty="0">
                <a:solidFill>
                  <a:srgbClr val="5F5F5F"/>
                </a:solidFill>
                <a:latin typeface="Arial" pitchFamily="34" charset="0"/>
                <a:ea typeface="Arial" pitchFamily="34" charset="-122"/>
                <a:cs typeface="Arial" pitchFamily="34" charset="-120"/>
              </a:rPr>
              <a:t>Everything is the real system on the dev pod — live database, no mocks.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64240" cy="640080"/>
          </a:xfrm>
          <a:prstGeom prst="rect">
            <a:avLst/>
          </a:prstGeom>
          <a:noFill/>
          <a:ln/>
        </p:spPr>
        <p:txBody>
          <a:bodyPr wrap="square" rtlCol="0" anchor="ctr"/>
          <a:lstStyle/>
          <a:p>
            <a:pPr indent="0" marL="0">
              <a:buNone/>
            </a:pPr>
            <a:r>
              <a:rPr lang="en-US" sz="3000" b="1" dirty="0">
                <a:solidFill>
                  <a:srgbClr val="1A1A1A"/>
                </a:solidFill>
                <a:latin typeface="Arial" pitchFamily="34" charset="0"/>
                <a:ea typeface="Arial" pitchFamily="34" charset="-122"/>
                <a:cs typeface="Arial" pitchFamily="34" charset="-120"/>
              </a:rPr>
              <a:t>Where it stands</a:t>
            </a:r>
            <a:endParaRPr lang="en-US" sz="3000" dirty="0"/>
          </a:p>
        </p:txBody>
      </p:sp>
      <p:sp>
        <p:nvSpPr>
          <p:cNvPr id="3" name="Text 1"/>
          <p:cNvSpPr/>
          <p:nvPr/>
        </p:nvSpPr>
        <p:spPr>
          <a:xfrm>
            <a:off x="548640" y="1325880"/>
            <a:ext cx="5486400" cy="320040"/>
          </a:xfrm>
          <a:prstGeom prst="rect">
            <a:avLst/>
          </a:prstGeom>
          <a:noFill/>
          <a:ln/>
        </p:spPr>
        <p:txBody>
          <a:bodyPr wrap="square" rtlCol="0" anchor="ctr"/>
          <a:lstStyle/>
          <a:p>
            <a:pPr indent="0" marL="0">
              <a:buNone/>
            </a:pPr>
            <a:r>
              <a:rPr lang="en-US" sz="1200" b="1" spc="200" kern="0" dirty="0">
                <a:solidFill>
                  <a:srgbClr val="EC0016"/>
                </a:solidFill>
                <a:latin typeface="Arial" pitchFamily="34" charset="0"/>
                <a:ea typeface="Arial" pitchFamily="34" charset="-122"/>
                <a:cs typeface="Arial" pitchFamily="34" charset="-120"/>
              </a:rPr>
              <a:t>REVIEW FEEDBACK → IMPLEMENTED</a:t>
            </a:r>
            <a:endParaRPr lang="en-US" sz="1200" dirty="0"/>
          </a:p>
        </p:txBody>
      </p:sp>
      <p:sp>
        <p:nvSpPr>
          <p:cNvPr id="4" name="Shape 2"/>
          <p:cNvSpPr/>
          <p:nvPr/>
        </p:nvSpPr>
        <p:spPr>
          <a:xfrm>
            <a:off x="548640" y="1783080"/>
            <a:ext cx="384048" cy="384048"/>
          </a:xfrm>
          <a:prstGeom prst="ellipse">
            <a:avLst/>
          </a:prstGeom>
          <a:solidFill>
            <a:srgbClr val="F4F4F4"/>
          </a:solidFill>
          <a:ln/>
        </p:spPr>
      </p:sp>
      <p:pic>
        <p:nvPicPr>
          <p:cNvPr id="5" name="Image 0" descr="preencoded.png">    </p:cNvPr>
          <p:cNvPicPr>
            <a:picLocks noChangeAspect="1"/>
          </p:cNvPicPr>
          <p:nvPr/>
        </p:nvPicPr>
        <p:blipFill>
          <a:blip r:embed="rId1"/>
          <a:stretch>
            <a:fillRect/>
          </a:stretch>
        </p:blipFill>
        <p:spPr>
          <a:xfrm>
            <a:off x="652333" y="1886773"/>
            <a:ext cx="176662" cy="176662"/>
          </a:xfrm>
          <a:prstGeom prst="rect">
            <a:avLst/>
          </a:prstGeom>
        </p:spPr>
      </p:pic>
      <p:sp>
        <p:nvSpPr>
          <p:cNvPr id="6" name="Text 3"/>
          <p:cNvSpPr/>
          <p:nvPr/>
        </p:nvSpPr>
        <p:spPr>
          <a:xfrm>
            <a:off x="1115568" y="1792224"/>
            <a:ext cx="5120640" cy="594360"/>
          </a:xfrm>
          <a:prstGeom prst="rect">
            <a:avLst/>
          </a:prstGeom>
          <a:noFill/>
          <a:ln/>
        </p:spPr>
        <p:txBody>
          <a:bodyPr wrap="square" lIns="0" tIns="0" rIns="0" bIns="0" rtlCol="0" anchor="ctr"/>
          <a:lstStyle/>
          <a:p>
            <a:pPr indent="0" marL="0">
              <a:lnSpc>
                <a:spcPct val="105000"/>
              </a:lnSpc>
              <a:buNone/>
            </a:pPr>
            <a:r>
              <a:rPr lang="en-US" sz="1350" dirty="0">
                <a:solidFill>
                  <a:srgbClr val="1A1A1A"/>
                </a:solidFill>
                <a:latin typeface="Arial" pitchFamily="34" charset="0"/>
                <a:ea typeface="Arial" pitchFamily="34" charset="-122"/>
                <a:cs typeface="Arial" pitchFamily="34" charset="-120"/>
              </a:rPr>
              <a:t>Re-based onto current dev in a fresh branch</a:t>
            </a:r>
            <a:endParaRPr lang="en-US" sz="1350" dirty="0"/>
          </a:p>
        </p:txBody>
      </p:sp>
      <p:sp>
        <p:nvSpPr>
          <p:cNvPr id="7" name="Shape 4"/>
          <p:cNvSpPr/>
          <p:nvPr/>
        </p:nvSpPr>
        <p:spPr>
          <a:xfrm>
            <a:off x="548640" y="2587752"/>
            <a:ext cx="384048" cy="384048"/>
          </a:xfrm>
          <a:prstGeom prst="ellipse">
            <a:avLst/>
          </a:prstGeom>
          <a:solidFill>
            <a:srgbClr val="F4F4F4"/>
          </a:solidFill>
          <a:ln/>
        </p:spPr>
      </p:sp>
      <p:pic>
        <p:nvPicPr>
          <p:cNvPr id="8" name="Image 1" descr="preencoded.png">    </p:cNvPr>
          <p:cNvPicPr>
            <a:picLocks noChangeAspect="1"/>
          </p:cNvPicPr>
          <p:nvPr/>
        </p:nvPicPr>
        <p:blipFill>
          <a:blip r:embed="rId2"/>
          <a:stretch>
            <a:fillRect/>
          </a:stretch>
        </p:blipFill>
        <p:spPr>
          <a:xfrm>
            <a:off x="652333" y="2691445"/>
            <a:ext cx="176662" cy="176662"/>
          </a:xfrm>
          <a:prstGeom prst="rect">
            <a:avLst/>
          </a:prstGeom>
        </p:spPr>
      </p:pic>
      <p:sp>
        <p:nvSpPr>
          <p:cNvPr id="9" name="Text 5"/>
          <p:cNvSpPr/>
          <p:nvPr/>
        </p:nvSpPr>
        <p:spPr>
          <a:xfrm>
            <a:off x="1115568" y="2596896"/>
            <a:ext cx="5120640" cy="594360"/>
          </a:xfrm>
          <a:prstGeom prst="rect">
            <a:avLst/>
          </a:prstGeom>
          <a:noFill/>
          <a:ln/>
        </p:spPr>
        <p:txBody>
          <a:bodyPr wrap="square" lIns="0" tIns="0" rIns="0" bIns="0" rtlCol="0" anchor="ctr"/>
          <a:lstStyle/>
          <a:p>
            <a:pPr indent="0" marL="0">
              <a:lnSpc>
                <a:spcPct val="105000"/>
              </a:lnSpc>
              <a:buNone/>
            </a:pPr>
            <a:r>
              <a:rPr lang="en-US" sz="1350" dirty="0">
                <a:solidFill>
                  <a:srgbClr val="1A1A1A"/>
                </a:solidFill>
                <a:latin typeface="Arial" pitchFamily="34" charset="0"/>
                <a:ea typeface="Arial" pitchFamily="34" charset="-122"/>
                <a:cs typeface="Arial" pitchFamily="34" charset="-120"/>
              </a:rPr>
              <a:t>Alembic migrations — reviewed baseline, dev DB verified drift-free</a:t>
            </a:r>
            <a:endParaRPr lang="en-US" sz="1350" dirty="0"/>
          </a:p>
        </p:txBody>
      </p:sp>
      <p:sp>
        <p:nvSpPr>
          <p:cNvPr id="10" name="Shape 6"/>
          <p:cNvSpPr/>
          <p:nvPr/>
        </p:nvSpPr>
        <p:spPr>
          <a:xfrm>
            <a:off x="548640" y="3392424"/>
            <a:ext cx="384048" cy="384048"/>
          </a:xfrm>
          <a:prstGeom prst="ellipse">
            <a:avLst/>
          </a:prstGeom>
          <a:solidFill>
            <a:srgbClr val="F4F4F4"/>
          </a:solidFill>
          <a:ln/>
        </p:spPr>
      </p:sp>
      <p:pic>
        <p:nvPicPr>
          <p:cNvPr id="11" name="Image 2" descr="preencoded.png">    </p:cNvPr>
          <p:cNvPicPr>
            <a:picLocks noChangeAspect="1"/>
          </p:cNvPicPr>
          <p:nvPr/>
        </p:nvPicPr>
        <p:blipFill>
          <a:blip r:embed="rId3"/>
          <a:stretch>
            <a:fillRect/>
          </a:stretch>
        </p:blipFill>
        <p:spPr>
          <a:xfrm>
            <a:off x="652333" y="3496117"/>
            <a:ext cx="176662" cy="176662"/>
          </a:xfrm>
          <a:prstGeom prst="rect">
            <a:avLst/>
          </a:prstGeom>
        </p:spPr>
      </p:pic>
      <p:sp>
        <p:nvSpPr>
          <p:cNvPr id="12" name="Text 7"/>
          <p:cNvSpPr/>
          <p:nvPr/>
        </p:nvSpPr>
        <p:spPr>
          <a:xfrm>
            <a:off x="1115568" y="3401568"/>
            <a:ext cx="5120640" cy="594360"/>
          </a:xfrm>
          <a:prstGeom prst="rect">
            <a:avLst/>
          </a:prstGeom>
          <a:noFill/>
          <a:ln/>
        </p:spPr>
        <p:txBody>
          <a:bodyPr wrap="square" lIns="0" tIns="0" rIns="0" bIns="0" rtlCol="0" anchor="ctr"/>
          <a:lstStyle/>
          <a:p>
            <a:pPr indent="0" marL="0">
              <a:lnSpc>
                <a:spcPct val="105000"/>
              </a:lnSpc>
              <a:buNone/>
            </a:pPr>
            <a:r>
              <a:rPr lang="en-US" sz="1350" dirty="0">
                <a:solidFill>
                  <a:srgbClr val="1A1A1A"/>
                </a:solidFill>
                <a:latin typeface="Arial" pitchFamily="34" charset="0"/>
                <a:ea typeface="Arial" pitchFamily="34" charset="-122"/>
                <a:cs typeface="Arial" pitchFamily="34" charset="-120"/>
              </a:rPr>
              <a:t>Harness-managed DB lifecycle — no private engine</a:t>
            </a:r>
            <a:endParaRPr lang="en-US" sz="1350" dirty="0"/>
          </a:p>
        </p:txBody>
      </p:sp>
      <p:sp>
        <p:nvSpPr>
          <p:cNvPr id="13" name="Shape 8"/>
          <p:cNvSpPr/>
          <p:nvPr/>
        </p:nvSpPr>
        <p:spPr>
          <a:xfrm>
            <a:off x="548640" y="4197096"/>
            <a:ext cx="384048" cy="384048"/>
          </a:xfrm>
          <a:prstGeom prst="ellipse">
            <a:avLst/>
          </a:prstGeom>
          <a:solidFill>
            <a:srgbClr val="F4F4F4"/>
          </a:solidFill>
          <a:ln/>
        </p:spPr>
      </p:sp>
      <p:pic>
        <p:nvPicPr>
          <p:cNvPr id="14" name="Image 3" descr="preencoded.png">    </p:cNvPr>
          <p:cNvPicPr>
            <a:picLocks noChangeAspect="1"/>
          </p:cNvPicPr>
          <p:nvPr/>
        </p:nvPicPr>
        <p:blipFill>
          <a:blip r:embed="rId4"/>
          <a:stretch>
            <a:fillRect/>
          </a:stretch>
        </p:blipFill>
        <p:spPr>
          <a:xfrm>
            <a:off x="652333" y="4300789"/>
            <a:ext cx="176662" cy="176662"/>
          </a:xfrm>
          <a:prstGeom prst="rect">
            <a:avLst/>
          </a:prstGeom>
        </p:spPr>
      </p:pic>
      <p:sp>
        <p:nvSpPr>
          <p:cNvPr id="15" name="Text 9"/>
          <p:cNvSpPr/>
          <p:nvPr/>
        </p:nvSpPr>
        <p:spPr>
          <a:xfrm>
            <a:off x="1115568" y="4206240"/>
            <a:ext cx="5120640" cy="594360"/>
          </a:xfrm>
          <a:prstGeom prst="rect">
            <a:avLst/>
          </a:prstGeom>
          <a:noFill/>
          <a:ln/>
        </p:spPr>
        <p:txBody>
          <a:bodyPr wrap="square" lIns="0" tIns="0" rIns="0" bIns="0" rtlCol="0" anchor="ctr"/>
          <a:lstStyle/>
          <a:p>
            <a:pPr indent="0" marL="0">
              <a:lnSpc>
                <a:spcPct val="105000"/>
              </a:lnSpc>
              <a:buNone/>
            </a:pPr>
            <a:r>
              <a:rPr lang="en-US" sz="1350" dirty="0">
                <a:solidFill>
                  <a:srgbClr val="1A1A1A"/>
                </a:solidFill>
                <a:latin typeface="Arial" pitchFamily="34" charset="0"/>
                <a:ea typeface="Arial" pitchFamily="34" charset="-122"/>
                <a:cs typeface="Arial" pitchFamily="34" charset="-120"/>
              </a:rPr>
              <a:t>Validated user + tenant required everywhere memory operates</a:t>
            </a:r>
            <a:endParaRPr lang="en-US" sz="1350" dirty="0"/>
          </a:p>
        </p:txBody>
      </p:sp>
      <p:sp>
        <p:nvSpPr>
          <p:cNvPr id="16" name="Shape 10"/>
          <p:cNvSpPr/>
          <p:nvPr/>
        </p:nvSpPr>
        <p:spPr>
          <a:xfrm>
            <a:off x="548640" y="5001768"/>
            <a:ext cx="384048" cy="384048"/>
          </a:xfrm>
          <a:prstGeom prst="ellipse">
            <a:avLst/>
          </a:prstGeom>
          <a:solidFill>
            <a:srgbClr val="F4F4F4"/>
          </a:solidFill>
          <a:ln/>
        </p:spPr>
      </p:sp>
      <p:pic>
        <p:nvPicPr>
          <p:cNvPr id="17" name="Image 4" descr="preencoded.png">    </p:cNvPr>
          <p:cNvPicPr>
            <a:picLocks noChangeAspect="1"/>
          </p:cNvPicPr>
          <p:nvPr/>
        </p:nvPicPr>
        <p:blipFill>
          <a:blip r:embed="rId5"/>
          <a:stretch>
            <a:fillRect/>
          </a:stretch>
        </p:blipFill>
        <p:spPr>
          <a:xfrm>
            <a:off x="652333" y="5105461"/>
            <a:ext cx="176662" cy="176662"/>
          </a:xfrm>
          <a:prstGeom prst="rect">
            <a:avLst/>
          </a:prstGeom>
        </p:spPr>
      </p:pic>
      <p:sp>
        <p:nvSpPr>
          <p:cNvPr id="18" name="Text 11"/>
          <p:cNvSpPr/>
          <p:nvPr/>
        </p:nvSpPr>
        <p:spPr>
          <a:xfrm>
            <a:off x="1115568" y="5010912"/>
            <a:ext cx="5120640" cy="594360"/>
          </a:xfrm>
          <a:prstGeom prst="rect">
            <a:avLst/>
          </a:prstGeom>
          <a:noFill/>
          <a:ln/>
        </p:spPr>
        <p:txBody>
          <a:bodyPr wrap="square" lIns="0" tIns="0" rIns="0" bIns="0" rtlCol="0" anchor="ctr"/>
          <a:lstStyle/>
          <a:p>
            <a:pPr indent="0" marL="0">
              <a:lnSpc>
                <a:spcPct val="105000"/>
              </a:lnSpc>
              <a:buNone/>
            </a:pPr>
            <a:r>
              <a:rPr lang="en-US" sz="1350" dirty="0">
                <a:solidFill>
                  <a:srgbClr val="1A1A1A"/>
                </a:solidFill>
                <a:latin typeface="Arial" pitchFamily="34" charset="0"/>
                <a:ea typeface="Arial" pitchFamily="34" charset="-122"/>
                <a:cs typeface="Arial" pitchFamily="34" charset="-120"/>
              </a:rPr>
              <a:t>Ten new tests, including the off-by-default guard</a:t>
            </a:r>
            <a:endParaRPr lang="en-US" sz="1350" dirty="0"/>
          </a:p>
        </p:txBody>
      </p:sp>
      <p:sp>
        <p:nvSpPr>
          <p:cNvPr id="19" name="Shape 12"/>
          <p:cNvSpPr/>
          <p:nvPr/>
        </p:nvSpPr>
        <p:spPr>
          <a:xfrm>
            <a:off x="6400800" y="1325880"/>
            <a:ext cx="5239512" cy="4572000"/>
          </a:xfrm>
          <a:prstGeom prst="roundRect">
            <a:avLst>
              <a:gd name="adj" fmla="val 2000"/>
            </a:avLst>
          </a:prstGeom>
          <a:solidFill>
            <a:srgbClr val="0F0F0F"/>
          </a:solidFill>
          <a:ln/>
        </p:spPr>
      </p:sp>
      <p:sp>
        <p:nvSpPr>
          <p:cNvPr id="20" name="Text 13"/>
          <p:cNvSpPr/>
          <p:nvPr/>
        </p:nvSpPr>
        <p:spPr>
          <a:xfrm>
            <a:off x="6766560" y="1645920"/>
            <a:ext cx="3657600" cy="320040"/>
          </a:xfrm>
          <a:prstGeom prst="rect">
            <a:avLst/>
          </a:prstGeom>
          <a:noFill/>
          <a:ln/>
        </p:spPr>
        <p:txBody>
          <a:bodyPr wrap="square" lIns="0" tIns="0" rIns="0" bIns="0" rtlCol="0" anchor="ctr"/>
          <a:lstStyle/>
          <a:p>
            <a:pPr indent="0" marL="0">
              <a:buNone/>
            </a:pPr>
            <a:r>
              <a:rPr lang="en-US" sz="1200" b="1" spc="300" kern="0" dirty="0">
                <a:solidFill>
                  <a:srgbClr val="EC0016"/>
                </a:solidFill>
                <a:latin typeface="Arial" pitchFamily="34" charset="0"/>
                <a:ea typeface="Arial" pitchFamily="34" charset="-122"/>
                <a:cs typeface="Arial" pitchFamily="34" charset="-120"/>
              </a:rPr>
              <a:t>STATUS</a:t>
            </a:r>
            <a:endParaRPr lang="en-US" sz="1200" dirty="0"/>
          </a:p>
        </p:txBody>
      </p:sp>
      <p:sp>
        <p:nvSpPr>
          <p:cNvPr id="21" name="Text 14"/>
          <p:cNvSpPr/>
          <p:nvPr/>
        </p:nvSpPr>
        <p:spPr>
          <a:xfrm>
            <a:off x="6766560" y="2057400"/>
            <a:ext cx="4526280" cy="777240"/>
          </a:xfrm>
          <a:prstGeom prst="rect">
            <a:avLst/>
          </a:prstGeom>
          <a:noFill/>
          <a:ln/>
        </p:spPr>
        <p:txBody>
          <a:bodyPr wrap="square" lIns="0" tIns="0" rIns="0" bIns="0" rtlCol="0" anchor="ctr"/>
          <a:lstStyle/>
          <a:p>
            <a:pPr indent="0" marL="0">
              <a:lnSpc>
                <a:spcPct val="110000"/>
              </a:lnSpc>
              <a:buNone/>
            </a:pPr>
            <a:r>
              <a:rPr lang="en-US" sz="1800" b="1" dirty="0">
                <a:solidFill>
                  <a:srgbClr val="FFFFFF"/>
                </a:solidFill>
                <a:latin typeface="Arial" pitchFamily="34" charset="0"/>
                <a:ea typeface="Arial" pitchFamily="34" charset="-122"/>
                <a:cs typeface="Arial" pitchFamily="34" charset="-120"/>
              </a:rPr>
              <a:t>The foundation merge request is in review now.</a:t>
            </a:r>
            <a:endParaRPr lang="en-US" sz="1800" dirty="0"/>
          </a:p>
        </p:txBody>
      </p:sp>
      <p:sp>
        <p:nvSpPr>
          <p:cNvPr id="22" name="Text 15"/>
          <p:cNvSpPr/>
          <p:nvPr/>
        </p:nvSpPr>
        <p:spPr>
          <a:xfrm>
            <a:off x="6766560" y="3063240"/>
            <a:ext cx="3657600" cy="320040"/>
          </a:xfrm>
          <a:prstGeom prst="rect">
            <a:avLst/>
          </a:prstGeom>
          <a:noFill/>
          <a:ln/>
        </p:spPr>
        <p:txBody>
          <a:bodyPr wrap="square" lIns="0" tIns="0" rIns="0" bIns="0" rtlCol="0" anchor="ctr"/>
          <a:lstStyle/>
          <a:p>
            <a:pPr indent="0" marL="0">
              <a:buNone/>
            </a:pPr>
            <a:r>
              <a:rPr lang="en-US" sz="1200" b="1" spc="200" kern="0" dirty="0">
                <a:solidFill>
                  <a:srgbClr val="EC0016"/>
                </a:solidFill>
                <a:latin typeface="Arial" pitchFamily="34" charset="0"/>
                <a:ea typeface="Arial" pitchFamily="34" charset="-122"/>
                <a:cs typeface="Arial" pitchFamily="34" charset="-120"/>
              </a:rPr>
              <a:t>NEXT WAVE — DESIGNED</a:t>
            </a:r>
            <a:endParaRPr lang="en-US" sz="1200" dirty="0"/>
          </a:p>
        </p:txBody>
      </p:sp>
      <p:sp>
        <p:nvSpPr>
          <p:cNvPr id="23" name="Text 16"/>
          <p:cNvSpPr/>
          <p:nvPr/>
        </p:nvSpPr>
        <p:spPr>
          <a:xfrm>
            <a:off x="6766560" y="3474720"/>
            <a:ext cx="4572000" cy="411480"/>
          </a:xfrm>
          <a:prstGeom prst="rect">
            <a:avLst/>
          </a:prstGeom>
          <a:noFill/>
          <a:ln/>
        </p:spPr>
        <p:txBody>
          <a:bodyPr wrap="square" lIns="0" tIns="0" rIns="0" bIns="0" rtlCol="0" anchor="ctr"/>
          <a:lstStyle/>
          <a:p>
            <a:pPr indent="0" marL="0">
              <a:buNone/>
            </a:pPr>
            <a:r>
              <a:rPr lang="en-US" sz="1350" dirty="0">
                <a:solidFill>
                  <a:srgbClr val="E6E6E6"/>
                </a:solidFill>
                <a:latin typeface="Arial" pitchFamily="34" charset="0"/>
                <a:ea typeface="Arial" pitchFamily="34" charset="-122"/>
                <a:cs typeface="Arial" pitchFamily="34" charset="-120"/>
              </a:rPr>
              <a:t>—  Memory out of the instruction channel</a:t>
            </a:r>
            <a:endParaRPr lang="en-US" sz="1350" dirty="0"/>
          </a:p>
        </p:txBody>
      </p:sp>
      <p:sp>
        <p:nvSpPr>
          <p:cNvPr id="24" name="Text 17"/>
          <p:cNvSpPr/>
          <p:nvPr/>
        </p:nvSpPr>
        <p:spPr>
          <a:xfrm>
            <a:off x="6766560" y="3977640"/>
            <a:ext cx="4572000" cy="411480"/>
          </a:xfrm>
          <a:prstGeom prst="rect">
            <a:avLst/>
          </a:prstGeom>
          <a:noFill/>
          <a:ln/>
        </p:spPr>
        <p:txBody>
          <a:bodyPr wrap="square" lIns="0" tIns="0" rIns="0" bIns="0" rtlCol="0" anchor="ctr"/>
          <a:lstStyle/>
          <a:p>
            <a:pPr indent="0" marL="0">
              <a:buNone/>
            </a:pPr>
            <a:r>
              <a:rPr lang="en-US" sz="1350" dirty="0">
                <a:solidFill>
                  <a:srgbClr val="E6E6E6"/>
                </a:solidFill>
                <a:latin typeface="Arial" pitchFamily="34" charset="0"/>
                <a:ea typeface="Arial" pitchFamily="34" charset="-122"/>
                <a:cs typeface="Arial" pitchFamily="34" charset="-120"/>
              </a:rPr>
              <a:t>—  Durable extraction (outbox + retries)</a:t>
            </a:r>
            <a:endParaRPr lang="en-US" sz="1350" dirty="0"/>
          </a:p>
        </p:txBody>
      </p:sp>
      <p:sp>
        <p:nvSpPr>
          <p:cNvPr id="25" name="Text 18"/>
          <p:cNvSpPr/>
          <p:nvPr/>
        </p:nvSpPr>
        <p:spPr>
          <a:xfrm>
            <a:off x="6766560" y="4480560"/>
            <a:ext cx="4572000" cy="411480"/>
          </a:xfrm>
          <a:prstGeom prst="rect">
            <a:avLst/>
          </a:prstGeom>
          <a:noFill/>
          <a:ln/>
        </p:spPr>
        <p:txBody>
          <a:bodyPr wrap="square" lIns="0" tIns="0" rIns="0" bIns="0" rtlCol="0" anchor="ctr"/>
          <a:lstStyle/>
          <a:p>
            <a:pPr indent="0" marL="0">
              <a:buNone/>
            </a:pPr>
            <a:r>
              <a:rPr lang="en-US" sz="1350" dirty="0">
                <a:solidFill>
                  <a:srgbClr val="E6E6E6"/>
                </a:solidFill>
                <a:latin typeface="Arial" pitchFamily="34" charset="0"/>
                <a:ea typeface="Arial" pitchFamily="34" charset="-122"/>
                <a:cs typeface="Arial" pitchFamily="34" charset="-120"/>
              </a:rPr>
              <a:t>—  View / delete / retention APIs + audit events</a:t>
            </a:r>
            <a:endParaRPr lang="en-US" sz="1350" dirty="0"/>
          </a:p>
        </p:txBody>
      </p:sp>
      <p:sp>
        <p:nvSpPr>
          <p:cNvPr id="26" name="Text 19"/>
          <p:cNvSpPr/>
          <p:nvPr/>
        </p:nvSpPr>
        <p:spPr>
          <a:xfrm>
            <a:off x="6766560" y="4983480"/>
            <a:ext cx="4572000" cy="411480"/>
          </a:xfrm>
          <a:prstGeom prst="rect">
            <a:avLst/>
          </a:prstGeom>
          <a:noFill/>
          <a:ln/>
        </p:spPr>
        <p:txBody>
          <a:bodyPr wrap="square" lIns="0" tIns="0" rIns="0" bIns="0" rtlCol="0" anchor="ctr"/>
          <a:lstStyle/>
          <a:p>
            <a:pPr indent="0" marL="0">
              <a:buNone/>
            </a:pPr>
            <a:r>
              <a:rPr lang="en-US" sz="1350" dirty="0">
                <a:solidFill>
                  <a:srgbClr val="E6E6E6"/>
                </a:solidFill>
                <a:latin typeface="Arial" pitchFamily="34" charset="0"/>
                <a:ea typeface="Arial" pitchFamily="34" charset="-122"/>
                <a:cs typeface="Arial" pitchFamily="34" charset="-120"/>
              </a:rPr>
              <a:t>—  Tenant plumbing in the console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0F"/>
        </a:solidFill>
      </p:bgPr>
    </p:bg>
    <p:spTree>
      <p:nvGrpSpPr>
        <p:cNvPr id="1" name=""/>
        <p:cNvGrpSpPr/>
        <p:nvPr/>
      </p:nvGrpSpPr>
      <p:grpSpPr>
        <a:xfrm>
          <a:off x="0" y="0"/>
          <a:ext cx="0" cy="0"/>
          <a:chOff x="0" y="0"/>
          <a:chExt cx="0" cy="0"/>
        </a:xfrm>
      </p:grpSpPr>
      <p:sp>
        <p:nvSpPr>
          <p:cNvPr id="2" name="Text 0"/>
          <p:cNvSpPr/>
          <p:nvPr/>
        </p:nvSpPr>
        <p:spPr>
          <a:xfrm>
            <a:off x="548640" y="2286000"/>
            <a:ext cx="7315200" cy="1097280"/>
          </a:xfrm>
          <a:prstGeom prst="rect">
            <a:avLst/>
          </a:prstGeom>
          <a:noFill/>
          <a:ln/>
        </p:spPr>
        <p:txBody>
          <a:bodyPr wrap="square"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p:nvPr/>
        </p:nvSpPr>
        <p:spPr>
          <a:xfrm>
            <a:off x="548640" y="3474720"/>
            <a:ext cx="7132320" cy="822960"/>
          </a:xfrm>
          <a:prstGeom prst="rect">
            <a:avLst/>
          </a:prstGeom>
          <a:noFill/>
          <a:ln/>
        </p:spPr>
        <p:txBody>
          <a:bodyPr wrap="square" rtlCol="0" anchor="ctr"/>
          <a:lstStyle/>
          <a:p>
            <a:pPr indent="0" marL="0">
              <a:lnSpc>
                <a:spcPct val="120000"/>
              </a:lnSpc>
              <a:buNone/>
            </a:pPr>
            <a:r>
              <a:rPr lang="en-US" sz="1450" dirty="0">
                <a:solidFill>
                  <a:srgbClr val="CFCFCF"/>
                </a:solidFill>
                <a:latin typeface="Arial" pitchFamily="34" charset="0"/>
                <a:ea typeface="Arial" pitchFamily="34" charset="-122"/>
                <a:cs typeface="Arial" pitchFamily="34" charset="-120"/>
              </a:rPr>
              <a:t>Deep dives: showcase · technical deep-dive · industry survey (ChatGPT, Claude, Gemini, Letta, mem0, Zep — and what we adopted).</a:t>
            </a:r>
            <a:endParaRPr lang="en-US" sz="1450" dirty="0"/>
          </a:p>
        </p:txBody>
      </p:sp>
      <p:sp>
        <p:nvSpPr>
          <p:cNvPr id="4" name="Shape 2"/>
          <p:cNvSpPr/>
          <p:nvPr/>
        </p:nvSpPr>
        <p:spPr>
          <a:xfrm>
            <a:off x="9326880" y="2194560"/>
            <a:ext cx="2194560" cy="2194560"/>
          </a:xfrm>
          <a:prstGeom prst="ellipse">
            <a:avLst/>
          </a:prstGeom>
          <a:solidFill>
            <a:srgbClr val="1E1E1E"/>
          </a:solidFill>
          <a:ln/>
        </p:spPr>
      </p:sp>
      <p:pic>
        <p:nvPicPr>
          <p:cNvPr id="5" name="Image 0" descr="preencoded.png">    </p:cNvPr>
          <p:cNvPicPr>
            <a:picLocks noChangeAspect="1"/>
          </p:cNvPicPr>
          <p:nvPr/>
        </p:nvPicPr>
        <p:blipFill>
          <a:blip r:embed="rId1"/>
          <a:stretch>
            <a:fillRect/>
          </a:stretch>
        </p:blipFill>
        <p:spPr>
          <a:xfrm>
            <a:off x="9921240" y="2788920"/>
            <a:ext cx="1005840" cy="1005840"/>
          </a:xfrm>
          <a:prstGeom prst="rect">
            <a:avLst/>
          </a:prstGeom>
        </p:spPr>
      </p:pic>
      <p:sp>
        <p:nvSpPr>
          <p:cNvPr id="6" name="Text 3"/>
          <p:cNvSpPr/>
          <p:nvPr/>
        </p:nvSpPr>
        <p:spPr>
          <a:xfrm>
            <a:off x="548640" y="5989320"/>
            <a:ext cx="6400800" cy="365760"/>
          </a:xfrm>
          <a:prstGeom prst="rect">
            <a:avLst/>
          </a:prstGeom>
          <a:noFill/>
          <a:ln/>
        </p:spPr>
        <p:txBody>
          <a:bodyPr wrap="square" rtlCol="0" anchor="ctr"/>
          <a:lstStyle/>
          <a:p>
            <a:pPr indent="0" marL="0">
              <a:buNone/>
            </a:pPr>
            <a:r>
              <a:rPr lang="en-US" sz="1250" i="1" dirty="0">
                <a:solidFill>
                  <a:srgbClr val="EC0016"/>
                </a:solidFill>
                <a:latin typeface="Arial" pitchFamily="34" charset="0"/>
                <a:ea typeface="Arial" pitchFamily="34" charset="-122"/>
                <a:cs typeface="Arial" pitchFamily="34" charset="-120"/>
              </a:rPr>
              <a:t>Built on the harness. In review for the harness.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memory for DIGIT — architecture &amp; demo</dc:title>
  <dc:subject>PptxGenJS Presentation</dc:subject>
  <dc:creator>Anshuman Pandey</dc:creator>
  <cp:lastModifiedBy>Anshuman Pandey</cp:lastModifiedBy>
  <cp:revision>1</cp:revision>
  <dcterms:created xsi:type="dcterms:W3CDTF">2026-07-22T17:25:30Z</dcterms:created>
  <dcterms:modified xsi:type="dcterms:W3CDTF">2026-07-22T17:25:30Z</dcterms:modified>
</cp:coreProperties>
</file>